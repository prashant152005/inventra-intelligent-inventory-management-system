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Roboto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28CCD0-C68F-449A-BD32-083CE833CB9D}">
  <a:tblStyle styleId="{0428CCD0-C68F-449A-BD32-083CE833CB9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Mono-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Mono-italic.fntdata"/><Relationship Id="rId12" Type="http://schemas.openxmlformats.org/officeDocument/2006/relationships/slide" Target="slides/slide6.xml"/><Relationship Id="rId34" Type="http://schemas.openxmlformats.org/officeDocument/2006/relationships/font" Target="fonts/RobotoMono-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RobotoMon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d0b8655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d0b8655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d0b86558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d0b86558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d0b86558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d0b86558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d0b86558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d0b86558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d0b86558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d0b86558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d0b865585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d0b86558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af61eaa7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af61eaa7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3540edd5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3540edd5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3540edd5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3540edd5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3540edd5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3540edd5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3540edd5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3540edd5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3540edd5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3540edd5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af61eaa7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af61eaa7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3540edd5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3540edd5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3540edd5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3540edd5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3540edd5a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3540edd5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29d3a53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29d3a53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29d3a53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b29d3a53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29d3a534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b29d3a534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29d3a534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29d3a534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cf7405f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bcf7405f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cf7405f1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bcf7405f1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cf7405f1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bcf7405f1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bcf7405f1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bcf7405f1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af61eaa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af61eaa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073550" y="207447"/>
            <a:ext cx="7301700" cy="1404600"/>
          </a:xfrm>
          <a:prstGeom prst="rect">
            <a:avLst/>
          </a:prstGeom>
        </p:spPr>
        <p:txBody>
          <a:bodyPr anchorCtr="0" anchor="b" bIns="91425" lIns="91425" spcFirstLastPara="1" rIns="91425" wrap="square" tIns="91425">
            <a:normAutofit/>
          </a:bodyPr>
          <a:lstStyle/>
          <a:p>
            <a:pPr indent="0" lvl="0" marL="0" rtl="0" algn="ctr">
              <a:lnSpc>
                <a:spcPct val="100000"/>
              </a:lnSpc>
              <a:spcBef>
                <a:spcPts val="0"/>
              </a:spcBef>
              <a:spcAft>
                <a:spcPts val="0"/>
              </a:spcAft>
              <a:buNone/>
            </a:pPr>
            <a:r>
              <a:rPr lang="en" sz="4800">
                <a:latin typeface="Times New Roman"/>
                <a:ea typeface="Times New Roman"/>
                <a:cs typeface="Times New Roman"/>
                <a:sym typeface="Times New Roman"/>
              </a:rPr>
              <a:t>Inventra</a:t>
            </a:r>
            <a:r>
              <a:rPr lang="en" sz="3600">
                <a:latin typeface="Times New Roman"/>
                <a:ea typeface="Times New Roman"/>
                <a:cs typeface="Times New Roman"/>
                <a:sym typeface="Times New Roman"/>
              </a:rPr>
              <a:t> </a:t>
            </a:r>
            <a:endParaRPr sz="3600">
              <a:latin typeface="Times New Roman"/>
              <a:ea typeface="Times New Roman"/>
              <a:cs typeface="Times New Roman"/>
              <a:sym typeface="Times New Roman"/>
            </a:endParaRPr>
          </a:p>
          <a:p>
            <a:pPr indent="0" lvl="0" marL="0" rtl="0" algn="ctr">
              <a:lnSpc>
                <a:spcPct val="100000"/>
              </a:lnSpc>
              <a:spcBef>
                <a:spcPts val="0"/>
              </a:spcBef>
              <a:spcAft>
                <a:spcPts val="0"/>
              </a:spcAft>
              <a:buNone/>
            </a:pPr>
            <a:r>
              <a:rPr lang="en" sz="3155">
                <a:latin typeface="Times New Roman"/>
                <a:ea typeface="Times New Roman"/>
                <a:cs typeface="Times New Roman"/>
                <a:sym typeface="Times New Roman"/>
              </a:rPr>
              <a:t>Intelligent Inventory Management System</a:t>
            </a:r>
            <a:endParaRPr sz="3155">
              <a:latin typeface="Times New Roman"/>
              <a:ea typeface="Times New Roman"/>
              <a:cs typeface="Times New Roman"/>
              <a:sym typeface="Times New Roman"/>
            </a:endParaRPr>
          </a:p>
        </p:txBody>
      </p:sp>
      <p:sp>
        <p:nvSpPr>
          <p:cNvPr id="55" name="Google Shape;55;p13"/>
          <p:cNvSpPr txBox="1"/>
          <p:nvPr>
            <p:ph idx="1" type="subTitle"/>
          </p:nvPr>
        </p:nvSpPr>
        <p:spPr>
          <a:xfrm>
            <a:off x="135400" y="1672171"/>
            <a:ext cx="8852100" cy="2020200"/>
          </a:xfrm>
          <a:prstGeom prst="rect">
            <a:avLst/>
          </a:prstGeom>
        </p:spPr>
        <p:txBody>
          <a:bodyPr anchorCtr="0" anchor="t" bIns="91425" lIns="91425" spcFirstLastPara="1" rIns="91425" wrap="square" tIns="91425">
            <a:noAutofit/>
          </a:bodyPr>
          <a:lstStyle/>
          <a:p>
            <a:pPr indent="-344805" lvl="0" marL="4572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Inventra is a smart inventory management system designed to manage products, users, and stock efficiently.</a:t>
            </a:r>
            <a:endParaRPr sz="1829">
              <a:latin typeface="Times New Roman"/>
              <a:ea typeface="Times New Roman"/>
              <a:cs typeface="Times New Roman"/>
              <a:sym typeface="Times New Roman"/>
            </a:endParaRPr>
          </a:p>
          <a:p>
            <a:pPr indent="-344805" lvl="0" marL="4572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It automates inventory tracking, reduces human error, and improves operational efficiency.</a:t>
            </a:r>
            <a:endParaRPr sz="1829">
              <a:latin typeface="Times New Roman"/>
              <a:ea typeface="Times New Roman"/>
              <a:cs typeface="Times New Roman"/>
              <a:sym typeface="Times New Roman"/>
            </a:endParaRPr>
          </a:p>
          <a:p>
            <a:pPr indent="-344805" lvl="0" marL="4572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The system is modular and scalable, making it suitable for retail, warehouse, and enterprise use.</a:t>
            </a:r>
            <a:endParaRPr sz="1829">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1085275" y="-880633"/>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Meaning of “Inventra”</a:t>
            </a:r>
            <a:endParaRPr sz="3155">
              <a:latin typeface="Times New Roman"/>
              <a:ea typeface="Times New Roman"/>
              <a:cs typeface="Times New Roman"/>
              <a:sym typeface="Times New Roman"/>
            </a:endParaRPr>
          </a:p>
        </p:txBody>
      </p:sp>
      <p:sp>
        <p:nvSpPr>
          <p:cNvPr id="61" name="Google Shape;61;p14"/>
          <p:cNvSpPr txBox="1"/>
          <p:nvPr>
            <p:ph idx="1" type="subTitle"/>
          </p:nvPr>
        </p:nvSpPr>
        <p:spPr>
          <a:xfrm>
            <a:off x="548650" y="1045364"/>
            <a:ext cx="9144000" cy="3731700"/>
          </a:xfrm>
          <a:prstGeom prst="rect">
            <a:avLst/>
          </a:prstGeom>
        </p:spPr>
        <p:txBody>
          <a:bodyPr anchorCtr="0" anchor="t" bIns="91425" lIns="91425" spcFirstLastPara="1" rIns="91425" wrap="square" tIns="91425">
            <a:noAutofit/>
          </a:bodyPr>
          <a:lstStyle/>
          <a:p>
            <a:pPr indent="-344805" lvl="0" marL="4572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Inventra = Inventory + Intelligence</a:t>
            </a:r>
            <a:endParaRPr sz="1829">
              <a:latin typeface="Times New Roman"/>
              <a:ea typeface="Times New Roman"/>
              <a:cs typeface="Times New Roman"/>
              <a:sym typeface="Times New Roman"/>
            </a:endParaRPr>
          </a:p>
          <a:p>
            <a:pPr indent="-344805" lvl="0" marL="4572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Represents a modern inventory ecosystem enhanced with:</a:t>
            </a:r>
            <a:endParaRPr sz="1829">
              <a:latin typeface="Times New Roman"/>
              <a:ea typeface="Times New Roman"/>
              <a:cs typeface="Times New Roman"/>
              <a:sym typeface="Times New Roman"/>
            </a:endParaRPr>
          </a:p>
          <a:p>
            <a:pPr indent="-344805" lvl="1" marL="9144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Automation.</a:t>
            </a:r>
            <a:endParaRPr sz="1829">
              <a:latin typeface="Times New Roman"/>
              <a:ea typeface="Times New Roman"/>
              <a:cs typeface="Times New Roman"/>
              <a:sym typeface="Times New Roman"/>
            </a:endParaRPr>
          </a:p>
          <a:p>
            <a:pPr indent="-344805" lvl="1" marL="9144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Forecasting with proper dashboard.</a:t>
            </a:r>
            <a:endParaRPr sz="1829">
              <a:latin typeface="Times New Roman"/>
              <a:ea typeface="Times New Roman"/>
              <a:cs typeface="Times New Roman"/>
              <a:sym typeface="Times New Roman"/>
            </a:endParaRPr>
          </a:p>
          <a:p>
            <a:pPr indent="-344805" lvl="1" marL="9144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Smart decision assistance.</a:t>
            </a:r>
            <a:endParaRPr sz="1829">
              <a:latin typeface="Times New Roman"/>
              <a:ea typeface="Times New Roman"/>
              <a:cs typeface="Times New Roman"/>
              <a:sym typeface="Times New Roman"/>
            </a:endParaRPr>
          </a:p>
          <a:p>
            <a:pPr indent="-344805" lvl="1" marL="9144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Focuses on reducing human effort and improving stock accuracy.</a:t>
            </a:r>
            <a:endParaRPr sz="1829">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ctrTitle"/>
          </p:nvPr>
        </p:nvSpPr>
        <p:spPr>
          <a:xfrm>
            <a:off x="1085275" y="-850111"/>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Proposed System</a:t>
            </a:r>
            <a:endParaRPr sz="3155">
              <a:latin typeface="Times New Roman"/>
              <a:ea typeface="Times New Roman"/>
              <a:cs typeface="Times New Roman"/>
              <a:sym typeface="Times New Roman"/>
            </a:endParaRPr>
          </a:p>
        </p:txBody>
      </p:sp>
      <p:sp>
        <p:nvSpPr>
          <p:cNvPr id="67" name="Google Shape;67;p15"/>
          <p:cNvSpPr txBox="1"/>
          <p:nvPr>
            <p:ph idx="1" type="subTitle"/>
          </p:nvPr>
        </p:nvSpPr>
        <p:spPr>
          <a:xfrm>
            <a:off x="647125" y="976325"/>
            <a:ext cx="8146500" cy="4075800"/>
          </a:xfrm>
          <a:prstGeom prst="rect">
            <a:avLst/>
          </a:prstGeom>
        </p:spPr>
        <p:txBody>
          <a:bodyPr anchorCtr="0" anchor="t" bIns="91425" lIns="91425" spcFirstLastPara="1" rIns="91425" wrap="square" tIns="91425">
            <a:noAutofit/>
          </a:bodyPr>
          <a:lstStyle/>
          <a:p>
            <a:pPr indent="-344805" lvl="0" marL="4572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Inventra – Smart Inventory Management</a:t>
            </a:r>
            <a:endParaRPr sz="1829">
              <a:latin typeface="Times New Roman"/>
              <a:ea typeface="Times New Roman"/>
              <a:cs typeface="Times New Roman"/>
              <a:sym typeface="Times New Roman"/>
            </a:endParaRPr>
          </a:p>
          <a:p>
            <a:pPr indent="-344805" lvl="0" marL="457200" rtl="0" algn="just">
              <a:lnSpc>
                <a:spcPct val="20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System Overview</a:t>
            </a:r>
            <a:endParaRPr sz="1829">
              <a:latin typeface="Times New Roman"/>
              <a:ea typeface="Times New Roman"/>
              <a:cs typeface="Times New Roman"/>
              <a:sym typeface="Times New Roman"/>
            </a:endParaRPr>
          </a:p>
          <a:p>
            <a:pPr indent="-344805" lvl="1"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Centralized inventory management system</a:t>
            </a:r>
            <a:endParaRPr sz="1829">
              <a:latin typeface="Times New Roman"/>
              <a:ea typeface="Times New Roman"/>
              <a:cs typeface="Times New Roman"/>
              <a:sym typeface="Times New Roman"/>
            </a:endParaRPr>
          </a:p>
          <a:p>
            <a:pPr indent="-344805" lvl="1"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Secure user authentication</a:t>
            </a:r>
            <a:endParaRPr sz="1829">
              <a:latin typeface="Times New Roman"/>
              <a:ea typeface="Times New Roman"/>
              <a:cs typeface="Times New Roman"/>
              <a:sym typeface="Times New Roman"/>
            </a:endParaRPr>
          </a:p>
          <a:p>
            <a:pPr indent="-344805" lvl="1"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Role-based access control</a:t>
            </a:r>
            <a:endParaRPr sz="1829">
              <a:latin typeface="Times New Roman"/>
              <a:ea typeface="Times New Roman"/>
              <a:cs typeface="Times New Roman"/>
              <a:sym typeface="Times New Roman"/>
            </a:endParaRPr>
          </a:p>
          <a:p>
            <a:pPr indent="-344805" lvl="1"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Real-time stock updates</a:t>
            </a:r>
            <a:endParaRPr sz="1829">
              <a:latin typeface="Times New Roman"/>
              <a:ea typeface="Times New Roman"/>
              <a:cs typeface="Times New Roman"/>
              <a:sym typeface="Times New Roman"/>
            </a:endParaRPr>
          </a:p>
          <a:p>
            <a:pPr indent="-344805" lvl="1"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Modular architecture for easy expansion</a:t>
            </a:r>
            <a:endParaRPr sz="1829">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ctrTitle"/>
          </p:nvPr>
        </p:nvSpPr>
        <p:spPr>
          <a:xfrm>
            <a:off x="1085275" y="-939918"/>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Proposed System</a:t>
            </a:r>
            <a:endParaRPr sz="3155">
              <a:latin typeface="Times New Roman"/>
              <a:ea typeface="Times New Roman"/>
              <a:cs typeface="Times New Roman"/>
              <a:sym typeface="Times New Roman"/>
            </a:endParaRPr>
          </a:p>
        </p:txBody>
      </p:sp>
      <p:sp>
        <p:nvSpPr>
          <p:cNvPr id="73" name="Google Shape;73;p16"/>
          <p:cNvSpPr txBox="1"/>
          <p:nvPr>
            <p:ph idx="1" type="subTitle"/>
          </p:nvPr>
        </p:nvSpPr>
        <p:spPr>
          <a:xfrm>
            <a:off x="248250" y="647007"/>
            <a:ext cx="8718900" cy="3610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 sz="1829">
                <a:latin typeface="Times New Roman"/>
                <a:ea typeface="Times New Roman"/>
                <a:cs typeface="Times New Roman"/>
                <a:sym typeface="Times New Roman"/>
              </a:rPr>
              <a:t>Modules of Invetra:</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AutoNum type="arabicPeriod"/>
            </a:pPr>
            <a:r>
              <a:rPr b="1" lang="en" sz="1829">
                <a:latin typeface="Times New Roman"/>
                <a:ea typeface="Times New Roman"/>
                <a:cs typeface="Times New Roman"/>
                <a:sym typeface="Times New Roman"/>
              </a:rPr>
              <a:t>Authentication : </a:t>
            </a:r>
            <a:r>
              <a:rPr lang="en" sz="1829">
                <a:latin typeface="Times New Roman"/>
                <a:ea typeface="Times New Roman"/>
                <a:cs typeface="Times New Roman"/>
                <a:sym typeface="Times New Roman"/>
              </a:rPr>
              <a:t>Login, token generation, role validation.</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AutoNum type="arabicPeriod"/>
            </a:pPr>
            <a:r>
              <a:rPr b="1" lang="en" sz="1829">
                <a:latin typeface="Times New Roman"/>
                <a:ea typeface="Times New Roman"/>
                <a:cs typeface="Times New Roman"/>
                <a:sym typeface="Times New Roman"/>
              </a:rPr>
              <a:t>Product / Inventory Management : </a:t>
            </a:r>
            <a:r>
              <a:rPr lang="en" sz="1829">
                <a:latin typeface="Times New Roman"/>
                <a:ea typeface="Times New Roman"/>
                <a:cs typeface="Times New Roman"/>
                <a:sym typeface="Times New Roman"/>
              </a:rPr>
              <a:t>Add, update, remove items, track stock levels. </a:t>
            </a:r>
            <a:r>
              <a:rPr lang="en" sz="1829">
                <a:latin typeface="Times New Roman"/>
                <a:ea typeface="Times New Roman"/>
                <a:cs typeface="Times New Roman"/>
                <a:sym typeface="Times New Roman"/>
              </a:rPr>
              <a:t>Store supplier details, purchase history. </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AutoNum type="arabicPeriod"/>
            </a:pPr>
            <a:r>
              <a:rPr b="1" lang="en" sz="1829">
                <a:latin typeface="Times New Roman"/>
                <a:ea typeface="Times New Roman"/>
                <a:cs typeface="Times New Roman"/>
                <a:sym typeface="Times New Roman"/>
              </a:rPr>
              <a:t>Inventory Alerts : </a:t>
            </a:r>
            <a:r>
              <a:rPr lang="en" sz="1829">
                <a:latin typeface="Times New Roman"/>
                <a:ea typeface="Times New Roman"/>
                <a:cs typeface="Times New Roman"/>
                <a:sym typeface="Times New Roman"/>
              </a:rPr>
              <a:t>Automated alerts for Low stock, Expiry near, Fast and slow moving items. </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AutoNum type="arabicPeriod"/>
            </a:pPr>
            <a:r>
              <a:rPr b="1" lang="en" sz="1829">
                <a:latin typeface="Times New Roman"/>
                <a:ea typeface="Times New Roman"/>
                <a:cs typeface="Times New Roman"/>
                <a:sym typeface="Times New Roman"/>
              </a:rPr>
              <a:t>Reports and Analytics :</a:t>
            </a:r>
            <a:r>
              <a:rPr lang="en" sz="1829">
                <a:latin typeface="Times New Roman"/>
                <a:ea typeface="Times New Roman"/>
                <a:cs typeface="Times New Roman"/>
                <a:sym typeface="Times New Roman"/>
              </a:rPr>
              <a:t> Provides charts, insights, predictions. </a:t>
            </a:r>
            <a:r>
              <a:rPr lang="en" sz="1829">
                <a:latin typeface="Times New Roman"/>
                <a:ea typeface="Times New Roman"/>
                <a:cs typeface="Times New Roman"/>
                <a:sym typeface="Times New Roman"/>
              </a:rPr>
              <a:t>Records outgoing &amp; incoming stock.</a:t>
            </a:r>
            <a:endParaRPr sz="1829">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829">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1829">
                <a:latin typeface="Times New Roman"/>
                <a:ea typeface="Times New Roman"/>
                <a:cs typeface="Times New Roman"/>
                <a:sym typeface="Times New Roman"/>
              </a:rPr>
              <a:t>Modules Covered in This Presentation</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Module 1 – Authentication</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 Module 2 – Product / Inventory Management</a:t>
            </a:r>
            <a:endParaRPr sz="1829">
              <a:latin typeface="Times New Roman"/>
              <a:ea typeface="Times New Roman"/>
              <a:cs typeface="Times New Roman"/>
              <a:sym typeface="Times New Roman"/>
            </a:endParaRPr>
          </a:p>
          <a:p>
            <a:pPr indent="0" lvl="0" marL="1828800" rtl="0" algn="just">
              <a:lnSpc>
                <a:spcPct val="115000"/>
              </a:lnSpc>
              <a:spcBef>
                <a:spcPts val="0"/>
              </a:spcBef>
              <a:spcAft>
                <a:spcPts val="0"/>
              </a:spcAft>
              <a:buNone/>
            </a:pPr>
            <a:r>
              <a:t/>
            </a:r>
            <a:endParaRPr sz="1829">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ctrTitle"/>
          </p:nvPr>
        </p:nvSpPr>
        <p:spPr>
          <a:xfrm>
            <a:off x="1085275" y="-735811"/>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System Configuration</a:t>
            </a:r>
            <a:endParaRPr sz="3155">
              <a:latin typeface="Times New Roman"/>
              <a:ea typeface="Times New Roman"/>
              <a:cs typeface="Times New Roman"/>
              <a:sym typeface="Times New Roman"/>
            </a:endParaRPr>
          </a:p>
        </p:txBody>
      </p:sp>
      <p:sp>
        <p:nvSpPr>
          <p:cNvPr id="79" name="Google Shape;79;p17"/>
          <p:cNvSpPr txBox="1"/>
          <p:nvPr>
            <p:ph idx="1" type="subTitle"/>
          </p:nvPr>
        </p:nvSpPr>
        <p:spPr>
          <a:xfrm>
            <a:off x="610614" y="915265"/>
            <a:ext cx="8647500" cy="3610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Software Requirements: </a:t>
            </a:r>
            <a:endParaRPr b="1"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Frontend : React.js</a:t>
            </a:r>
            <a:endParaRPr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Backend : Java Springboot</a:t>
            </a:r>
            <a:endParaRPr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Database : MySQL / MongoDB</a:t>
            </a:r>
            <a:endParaRPr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Security :  JWT Authentication / Role-based Access</a:t>
            </a:r>
            <a:endParaRPr sz="18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Hardware Requirements:</a:t>
            </a:r>
            <a:endParaRPr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Minimum 8GB RAM</a:t>
            </a:r>
            <a:endParaRPr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Multi-core processor</a:t>
            </a:r>
            <a:endParaRPr sz="1829">
              <a:latin typeface="Times New Roman"/>
              <a:ea typeface="Times New Roman"/>
              <a:cs typeface="Times New Roman"/>
              <a:sym typeface="Times New Roman"/>
            </a:endParaRPr>
          </a:p>
          <a:p>
            <a:pPr indent="-344805" lvl="0" marL="914400" rtl="0" algn="just">
              <a:lnSpc>
                <a:spcPct val="150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Stable server for hosting backend</a:t>
            </a:r>
            <a:endParaRPr sz="1829">
              <a:latin typeface="Times New Roman"/>
              <a:ea typeface="Times New Roman"/>
              <a:cs typeface="Times New Roman"/>
              <a:sym typeface="Times New Roman"/>
            </a:endParaRPr>
          </a:p>
          <a:p>
            <a:pPr indent="0" lvl="0" marL="1828800" rtl="0" algn="just">
              <a:lnSpc>
                <a:spcPct val="115000"/>
              </a:lnSpc>
              <a:spcBef>
                <a:spcPts val="0"/>
              </a:spcBef>
              <a:spcAft>
                <a:spcPts val="0"/>
              </a:spcAft>
              <a:buNone/>
            </a:pPr>
            <a:r>
              <a:t/>
            </a:r>
            <a:endParaRPr sz="1829">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ctrTitle"/>
          </p:nvPr>
        </p:nvSpPr>
        <p:spPr>
          <a:xfrm>
            <a:off x="1085275" y="-735811"/>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1: Authentication Module</a:t>
            </a:r>
            <a:endParaRPr sz="3155">
              <a:latin typeface="Times New Roman"/>
              <a:ea typeface="Times New Roman"/>
              <a:cs typeface="Times New Roman"/>
              <a:sym typeface="Times New Roman"/>
            </a:endParaRPr>
          </a:p>
        </p:txBody>
      </p:sp>
      <p:sp>
        <p:nvSpPr>
          <p:cNvPr id="85" name="Google Shape;85;p18"/>
          <p:cNvSpPr txBox="1"/>
          <p:nvPr>
            <p:ph idx="1" type="subTitle"/>
          </p:nvPr>
        </p:nvSpPr>
        <p:spPr>
          <a:xfrm>
            <a:off x="248250" y="924970"/>
            <a:ext cx="8613300" cy="29715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sz="1829">
                <a:latin typeface="Times New Roman"/>
                <a:ea typeface="Times New Roman"/>
                <a:cs typeface="Times New Roman"/>
                <a:sym typeface="Times New Roman"/>
              </a:rPr>
              <a:t>This module ensures that only authorized users can access the system. It manages login, logout, user roles, and security tokens.</a:t>
            </a:r>
            <a:endParaRPr sz="18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Classes:</a:t>
            </a:r>
            <a:endParaRPr b="1"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AuthController 	:- Receives requests from UI</a:t>
            </a:r>
            <a:endParaRPr sz="1829">
              <a:latin typeface="Times New Roman"/>
              <a:ea typeface="Times New Roman"/>
              <a:cs typeface="Times New Roman"/>
              <a:sym typeface="Times New Roman"/>
            </a:endParaRPr>
          </a:p>
          <a:p>
            <a:pPr indent="457200" lvl="0" marL="2286000" rtl="0" algn="just">
              <a:lnSpc>
                <a:spcPct val="115000"/>
              </a:lnSpc>
              <a:spcBef>
                <a:spcPts val="0"/>
              </a:spcBef>
              <a:spcAft>
                <a:spcPts val="0"/>
              </a:spcAft>
              <a:buNone/>
            </a:pPr>
            <a:r>
              <a:rPr lang="en" sz="1829">
                <a:latin typeface="Times New Roman"/>
                <a:ea typeface="Times New Roman"/>
                <a:cs typeface="Times New Roman"/>
                <a:sym typeface="Times New Roman"/>
              </a:rPr>
              <a:t>:- Forwards requests to AuthService</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AuthService		:- Contains authentication business logic</a:t>
            </a:r>
            <a:endParaRPr sz="1829">
              <a:latin typeface="Times New Roman"/>
              <a:ea typeface="Times New Roman"/>
              <a:cs typeface="Times New Roman"/>
              <a:sym typeface="Times New Roman"/>
            </a:endParaRPr>
          </a:p>
          <a:p>
            <a:pPr indent="457200" lvl="0" marL="2286000" rtl="0" algn="just">
              <a:lnSpc>
                <a:spcPct val="115000"/>
              </a:lnSpc>
              <a:spcBef>
                <a:spcPts val="0"/>
              </a:spcBef>
              <a:spcAft>
                <a:spcPts val="0"/>
              </a:spcAft>
              <a:buNone/>
            </a:pPr>
            <a:r>
              <a:rPr lang="en" sz="1829">
                <a:latin typeface="Times New Roman"/>
                <a:ea typeface="Times New Roman"/>
                <a:cs typeface="Times New Roman"/>
                <a:sym typeface="Times New Roman"/>
              </a:rPr>
              <a:t>:- Handles signup, login, password reset</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User       			:- Stores user credentials and roles</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UserRepository	:- Interacts with database</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JWTUtility 		:- Generates and validates tokens</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EmailService		:- Sends password reset emails</a:t>
            </a:r>
            <a:endParaRPr sz="1829">
              <a:latin typeface="Times New Roman"/>
              <a:ea typeface="Times New Roman"/>
              <a:cs typeface="Times New Roman"/>
              <a:sym typeface="Times New Roman"/>
            </a:endParaRPr>
          </a:p>
          <a:p>
            <a:pPr indent="0" lvl="0" marL="1828800" rtl="0" algn="just">
              <a:lnSpc>
                <a:spcPct val="115000"/>
              </a:lnSpc>
              <a:spcBef>
                <a:spcPts val="0"/>
              </a:spcBef>
              <a:spcAft>
                <a:spcPts val="0"/>
              </a:spcAft>
              <a:buNone/>
            </a:pPr>
            <a:r>
              <a:t/>
            </a:r>
            <a:endParaRPr sz="1829">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ctrTitle"/>
          </p:nvPr>
        </p:nvSpPr>
        <p:spPr>
          <a:xfrm>
            <a:off x="1085275" y="111119"/>
            <a:ext cx="7301700" cy="672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1: Authentication Module</a:t>
            </a:r>
            <a:endParaRPr sz="3155">
              <a:latin typeface="Times New Roman"/>
              <a:ea typeface="Times New Roman"/>
              <a:cs typeface="Times New Roman"/>
              <a:sym typeface="Times New Roman"/>
            </a:endParaRPr>
          </a:p>
        </p:txBody>
      </p:sp>
      <p:sp>
        <p:nvSpPr>
          <p:cNvPr id="91" name="Google Shape;91;p19"/>
          <p:cNvSpPr txBox="1"/>
          <p:nvPr>
            <p:ph idx="1" type="subTitle"/>
          </p:nvPr>
        </p:nvSpPr>
        <p:spPr>
          <a:xfrm>
            <a:off x="153000" y="822775"/>
            <a:ext cx="8613300" cy="421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Database Schema</a:t>
            </a:r>
            <a:r>
              <a:rPr b="1" lang="en" sz="1829">
                <a:latin typeface="Times New Roman"/>
                <a:ea typeface="Times New Roman"/>
                <a:cs typeface="Times New Roman"/>
                <a:sym typeface="Times New Roman"/>
              </a:rPr>
              <a:t>:</a:t>
            </a:r>
            <a:endParaRPr sz="1829">
              <a:latin typeface="Times New Roman"/>
              <a:ea typeface="Times New Roman"/>
              <a:cs typeface="Times New Roman"/>
              <a:sym typeface="Times New Roman"/>
            </a:endParaRPr>
          </a:p>
        </p:txBody>
      </p:sp>
      <p:graphicFrame>
        <p:nvGraphicFramePr>
          <p:cNvPr id="92" name="Google Shape;92;p19"/>
          <p:cNvGraphicFramePr/>
          <p:nvPr/>
        </p:nvGraphicFramePr>
        <p:xfrm>
          <a:off x="538550" y="1365250"/>
          <a:ext cx="3000000" cy="3000000"/>
        </p:xfrm>
        <a:graphic>
          <a:graphicData uri="http://schemas.openxmlformats.org/drawingml/2006/table">
            <a:tbl>
              <a:tblPr>
                <a:noFill/>
                <a:tableStyleId>{0428CCD0-C68F-449A-BD32-083CE833CB9D}</a:tableStyleId>
              </a:tblPr>
              <a:tblGrid>
                <a:gridCol w="2032000"/>
                <a:gridCol w="2143125"/>
                <a:gridCol w="3921125"/>
              </a:tblGrid>
              <a:tr h="381000">
                <a:tc>
                  <a:txBody>
                    <a:bodyPr/>
                    <a:lstStyle/>
                    <a:p>
                      <a:pPr indent="0" lvl="0" marL="0" rtl="0" algn="ctr">
                        <a:lnSpc>
                          <a:spcPct val="115000"/>
                        </a:lnSpc>
                        <a:spcBef>
                          <a:spcPts val="0"/>
                        </a:spcBef>
                        <a:spcAft>
                          <a:spcPts val="0"/>
                        </a:spcAft>
                        <a:buNone/>
                      </a:pPr>
                      <a:r>
                        <a:rPr b="1" lang="en" sz="2200">
                          <a:latin typeface="Times New Roman"/>
                          <a:ea typeface="Times New Roman"/>
                          <a:cs typeface="Times New Roman"/>
                          <a:sym typeface="Times New Roman"/>
                        </a:rPr>
                        <a:t>Field</a:t>
                      </a:r>
                      <a:endParaRPr b="1" sz="22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2200">
                          <a:latin typeface="Times New Roman"/>
                          <a:ea typeface="Times New Roman"/>
                          <a:cs typeface="Times New Roman"/>
                          <a:sym typeface="Times New Roman"/>
                        </a:rPr>
                        <a:t>Type</a:t>
                      </a:r>
                      <a:endParaRPr b="1" sz="22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2200">
                          <a:latin typeface="Times New Roman"/>
                          <a:ea typeface="Times New Roman"/>
                          <a:cs typeface="Times New Roman"/>
                          <a:sym typeface="Times New Roman"/>
                        </a:rPr>
                        <a:t>Description</a:t>
                      </a:r>
                      <a:endParaRPr b="1" sz="22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userid</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Primary Key</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Unique user ID</a:t>
                      </a:r>
                      <a:endParaRPr sz="20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username</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Varchar</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Unique user name</a:t>
                      </a:r>
                      <a:endParaRPr sz="20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email</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2000">
                          <a:solidFill>
                            <a:schemeClr val="dk1"/>
                          </a:solidFill>
                          <a:latin typeface="Times New Roman"/>
                          <a:ea typeface="Times New Roman"/>
                          <a:cs typeface="Times New Roman"/>
                          <a:sym typeface="Times New Roman"/>
                        </a:rPr>
                        <a:t>Varchar</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Email address</a:t>
                      </a:r>
                      <a:endParaRPr sz="20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password</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2000">
                          <a:solidFill>
                            <a:schemeClr val="dk1"/>
                          </a:solidFill>
                          <a:latin typeface="Times New Roman"/>
                          <a:ea typeface="Times New Roman"/>
                          <a:cs typeface="Times New Roman"/>
                          <a:sym typeface="Times New Roman"/>
                        </a:rPr>
                        <a:t>Varchar</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Encrypted password</a:t>
                      </a:r>
                      <a:endParaRPr sz="20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role</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2000">
                          <a:solidFill>
                            <a:schemeClr val="dk1"/>
                          </a:solidFill>
                          <a:latin typeface="Times New Roman"/>
                          <a:ea typeface="Times New Roman"/>
                          <a:cs typeface="Times New Roman"/>
                          <a:sym typeface="Times New Roman"/>
                        </a:rPr>
                        <a:t>Varchar</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Admin / Manager / Staff</a:t>
                      </a:r>
                      <a:endParaRPr sz="20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is_active</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Boolean</a:t>
                      </a:r>
                      <a:endParaRPr sz="20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2000">
                          <a:latin typeface="Times New Roman"/>
                          <a:ea typeface="Times New Roman"/>
                          <a:cs typeface="Times New Roman"/>
                          <a:sym typeface="Times New Roman"/>
                        </a:rPr>
                        <a:t>Account status</a:t>
                      </a:r>
                      <a:endParaRPr sz="20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ctrTitle"/>
          </p:nvPr>
        </p:nvSpPr>
        <p:spPr>
          <a:xfrm>
            <a:off x="1085275" y="-1018584"/>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Authentication Flow Diagram</a:t>
            </a:r>
            <a:endParaRPr sz="3155">
              <a:latin typeface="Times New Roman"/>
              <a:ea typeface="Times New Roman"/>
              <a:cs typeface="Times New Roman"/>
              <a:sym typeface="Times New Roman"/>
            </a:endParaRPr>
          </a:p>
        </p:txBody>
      </p:sp>
      <p:sp>
        <p:nvSpPr>
          <p:cNvPr id="98" name="Google Shape;98;p20"/>
          <p:cNvSpPr txBox="1"/>
          <p:nvPr>
            <p:ph idx="1" type="subTitle"/>
          </p:nvPr>
        </p:nvSpPr>
        <p:spPr>
          <a:xfrm>
            <a:off x="1838600" y="874134"/>
            <a:ext cx="8957400" cy="4689600"/>
          </a:xfrm>
          <a:prstGeom prst="rect">
            <a:avLst/>
          </a:prstGeom>
        </p:spPr>
        <p:txBody>
          <a:bodyPr anchorCtr="0" anchor="t" bIns="91425" lIns="91425" spcFirstLastPara="1" rIns="91425" wrap="square" tIns="91425">
            <a:noAutofit/>
          </a:bodyPr>
          <a:lstStyle/>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User</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Login Credentials</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Authentication Module</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User Verification</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Token Generation</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Access Granted</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t/>
            </a:r>
            <a:endParaRPr b="1" sz="1500">
              <a:solidFill>
                <a:schemeClr val="dk1"/>
              </a:solidFill>
            </a:endParaRPr>
          </a:p>
          <a:p>
            <a:pPr indent="457200" lvl="0" marL="1371600" rtl="0" algn="l">
              <a:lnSpc>
                <a:spcPct val="150000"/>
              </a:lnSpc>
              <a:spcBef>
                <a:spcPts val="0"/>
              </a:spcBef>
              <a:spcAft>
                <a:spcPts val="0"/>
              </a:spcAft>
              <a:buNone/>
            </a:pPr>
            <a:r>
              <a:t/>
            </a:r>
            <a:endParaRPr b="1" sz="1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ctrTitle"/>
          </p:nvPr>
        </p:nvSpPr>
        <p:spPr>
          <a:xfrm>
            <a:off x="1085275" y="-1018584"/>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(Sign up)</a:t>
            </a:r>
            <a:endParaRPr sz="3155">
              <a:latin typeface="Times New Roman"/>
              <a:ea typeface="Times New Roman"/>
              <a:cs typeface="Times New Roman"/>
              <a:sym typeface="Times New Roman"/>
            </a:endParaRPr>
          </a:p>
        </p:txBody>
      </p:sp>
      <p:sp>
        <p:nvSpPr>
          <p:cNvPr id="104" name="Google Shape;104;p21"/>
          <p:cNvSpPr txBox="1"/>
          <p:nvPr>
            <p:ph idx="1" type="subTitle"/>
          </p:nvPr>
        </p:nvSpPr>
        <p:spPr>
          <a:xfrm>
            <a:off x="300625" y="439017"/>
            <a:ext cx="8957400" cy="468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rPr>
              <a:t>AuthController – Signup</a:t>
            </a:r>
            <a:endParaRPr b="1" sz="1500">
              <a:solidFill>
                <a:schemeClr val="dk1"/>
              </a:solidFill>
            </a:endParaRPr>
          </a:p>
          <a:p>
            <a:pPr indent="0" lvl="0" marL="1828800" rtl="0" algn="just">
              <a:lnSpc>
                <a:spcPct val="115000"/>
              </a:lnSpc>
              <a:spcBef>
                <a:spcPts val="400"/>
              </a:spcBef>
              <a:spcAft>
                <a:spcPts val="0"/>
              </a:spcAft>
              <a:buNone/>
            </a:pPr>
            <a:r>
              <a:rPr lang="en" sz="1100">
                <a:solidFill>
                  <a:srgbClr val="188038"/>
                </a:solidFill>
                <a:latin typeface="Roboto Mono"/>
                <a:ea typeface="Roboto Mono"/>
                <a:cs typeface="Roboto Mono"/>
                <a:sym typeface="Roboto Mono"/>
              </a:rPr>
              <a:t>FUNCTION signup(request)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userDetails = request data</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result = AuthService.registerUser(userDetails)</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result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0" rtl="0" algn="just">
              <a:lnSpc>
                <a:spcPct val="115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0" rtl="0" algn="just">
              <a:lnSpc>
                <a:spcPct val="200000"/>
              </a:lnSpc>
              <a:spcBef>
                <a:spcPts val="0"/>
              </a:spcBef>
              <a:spcAft>
                <a:spcPts val="0"/>
              </a:spcAft>
              <a:buNone/>
            </a:pPr>
            <a:r>
              <a:rPr b="1" lang="en" sz="1500">
                <a:solidFill>
                  <a:schemeClr val="dk1"/>
                </a:solidFill>
              </a:rPr>
              <a:t>AuthService – Signup</a:t>
            </a:r>
            <a:r>
              <a:rPr b="1" lang="en" sz="1300">
                <a:solidFill>
                  <a:schemeClr val="dk1"/>
                </a:solidFill>
              </a:rPr>
              <a:t> </a:t>
            </a:r>
            <a:endParaRPr b="1" sz="1300">
              <a:solidFill>
                <a:schemeClr val="dk1"/>
              </a:solidFill>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FUNCTION registerUser(userDetails)</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IF username exists THEN   RETURN "User already exists"</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IF     encryptedPassword = encrypt(password)</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create new User</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save user in database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"Signup successful"</a:t>
            </a:r>
            <a:endParaRPr sz="1100">
              <a:solidFill>
                <a:srgbClr val="188038"/>
              </a:solidFill>
              <a:latin typeface="Roboto Mono"/>
              <a:ea typeface="Roboto Mono"/>
              <a:cs typeface="Roboto Mono"/>
              <a:sym typeface="Roboto Mono"/>
            </a:endParaRPr>
          </a:p>
          <a:p>
            <a:pPr indent="0" lvl="0" marL="1828800" rtl="0" algn="l">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0" rtl="0" algn="just">
              <a:lnSpc>
                <a:spcPct val="200000"/>
              </a:lnSpc>
              <a:spcBef>
                <a:spcPts val="0"/>
              </a:spcBef>
              <a:spcAft>
                <a:spcPts val="0"/>
              </a:spcAft>
              <a:buNone/>
            </a:pPr>
            <a:r>
              <a:t/>
            </a:r>
            <a:endParaRPr sz="1829">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ctrTitle"/>
          </p:nvPr>
        </p:nvSpPr>
        <p:spPr>
          <a:xfrm>
            <a:off x="1085275" y="-1018584"/>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(Login)</a:t>
            </a:r>
            <a:endParaRPr sz="3155">
              <a:latin typeface="Times New Roman"/>
              <a:ea typeface="Times New Roman"/>
              <a:cs typeface="Times New Roman"/>
              <a:sym typeface="Times New Roman"/>
            </a:endParaRPr>
          </a:p>
        </p:txBody>
      </p:sp>
      <p:sp>
        <p:nvSpPr>
          <p:cNvPr id="110" name="Google Shape;110;p22"/>
          <p:cNvSpPr txBox="1"/>
          <p:nvPr>
            <p:ph idx="1" type="subTitle"/>
          </p:nvPr>
        </p:nvSpPr>
        <p:spPr>
          <a:xfrm>
            <a:off x="300625" y="439017"/>
            <a:ext cx="8957400" cy="468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rPr>
              <a:t>AuthController – Login</a:t>
            </a:r>
            <a:endParaRPr b="1" sz="1500">
              <a:solidFill>
                <a:schemeClr val="dk1"/>
              </a:solidFill>
            </a:endParaRPr>
          </a:p>
          <a:p>
            <a:pPr indent="0" lvl="0" marL="1828800" rtl="0" algn="just">
              <a:lnSpc>
                <a:spcPct val="115000"/>
              </a:lnSpc>
              <a:spcBef>
                <a:spcPts val="400"/>
              </a:spcBef>
              <a:spcAft>
                <a:spcPts val="0"/>
              </a:spcAft>
              <a:buNone/>
            </a:pPr>
            <a:r>
              <a:rPr lang="en" sz="1100">
                <a:solidFill>
                  <a:srgbClr val="188038"/>
                </a:solidFill>
                <a:latin typeface="Roboto Mono"/>
                <a:ea typeface="Roboto Mono"/>
                <a:cs typeface="Roboto Mono"/>
                <a:sym typeface="Roboto Mono"/>
              </a:rPr>
              <a:t>FUNCTION signin(request)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username = request.username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password = request.password</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token = AuthService.authenticate(username, password)</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token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0" rtl="0" algn="just">
              <a:lnSpc>
                <a:spcPct val="115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0" rtl="0" algn="just">
              <a:lnSpc>
                <a:spcPct val="200000"/>
              </a:lnSpc>
              <a:spcBef>
                <a:spcPts val="0"/>
              </a:spcBef>
              <a:spcAft>
                <a:spcPts val="0"/>
              </a:spcAft>
              <a:buNone/>
            </a:pPr>
            <a:r>
              <a:rPr b="1" lang="en" sz="1500">
                <a:solidFill>
                  <a:schemeClr val="dk1"/>
                </a:solidFill>
              </a:rPr>
              <a:t>AuthService – Login Logic</a:t>
            </a:r>
            <a:endParaRPr b="1" sz="1500">
              <a:solidFill>
                <a:schemeClr val="dk1"/>
              </a:solidFill>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FUNCTION authenticate(username, password)</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user = find user by username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IF user not found THEN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"Invalid username"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IF</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IF password matches THEN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token = generate JWT token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token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ELSE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"Invalid password"</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IF</a:t>
            </a:r>
            <a:endParaRPr sz="1100">
              <a:solidFill>
                <a:srgbClr val="188038"/>
              </a:solidFill>
              <a:latin typeface="Roboto Mono"/>
              <a:ea typeface="Roboto Mono"/>
              <a:cs typeface="Roboto Mono"/>
              <a:sym typeface="Roboto Mono"/>
            </a:endParaRPr>
          </a:p>
          <a:p>
            <a:pPr indent="0" lvl="0" marL="1828800" rtl="0" algn="l">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0" rtl="0" algn="just">
              <a:lnSpc>
                <a:spcPct val="200000"/>
              </a:lnSpc>
              <a:spcBef>
                <a:spcPts val="0"/>
              </a:spcBef>
              <a:spcAft>
                <a:spcPts val="0"/>
              </a:spcAft>
              <a:buNone/>
            </a:pPr>
            <a:r>
              <a:t/>
            </a:r>
            <a:endParaRPr b="1" sz="13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ctrTitle"/>
          </p:nvPr>
        </p:nvSpPr>
        <p:spPr>
          <a:xfrm>
            <a:off x="1085275" y="-1018584"/>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(Forget password)</a:t>
            </a:r>
            <a:endParaRPr sz="3155">
              <a:latin typeface="Times New Roman"/>
              <a:ea typeface="Times New Roman"/>
              <a:cs typeface="Times New Roman"/>
              <a:sym typeface="Times New Roman"/>
            </a:endParaRPr>
          </a:p>
        </p:txBody>
      </p:sp>
      <p:sp>
        <p:nvSpPr>
          <p:cNvPr id="116" name="Google Shape;116;p23"/>
          <p:cNvSpPr txBox="1"/>
          <p:nvPr>
            <p:ph idx="1" type="subTitle"/>
          </p:nvPr>
        </p:nvSpPr>
        <p:spPr>
          <a:xfrm>
            <a:off x="300625" y="904684"/>
            <a:ext cx="8957400" cy="4689600"/>
          </a:xfrm>
          <a:prstGeom prst="rect">
            <a:avLst/>
          </a:prstGeom>
        </p:spPr>
        <p:txBody>
          <a:bodyPr anchorCtr="0" anchor="t" bIns="91425" lIns="91425" spcFirstLastPara="1" rIns="91425" wrap="square" tIns="91425">
            <a:noAutofit/>
          </a:bodyPr>
          <a:lstStyle/>
          <a:p>
            <a:pPr indent="0" lvl="0" marL="0" rtl="0" algn="l">
              <a:lnSpc>
                <a:spcPct val="150000"/>
              </a:lnSpc>
              <a:spcBef>
                <a:spcPts val="1400"/>
              </a:spcBef>
              <a:spcAft>
                <a:spcPts val="0"/>
              </a:spcAft>
              <a:buClr>
                <a:schemeClr val="dk1"/>
              </a:buClr>
              <a:buSzPts val="1100"/>
              <a:buFont typeface="Arial"/>
              <a:buNone/>
            </a:pPr>
            <a:r>
              <a:rPr b="1" lang="en" sz="1500">
                <a:solidFill>
                  <a:schemeClr val="dk1"/>
                </a:solidFill>
              </a:rPr>
              <a:t>AuthService – Forgot Password</a:t>
            </a:r>
            <a:endParaRPr b="1" sz="1500">
              <a:solidFill>
                <a:schemeClr val="dk1"/>
              </a:solidFill>
            </a:endParaRPr>
          </a:p>
          <a:p>
            <a:pPr indent="0" lvl="0" marL="1828800" rtl="0" algn="just">
              <a:lnSpc>
                <a:spcPct val="150000"/>
              </a:lnSpc>
              <a:spcBef>
                <a:spcPts val="400"/>
              </a:spcBef>
              <a:spcAft>
                <a:spcPts val="0"/>
              </a:spcAft>
              <a:buNone/>
            </a:pPr>
            <a:r>
              <a:rPr lang="en" sz="1100">
                <a:solidFill>
                  <a:srgbClr val="188038"/>
                </a:solidFill>
                <a:latin typeface="Roboto Mono"/>
                <a:ea typeface="Roboto Mono"/>
                <a:cs typeface="Roboto Mono"/>
                <a:sym typeface="Roboto Mono"/>
              </a:rPr>
              <a:t>FUNCTION processForgotPassword(email)</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user = find user by email</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IF user not found THEN</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RETURN "Email not registered"</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END IF</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resetToken = generate token</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send reset link via EmailService</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RETURN "Reset link sent"</a:t>
            </a:r>
            <a:endParaRPr sz="1100">
              <a:solidFill>
                <a:srgbClr val="188038"/>
              </a:solidFill>
              <a:latin typeface="Roboto Mono"/>
              <a:ea typeface="Roboto Mono"/>
              <a:cs typeface="Roboto Mono"/>
              <a:sym typeface="Roboto Mono"/>
            </a:endParaRPr>
          </a:p>
          <a:p>
            <a:pPr indent="457200" lvl="0" marL="1371600" rtl="0" algn="l">
              <a:lnSpc>
                <a:spcPct val="150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b="1" sz="13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ctrTitle"/>
          </p:nvPr>
        </p:nvSpPr>
        <p:spPr>
          <a:xfrm>
            <a:off x="922725" y="-944159"/>
            <a:ext cx="74643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2 : Product / Inventory Management</a:t>
            </a:r>
            <a:endParaRPr sz="3155">
              <a:latin typeface="Times New Roman"/>
              <a:ea typeface="Times New Roman"/>
              <a:cs typeface="Times New Roman"/>
              <a:sym typeface="Times New Roman"/>
            </a:endParaRPr>
          </a:p>
        </p:txBody>
      </p:sp>
      <p:sp>
        <p:nvSpPr>
          <p:cNvPr id="122" name="Google Shape;122;p24"/>
          <p:cNvSpPr txBox="1"/>
          <p:nvPr>
            <p:ph idx="1" type="subTitle"/>
          </p:nvPr>
        </p:nvSpPr>
        <p:spPr>
          <a:xfrm>
            <a:off x="248250" y="597551"/>
            <a:ext cx="8613300" cy="45459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Purpose:</a:t>
            </a:r>
            <a:endParaRPr b="1"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Manage products</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Track stock levels</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Prevent duplicate products</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Handle stock-in and stock-out operations</a:t>
            </a:r>
            <a:endParaRPr sz="18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Classes:</a:t>
            </a:r>
            <a:endParaRPr b="1"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Product</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ProductController</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ProductService</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ProductRepository</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TransactionService</a:t>
            </a:r>
            <a:endParaRPr sz="1829">
              <a:latin typeface="Times New Roman"/>
              <a:ea typeface="Times New Roman"/>
              <a:cs typeface="Times New Roman"/>
              <a:sym typeface="Times New Roman"/>
            </a:endParaRPr>
          </a:p>
          <a:p>
            <a:pPr indent="-344805" lvl="0" marL="914400" rtl="0" algn="just">
              <a:lnSpc>
                <a:spcPct val="115000"/>
              </a:lnSpc>
              <a:spcBef>
                <a:spcPts val="0"/>
              </a:spcBef>
              <a:spcAft>
                <a:spcPts val="0"/>
              </a:spcAft>
              <a:buSzPts val="1830"/>
              <a:buFont typeface="Times New Roman"/>
              <a:buChar char="●"/>
            </a:pPr>
            <a:r>
              <a:rPr lang="en" sz="1829">
                <a:latin typeface="Times New Roman"/>
                <a:ea typeface="Times New Roman"/>
                <a:cs typeface="Times New Roman"/>
                <a:sym typeface="Times New Roman"/>
              </a:rPr>
              <a:t>AlertService</a:t>
            </a:r>
            <a:endParaRPr sz="1829">
              <a:latin typeface="Times New Roman"/>
              <a:ea typeface="Times New Roman"/>
              <a:cs typeface="Times New Roman"/>
              <a:sym typeface="Times New Roman"/>
            </a:endParaRPr>
          </a:p>
          <a:p>
            <a:pPr indent="0" lvl="0" marL="1828800" rtl="0" algn="just">
              <a:lnSpc>
                <a:spcPct val="115000"/>
              </a:lnSpc>
              <a:spcBef>
                <a:spcPts val="0"/>
              </a:spcBef>
              <a:spcAft>
                <a:spcPts val="0"/>
              </a:spcAft>
              <a:buNone/>
            </a:pPr>
            <a:r>
              <a:t/>
            </a:r>
            <a:endParaRPr sz="1829">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ctrTitle"/>
          </p:nvPr>
        </p:nvSpPr>
        <p:spPr>
          <a:xfrm>
            <a:off x="895950" y="-97642"/>
            <a:ext cx="7491000" cy="672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2: Product / Inventory Management</a:t>
            </a:r>
            <a:endParaRPr sz="3155">
              <a:latin typeface="Times New Roman"/>
              <a:ea typeface="Times New Roman"/>
              <a:cs typeface="Times New Roman"/>
              <a:sym typeface="Times New Roman"/>
            </a:endParaRPr>
          </a:p>
        </p:txBody>
      </p:sp>
      <p:sp>
        <p:nvSpPr>
          <p:cNvPr id="128" name="Google Shape;128;p25"/>
          <p:cNvSpPr txBox="1"/>
          <p:nvPr>
            <p:ph idx="1" type="subTitle"/>
          </p:nvPr>
        </p:nvSpPr>
        <p:spPr>
          <a:xfrm>
            <a:off x="153000" y="418289"/>
            <a:ext cx="8613300" cy="421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Database Schema:</a:t>
            </a:r>
            <a:endParaRPr sz="1829">
              <a:latin typeface="Times New Roman"/>
              <a:ea typeface="Times New Roman"/>
              <a:cs typeface="Times New Roman"/>
              <a:sym typeface="Times New Roman"/>
            </a:endParaRPr>
          </a:p>
        </p:txBody>
      </p:sp>
      <p:graphicFrame>
        <p:nvGraphicFramePr>
          <p:cNvPr id="129" name="Google Shape;129;p25"/>
          <p:cNvGraphicFramePr/>
          <p:nvPr/>
        </p:nvGraphicFramePr>
        <p:xfrm>
          <a:off x="538550" y="843332"/>
          <a:ext cx="3000000" cy="3000000"/>
        </p:xfrm>
        <a:graphic>
          <a:graphicData uri="http://schemas.openxmlformats.org/drawingml/2006/table">
            <a:tbl>
              <a:tblPr>
                <a:noFill/>
                <a:tableStyleId>{0428CCD0-C68F-449A-BD32-083CE833CB9D}</a:tableStyleId>
              </a:tblPr>
              <a:tblGrid>
                <a:gridCol w="2015625"/>
                <a:gridCol w="2657350"/>
                <a:gridCol w="3358050"/>
              </a:tblGrid>
              <a:tr h="340800">
                <a:tc>
                  <a:txBody>
                    <a:bodyPr/>
                    <a:lstStyle/>
                    <a:p>
                      <a:pPr indent="0" lvl="0" marL="0" rtl="0" algn="ctr">
                        <a:lnSpc>
                          <a:spcPct val="115000"/>
                        </a:lnSpc>
                        <a:spcBef>
                          <a:spcPts val="0"/>
                        </a:spcBef>
                        <a:spcAft>
                          <a:spcPts val="0"/>
                        </a:spcAft>
                        <a:buNone/>
                      </a:pPr>
                      <a:r>
                        <a:rPr b="1" lang="en" sz="1700">
                          <a:latin typeface="Times New Roman"/>
                          <a:ea typeface="Times New Roman"/>
                          <a:cs typeface="Times New Roman"/>
                          <a:sym typeface="Times New Roman"/>
                        </a:rPr>
                        <a:t>Field</a:t>
                      </a:r>
                      <a:endParaRPr b="1" sz="17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700">
                          <a:latin typeface="Times New Roman"/>
                          <a:ea typeface="Times New Roman"/>
                          <a:cs typeface="Times New Roman"/>
                          <a:sym typeface="Times New Roman"/>
                        </a:rPr>
                        <a:t>Type</a:t>
                      </a:r>
                      <a:endParaRPr b="1" sz="17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700">
                          <a:latin typeface="Times New Roman"/>
                          <a:ea typeface="Times New Roman"/>
                          <a:cs typeface="Times New Roman"/>
                          <a:sym typeface="Times New Roman"/>
                        </a:rPr>
                        <a:t>Description</a:t>
                      </a:r>
                      <a:endParaRPr b="1" sz="17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product_id</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Primary Key(BIGINT)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Unique product id</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sku</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Stock keeping unit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product_name</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Product name</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category</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Type of Product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supplier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Supplier Detail</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unit_price</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DECIMAL</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Price of Product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stock_quantity</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Current / Real time quantity of product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created_at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TIMESTAMP</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Timestamp of product creation</a:t>
                      </a:r>
                      <a:endParaRPr sz="15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ctrTitle"/>
          </p:nvPr>
        </p:nvSpPr>
        <p:spPr>
          <a:xfrm>
            <a:off x="1085275" y="-1018584"/>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Inventory Flow Diagram</a:t>
            </a:r>
            <a:endParaRPr sz="3155">
              <a:latin typeface="Times New Roman"/>
              <a:ea typeface="Times New Roman"/>
              <a:cs typeface="Times New Roman"/>
              <a:sym typeface="Times New Roman"/>
            </a:endParaRPr>
          </a:p>
        </p:txBody>
      </p:sp>
      <p:sp>
        <p:nvSpPr>
          <p:cNvPr id="135" name="Google Shape;135;p26"/>
          <p:cNvSpPr txBox="1"/>
          <p:nvPr>
            <p:ph idx="1" type="subTitle"/>
          </p:nvPr>
        </p:nvSpPr>
        <p:spPr>
          <a:xfrm>
            <a:off x="1838600" y="792653"/>
            <a:ext cx="8957400" cy="4689600"/>
          </a:xfrm>
          <a:prstGeom prst="rect">
            <a:avLst/>
          </a:prstGeom>
        </p:spPr>
        <p:txBody>
          <a:bodyPr anchorCtr="0" anchor="t" bIns="91425" lIns="91425" spcFirstLastPara="1" rIns="91425" wrap="square" tIns="91425">
            <a:noAutofit/>
          </a:bodyPr>
          <a:lstStyle/>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User</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Inventory Request (Add / Update / Remove Stock)</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Inventory Module</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Stock Validation</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Database Update</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  ↓</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rPr b="1" lang="en" sz="1500">
                <a:solidFill>
                  <a:schemeClr val="dk1"/>
                </a:solidFill>
              </a:rPr>
              <a:t>Transaction Recorded</a:t>
            </a:r>
            <a:endParaRPr b="1" sz="1500">
              <a:solidFill>
                <a:schemeClr val="dk1"/>
              </a:solidFill>
            </a:endParaRPr>
          </a:p>
          <a:p>
            <a:pPr indent="457200" lvl="0" marL="1371600" rtl="0" algn="l">
              <a:lnSpc>
                <a:spcPct val="150000"/>
              </a:lnSpc>
              <a:spcBef>
                <a:spcPts val="0"/>
              </a:spcBef>
              <a:spcAft>
                <a:spcPts val="0"/>
              </a:spcAft>
              <a:buClr>
                <a:schemeClr val="dk1"/>
              </a:buClr>
              <a:buSzPts val="1100"/>
              <a:buFont typeface="Arial"/>
              <a:buNone/>
            </a:pPr>
            <a:r>
              <a:t/>
            </a:r>
            <a:endParaRPr b="1" sz="1500">
              <a:solidFill>
                <a:schemeClr val="dk1"/>
              </a:solidFill>
            </a:endParaRPr>
          </a:p>
          <a:p>
            <a:pPr indent="457200" lvl="0" marL="1371600" rtl="0" algn="l">
              <a:lnSpc>
                <a:spcPct val="150000"/>
              </a:lnSpc>
              <a:spcBef>
                <a:spcPts val="0"/>
              </a:spcBef>
              <a:spcAft>
                <a:spcPts val="0"/>
              </a:spcAft>
              <a:buNone/>
            </a:pPr>
            <a:r>
              <a:t/>
            </a:r>
            <a:endParaRPr b="1" sz="15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ctrTitle"/>
          </p:nvPr>
        </p:nvSpPr>
        <p:spPr>
          <a:xfrm>
            <a:off x="1085275" y="-1018584"/>
            <a:ext cx="7301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(ProductController)</a:t>
            </a:r>
            <a:endParaRPr sz="3155">
              <a:latin typeface="Times New Roman"/>
              <a:ea typeface="Times New Roman"/>
              <a:cs typeface="Times New Roman"/>
              <a:sym typeface="Times New Roman"/>
            </a:endParaRPr>
          </a:p>
        </p:txBody>
      </p:sp>
      <p:sp>
        <p:nvSpPr>
          <p:cNvPr id="141" name="Google Shape;141;p27"/>
          <p:cNvSpPr txBox="1"/>
          <p:nvPr>
            <p:ph idx="1" type="subTitle"/>
          </p:nvPr>
        </p:nvSpPr>
        <p:spPr>
          <a:xfrm>
            <a:off x="300625" y="927904"/>
            <a:ext cx="8957400" cy="468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500">
                <a:solidFill>
                  <a:schemeClr val="dk1"/>
                </a:solidFill>
              </a:rPr>
              <a:t>ProductController</a:t>
            </a:r>
            <a:endParaRPr b="1" sz="1500">
              <a:solidFill>
                <a:schemeClr val="dk1"/>
              </a:solidFill>
            </a:endParaRPr>
          </a:p>
          <a:p>
            <a:pPr indent="0" lvl="0" marL="1828800" rtl="0" algn="just">
              <a:lnSpc>
                <a:spcPct val="150000"/>
              </a:lnSpc>
              <a:spcBef>
                <a:spcPts val="400"/>
              </a:spcBef>
              <a:spcAft>
                <a:spcPts val="0"/>
              </a:spcAft>
              <a:buNone/>
            </a:pPr>
            <a:r>
              <a:rPr lang="en" sz="1100">
                <a:solidFill>
                  <a:srgbClr val="188038"/>
                </a:solidFill>
                <a:latin typeface="Roboto Mono"/>
                <a:ea typeface="Roboto Mono"/>
                <a:cs typeface="Roboto Mono"/>
                <a:sym typeface="Roboto Mono"/>
              </a:rPr>
              <a:t>FUNCTION addProduct(productData)</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ProductService.addProduct(productData)</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FUNCTION stockIn(productId, quantity)</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ProductService.increaseStock(productId, quantity)</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FUNCTION stockOut(productId, quantity)</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    ProductService.decreaseStock(productId, quantity)</a:t>
            </a:r>
            <a:endParaRPr sz="1100">
              <a:solidFill>
                <a:srgbClr val="188038"/>
              </a:solidFill>
              <a:latin typeface="Roboto Mono"/>
              <a:ea typeface="Roboto Mono"/>
              <a:cs typeface="Roboto Mono"/>
              <a:sym typeface="Roboto Mono"/>
            </a:endParaRPr>
          </a:p>
          <a:p>
            <a:pPr indent="0" lvl="0" marL="1828800" rtl="0" algn="just">
              <a:lnSpc>
                <a:spcPct val="150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829">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idx="1" type="subTitle"/>
          </p:nvPr>
        </p:nvSpPr>
        <p:spPr>
          <a:xfrm>
            <a:off x="300625" y="1108744"/>
            <a:ext cx="8957400" cy="468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rgbClr val="000000"/>
              </a:buClr>
              <a:buSzPts val="1100"/>
              <a:buFont typeface="Arial"/>
              <a:buNone/>
            </a:pPr>
            <a:r>
              <a:rPr b="1" lang="en" sz="1500">
                <a:solidFill>
                  <a:schemeClr val="dk1"/>
                </a:solidFill>
              </a:rPr>
              <a:t>addProduct</a:t>
            </a:r>
            <a:endParaRPr b="1" sz="1500">
              <a:solidFill>
                <a:schemeClr val="dk1"/>
              </a:solidFill>
            </a:endParaRPr>
          </a:p>
          <a:p>
            <a:pPr indent="0" lvl="0" marL="1828800" rtl="0" algn="just">
              <a:lnSpc>
                <a:spcPct val="115000"/>
              </a:lnSpc>
              <a:spcBef>
                <a:spcPts val="400"/>
              </a:spcBef>
              <a:spcAft>
                <a:spcPts val="0"/>
              </a:spcAft>
              <a:buNone/>
            </a:pPr>
            <a:r>
              <a:rPr lang="en" sz="1100">
                <a:solidFill>
                  <a:srgbClr val="188038"/>
                </a:solidFill>
                <a:latin typeface="Roboto Mono"/>
                <a:ea typeface="Roboto Mono"/>
                <a:cs typeface="Roboto Mono"/>
                <a:sym typeface="Roboto Mono"/>
              </a:rPr>
              <a:t>FUNCTION addProduct(productData)</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IF SKU does not exist THEN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save product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ELSE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"Duplicate Product"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IF</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rPr>
              <a:t>increaseStock</a:t>
            </a:r>
            <a:endParaRPr sz="1100">
              <a:solidFill>
                <a:srgbClr val="188038"/>
              </a:solidFill>
              <a:latin typeface="Roboto Mono"/>
              <a:ea typeface="Roboto Mono"/>
              <a:cs typeface="Roboto Mono"/>
              <a:sym typeface="Roboto Mono"/>
            </a:endParaRPr>
          </a:p>
          <a:p>
            <a:pPr indent="0" lvl="0" marL="1828800" rtl="0" algn="just">
              <a:lnSpc>
                <a:spcPct val="115000"/>
              </a:lnSpc>
              <a:spcBef>
                <a:spcPts val="40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FUNCTION increaseStock(productId, quantity)</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product.stock += quantity</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save product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log transaction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check low stock</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p:txBody>
      </p:sp>
      <p:sp>
        <p:nvSpPr>
          <p:cNvPr id="147" name="Google Shape;147;p28"/>
          <p:cNvSpPr txBox="1"/>
          <p:nvPr>
            <p:ph type="ctrTitle"/>
          </p:nvPr>
        </p:nvSpPr>
        <p:spPr>
          <a:xfrm>
            <a:off x="446475" y="-899512"/>
            <a:ext cx="7940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(ProductService)</a:t>
            </a:r>
            <a:endParaRPr sz="3155">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idx="1" type="subTitle"/>
          </p:nvPr>
        </p:nvSpPr>
        <p:spPr>
          <a:xfrm>
            <a:off x="300625" y="623847"/>
            <a:ext cx="8957400" cy="468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500">
                <a:solidFill>
                  <a:schemeClr val="dk1"/>
                </a:solidFill>
              </a:rPr>
              <a:t>decreaseStock</a:t>
            </a:r>
            <a:endParaRPr b="1" sz="1500">
              <a:solidFill>
                <a:schemeClr val="dk1"/>
              </a:solidFill>
            </a:endParaRPr>
          </a:p>
          <a:p>
            <a:pPr indent="0" lvl="0" marL="1828800" rtl="0" algn="just">
              <a:lnSpc>
                <a:spcPct val="115000"/>
              </a:lnSpc>
              <a:spcBef>
                <a:spcPts val="400"/>
              </a:spcBef>
              <a:spcAft>
                <a:spcPts val="0"/>
              </a:spcAft>
              <a:buNone/>
            </a:pPr>
            <a:r>
              <a:rPr lang="en" sz="1100">
                <a:solidFill>
                  <a:srgbClr val="188038"/>
                </a:solidFill>
                <a:latin typeface="Roboto Mono"/>
                <a:ea typeface="Roboto Mono"/>
                <a:cs typeface="Roboto Mono"/>
                <a:sym typeface="Roboto Mono"/>
              </a:rPr>
              <a:t>FUNCTION decreaseStock(productId, quantity)</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IF stock sufficient THEN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product.stock -= quantity</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save product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log transaction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check low stock</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ELSE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"Insufficient Stock"</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IF</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t/>
            </a:r>
            <a:endParaRPr sz="1100">
              <a:solidFill>
                <a:srgbClr val="188038"/>
              </a:solidFill>
              <a:latin typeface="Roboto Mono"/>
              <a:ea typeface="Roboto Mono"/>
              <a:cs typeface="Roboto Mono"/>
              <a:sym typeface="Roboto Mono"/>
            </a:endParaRPr>
          </a:p>
          <a:p>
            <a:pPr indent="0" lvl="0" marL="0" rtl="0" algn="just">
              <a:lnSpc>
                <a:spcPct val="115000"/>
              </a:lnSpc>
              <a:spcBef>
                <a:spcPts val="0"/>
              </a:spcBef>
              <a:spcAft>
                <a:spcPts val="0"/>
              </a:spcAft>
              <a:buNone/>
            </a:pPr>
            <a:r>
              <a:rPr b="1" lang="en" sz="1500">
                <a:solidFill>
                  <a:schemeClr val="dk1"/>
                </a:solidFill>
              </a:rPr>
              <a:t>ProductRepository</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CLASS ProductRepository</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FUNCTION findById(productId)</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RETURN product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FUNCTION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FUNCTION save(product)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store product in database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    END FUNCTION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END CLASS</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t/>
            </a:r>
            <a:endParaRPr sz="1100">
              <a:solidFill>
                <a:srgbClr val="188038"/>
              </a:solidFill>
              <a:latin typeface="Roboto Mono"/>
              <a:ea typeface="Roboto Mono"/>
              <a:cs typeface="Roboto Mono"/>
              <a:sym typeface="Roboto Mono"/>
            </a:endParaRPr>
          </a:p>
        </p:txBody>
      </p:sp>
      <p:sp>
        <p:nvSpPr>
          <p:cNvPr id="153" name="Google Shape;153;p29"/>
          <p:cNvSpPr txBox="1"/>
          <p:nvPr>
            <p:ph type="ctrTitle"/>
          </p:nvPr>
        </p:nvSpPr>
        <p:spPr>
          <a:xfrm>
            <a:off x="446475" y="-1018575"/>
            <a:ext cx="7940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(ProductService)</a:t>
            </a:r>
            <a:endParaRPr sz="3155">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ctrTitle"/>
          </p:nvPr>
        </p:nvSpPr>
        <p:spPr>
          <a:xfrm>
            <a:off x="985500" y="-900651"/>
            <a:ext cx="7173000" cy="1498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3 : Inventory Alerts</a:t>
            </a:r>
            <a:endParaRPr sz="3155">
              <a:latin typeface="Times New Roman"/>
              <a:ea typeface="Times New Roman"/>
              <a:cs typeface="Times New Roman"/>
              <a:sym typeface="Times New Roman"/>
            </a:endParaRPr>
          </a:p>
        </p:txBody>
      </p:sp>
      <p:sp>
        <p:nvSpPr>
          <p:cNvPr id="159" name="Google Shape;159;p30"/>
          <p:cNvSpPr txBox="1"/>
          <p:nvPr>
            <p:ph idx="1" type="subTitle"/>
          </p:nvPr>
        </p:nvSpPr>
        <p:spPr>
          <a:xfrm>
            <a:off x="248250" y="597551"/>
            <a:ext cx="8613300" cy="45459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629">
                <a:latin typeface="Times New Roman"/>
                <a:ea typeface="Times New Roman"/>
                <a:cs typeface="Times New Roman"/>
                <a:sym typeface="Times New Roman"/>
              </a:rPr>
              <a:t>Purpose:</a:t>
            </a:r>
            <a:endParaRPr b="1"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Ensure uninterrupted operations</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Avoid stock-out situations</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Prevent overflow or safety hazards</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Support proactive decision-making</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Reduce manual monitoring effort</a:t>
            </a:r>
            <a:endParaRPr sz="16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 sz="1629">
                <a:latin typeface="Times New Roman"/>
                <a:ea typeface="Times New Roman"/>
                <a:cs typeface="Times New Roman"/>
                <a:sym typeface="Times New Roman"/>
              </a:rPr>
              <a:t>Classes:</a:t>
            </a:r>
            <a:endParaRPr b="1"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alert_id: Unique identifier for each alert</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product_id: References the product associated with the alert</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current_quantity: Stock level at the time of alert</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reorder_level: Threshold that triggered the alert</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alert_message: Description of the alert</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alert_status: OPEN, ACKNOWLEDGED, or CLOSED</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created_at: Timestamp of alert creation</a:t>
            </a:r>
            <a:endParaRPr sz="1629">
              <a:latin typeface="Times New Roman"/>
              <a:ea typeface="Times New Roman"/>
              <a:cs typeface="Times New Roman"/>
              <a:sym typeface="Times New Roman"/>
            </a:endParaRPr>
          </a:p>
          <a:p>
            <a:pPr indent="0" lvl="0" marL="1828800" rtl="0" algn="just">
              <a:lnSpc>
                <a:spcPct val="115000"/>
              </a:lnSpc>
              <a:spcBef>
                <a:spcPts val="0"/>
              </a:spcBef>
              <a:spcAft>
                <a:spcPts val="0"/>
              </a:spcAft>
              <a:buNone/>
            </a:pPr>
            <a:r>
              <a:t/>
            </a:r>
            <a:endParaRPr sz="1629">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ctrTitle"/>
          </p:nvPr>
        </p:nvSpPr>
        <p:spPr>
          <a:xfrm>
            <a:off x="985500" y="1"/>
            <a:ext cx="7173000" cy="575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3: Inventory Alerts</a:t>
            </a:r>
            <a:endParaRPr sz="3155">
              <a:latin typeface="Times New Roman"/>
              <a:ea typeface="Times New Roman"/>
              <a:cs typeface="Times New Roman"/>
              <a:sym typeface="Times New Roman"/>
            </a:endParaRPr>
          </a:p>
        </p:txBody>
      </p:sp>
      <p:sp>
        <p:nvSpPr>
          <p:cNvPr id="165" name="Google Shape;165;p31"/>
          <p:cNvSpPr txBox="1"/>
          <p:nvPr>
            <p:ph idx="1" type="subTitle"/>
          </p:nvPr>
        </p:nvSpPr>
        <p:spPr>
          <a:xfrm>
            <a:off x="153000" y="418289"/>
            <a:ext cx="8613300" cy="421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Database Schema:</a:t>
            </a:r>
            <a:endParaRPr sz="1829">
              <a:latin typeface="Times New Roman"/>
              <a:ea typeface="Times New Roman"/>
              <a:cs typeface="Times New Roman"/>
              <a:sym typeface="Times New Roman"/>
            </a:endParaRPr>
          </a:p>
        </p:txBody>
      </p:sp>
      <p:graphicFrame>
        <p:nvGraphicFramePr>
          <p:cNvPr id="166" name="Google Shape;166;p31"/>
          <p:cNvGraphicFramePr/>
          <p:nvPr/>
        </p:nvGraphicFramePr>
        <p:xfrm>
          <a:off x="538550" y="843332"/>
          <a:ext cx="3000000" cy="3000000"/>
        </p:xfrm>
        <a:graphic>
          <a:graphicData uri="http://schemas.openxmlformats.org/drawingml/2006/table">
            <a:tbl>
              <a:tblPr>
                <a:noFill/>
                <a:tableStyleId>{0428CCD0-C68F-449A-BD32-083CE833CB9D}</a:tableStyleId>
              </a:tblPr>
              <a:tblGrid>
                <a:gridCol w="2015625"/>
                <a:gridCol w="2657350"/>
                <a:gridCol w="3358050"/>
              </a:tblGrid>
              <a:tr h="340800">
                <a:tc>
                  <a:txBody>
                    <a:bodyPr/>
                    <a:lstStyle/>
                    <a:p>
                      <a:pPr indent="0" lvl="0" marL="0" rtl="0" algn="ctr">
                        <a:lnSpc>
                          <a:spcPct val="115000"/>
                        </a:lnSpc>
                        <a:spcBef>
                          <a:spcPts val="0"/>
                        </a:spcBef>
                        <a:spcAft>
                          <a:spcPts val="0"/>
                        </a:spcAft>
                        <a:buNone/>
                      </a:pPr>
                      <a:r>
                        <a:rPr b="1" lang="en" sz="1700">
                          <a:latin typeface="Times New Roman"/>
                          <a:ea typeface="Times New Roman"/>
                          <a:cs typeface="Times New Roman"/>
                          <a:sym typeface="Times New Roman"/>
                        </a:rPr>
                        <a:t>Field</a:t>
                      </a:r>
                      <a:endParaRPr b="1" sz="17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700">
                          <a:latin typeface="Times New Roman"/>
                          <a:ea typeface="Times New Roman"/>
                          <a:cs typeface="Times New Roman"/>
                          <a:sym typeface="Times New Roman"/>
                        </a:rPr>
                        <a:t>Type</a:t>
                      </a:r>
                      <a:endParaRPr b="1" sz="17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700">
                          <a:latin typeface="Times New Roman"/>
                          <a:ea typeface="Times New Roman"/>
                          <a:cs typeface="Times New Roman"/>
                          <a:sym typeface="Times New Roman"/>
                        </a:rPr>
                        <a:t>Description</a:t>
                      </a:r>
                      <a:endParaRPr b="1" sz="17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alert_id</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Primary Key(BIGINT)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Unique identifier for each alert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product_id</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Foreign Key(BIGINT)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References product generating the alert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current_quantity</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1500">
                          <a:latin typeface="Times New Roman"/>
                          <a:ea typeface="Times New Roman"/>
                          <a:cs typeface="Times New Roman"/>
                          <a:sym typeface="Times New Roman"/>
                        </a:rPr>
                        <a:t>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Stock quantity at the time of alert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reorder_level</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Minimum stock threshold</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alert_message</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Description of the alert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alert_status</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OPEN / ACKNOWLEDGED / CLOSED</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created_at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TIMESTAMP</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Alert creation time</a:t>
                      </a:r>
                      <a:endParaRPr sz="15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ctrTitle"/>
          </p:nvPr>
        </p:nvSpPr>
        <p:spPr>
          <a:xfrm>
            <a:off x="985500" y="1"/>
            <a:ext cx="7173000" cy="575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3: Inventory Alerts</a:t>
            </a:r>
            <a:endParaRPr sz="3155">
              <a:latin typeface="Times New Roman"/>
              <a:ea typeface="Times New Roman"/>
              <a:cs typeface="Times New Roman"/>
              <a:sym typeface="Times New Roman"/>
            </a:endParaRPr>
          </a:p>
        </p:txBody>
      </p:sp>
      <p:sp>
        <p:nvSpPr>
          <p:cNvPr id="172" name="Google Shape;172;p32"/>
          <p:cNvSpPr txBox="1"/>
          <p:nvPr>
            <p:ph idx="1" type="subTitle"/>
          </p:nvPr>
        </p:nvSpPr>
        <p:spPr>
          <a:xfrm>
            <a:off x="153000" y="916614"/>
            <a:ext cx="8613300" cy="35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Scenario Example with code and output:</a:t>
            </a:r>
            <a:endParaRPr b="1" sz="18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t/>
            </a:r>
            <a:endParaRPr b="1" sz="18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lang="en" sz="1729">
                <a:solidFill>
                  <a:schemeClr val="dk1"/>
                </a:solidFill>
                <a:latin typeface="Times New Roman"/>
                <a:ea typeface="Times New Roman"/>
                <a:cs typeface="Times New Roman"/>
                <a:sym typeface="Times New Roman"/>
              </a:rPr>
              <a:t>A government transport depot maintains fuel tanks used for operating buses. Since uninterrupted fuel availability is critical for daily transport services, fuel levels must be monitored continuously. Any abnormal fuel condition can lead to service disruption or safety risks.</a:t>
            </a:r>
            <a:endParaRPr sz="1729">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lang="en" sz="1729">
                <a:solidFill>
                  <a:schemeClr val="dk1"/>
                </a:solidFill>
                <a:latin typeface="Times New Roman"/>
                <a:ea typeface="Times New Roman"/>
                <a:cs typeface="Times New Roman"/>
                <a:sym typeface="Times New Roman"/>
              </a:rPr>
              <a:t>The system must generate alerts based on predefined fuel level thresholds so that depot managers and staff can take timely and appropriate action.</a:t>
            </a:r>
            <a:endParaRPr sz="1729">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ctrTitle"/>
          </p:nvPr>
        </p:nvSpPr>
        <p:spPr>
          <a:xfrm>
            <a:off x="985500" y="1"/>
            <a:ext cx="7173000" cy="575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3: Inventory Alerts</a:t>
            </a:r>
            <a:endParaRPr sz="3155">
              <a:latin typeface="Times New Roman"/>
              <a:ea typeface="Times New Roman"/>
              <a:cs typeface="Times New Roman"/>
              <a:sym typeface="Times New Roman"/>
            </a:endParaRPr>
          </a:p>
        </p:txBody>
      </p:sp>
      <p:sp>
        <p:nvSpPr>
          <p:cNvPr id="178" name="Google Shape;178;p33"/>
          <p:cNvSpPr txBox="1"/>
          <p:nvPr>
            <p:ph idx="1" type="subTitle"/>
          </p:nvPr>
        </p:nvSpPr>
        <p:spPr>
          <a:xfrm>
            <a:off x="153000" y="418289"/>
            <a:ext cx="8613300" cy="421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Scenario Example with code and output:</a:t>
            </a:r>
            <a:endParaRPr b="1" sz="1829">
              <a:latin typeface="Times New Roman"/>
              <a:ea typeface="Times New Roman"/>
              <a:cs typeface="Times New Roman"/>
              <a:sym typeface="Times New Roman"/>
            </a:endParaRPr>
          </a:p>
        </p:txBody>
      </p:sp>
      <p:pic>
        <p:nvPicPr>
          <p:cNvPr id="179" name="Google Shape;179;p33"/>
          <p:cNvPicPr preferRelativeResize="0"/>
          <p:nvPr/>
        </p:nvPicPr>
        <p:blipFill rotWithShape="1">
          <a:blip r:embed="rId3">
            <a:alphaModFix/>
          </a:blip>
          <a:srcRect b="5882" l="0" r="0" t="0"/>
          <a:stretch/>
        </p:blipFill>
        <p:spPr>
          <a:xfrm>
            <a:off x="321775" y="1280727"/>
            <a:ext cx="8500450" cy="3048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ctrTitle"/>
          </p:nvPr>
        </p:nvSpPr>
        <p:spPr>
          <a:xfrm>
            <a:off x="985500" y="-900651"/>
            <a:ext cx="7173000" cy="1498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4 : Reports &amp; Analytics</a:t>
            </a:r>
            <a:endParaRPr sz="3155">
              <a:latin typeface="Times New Roman"/>
              <a:ea typeface="Times New Roman"/>
              <a:cs typeface="Times New Roman"/>
              <a:sym typeface="Times New Roman"/>
            </a:endParaRPr>
          </a:p>
        </p:txBody>
      </p:sp>
      <p:sp>
        <p:nvSpPr>
          <p:cNvPr id="185" name="Google Shape;185;p34"/>
          <p:cNvSpPr txBox="1"/>
          <p:nvPr>
            <p:ph idx="1" type="subTitle"/>
          </p:nvPr>
        </p:nvSpPr>
        <p:spPr>
          <a:xfrm>
            <a:off x="248250" y="597551"/>
            <a:ext cx="8613300" cy="45459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629">
                <a:latin typeface="Times New Roman"/>
                <a:ea typeface="Times New Roman"/>
                <a:cs typeface="Times New Roman"/>
                <a:sym typeface="Times New Roman"/>
              </a:rPr>
              <a:t>Purpose:</a:t>
            </a:r>
            <a:endParaRPr b="1"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Convert inventory data into meaningful insights</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Support data-driven decision making</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Monitor inventory performance</a:t>
            </a:r>
            <a:endParaRPr sz="1629">
              <a:latin typeface="Times New Roman"/>
              <a:ea typeface="Times New Roman"/>
              <a:cs typeface="Times New Roman"/>
              <a:sym typeface="Times New Roman"/>
            </a:endParaRPr>
          </a:p>
          <a:p>
            <a:pPr indent="0" lvl="0" marL="0" rtl="0" algn="just">
              <a:lnSpc>
                <a:spcPct val="150000"/>
              </a:lnSpc>
              <a:spcBef>
                <a:spcPts val="0"/>
              </a:spcBef>
              <a:spcAft>
                <a:spcPts val="0"/>
              </a:spcAft>
              <a:buNone/>
            </a:pPr>
            <a:r>
              <a:rPr b="1" lang="en" sz="1629">
                <a:latin typeface="Times New Roman"/>
                <a:ea typeface="Times New Roman"/>
                <a:cs typeface="Times New Roman"/>
                <a:sym typeface="Times New Roman"/>
              </a:rPr>
              <a:t>Classes:</a:t>
            </a:r>
            <a:endParaRPr b="1"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ReportController</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ReportService</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TransactionRepository</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ProductRepository</a:t>
            </a:r>
            <a:endParaRPr sz="1629">
              <a:latin typeface="Times New Roman"/>
              <a:ea typeface="Times New Roman"/>
              <a:cs typeface="Times New Roman"/>
              <a:sym typeface="Times New Roman"/>
            </a:endParaRPr>
          </a:p>
          <a:p>
            <a:pPr indent="-332105" lvl="0" marL="914400" rtl="0" algn="just">
              <a:lnSpc>
                <a:spcPct val="115000"/>
              </a:lnSpc>
              <a:spcBef>
                <a:spcPts val="0"/>
              </a:spcBef>
              <a:spcAft>
                <a:spcPts val="0"/>
              </a:spcAft>
              <a:buSzPts val="1630"/>
              <a:buFont typeface="Times New Roman"/>
              <a:buChar char="●"/>
            </a:pPr>
            <a:r>
              <a:rPr lang="en" sz="1629">
                <a:latin typeface="Times New Roman"/>
                <a:ea typeface="Times New Roman"/>
                <a:cs typeface="Times New Roman"/>
                <a:sym typeface="Times New Roman"/>
              </a:rPr>
              <a:t>ExportService</a:t>
            </a:r>
            <a:endParaRPr sz="1629">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629">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 sz="1629">
                <a:latin typeface="Times New Roman"/>
                <a:ea typeface="Times New Roman"/>
                <a:cs typeface="Times New Roman"/>
                <a:sym typeface="Times New Roman"/>
              </a:rPr>
              <a:t>users → reports_analytics</a:t>
            </a:r>
            <a:endParaRPr sz="1629">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 sz="1629">
                <a:latin typeface="Times New Roman"/>
                <a:ea typeface="Times New Roman"/>
                <a:cs typeface="Times New Roman"/>
                <a:sym typeface="Times New Roman"/>
              </a:rPr>
              <a:t>products → reports_analytics</a:t>
            </a:r>
            <a:endParaRPr sz="1629">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 sz="1629">
                <a:latin typeface="Times New Roman"/>
                <a:ea typeface="Times New Roman"/>
                <a:cs typeface="Times New Roman"/>
                <a:sym typeface="Times New Roman"/>
              </a:rPr>
              <a:t>inventory_transactions → used for calculations</a:t>
            </a:r>
            <a:endParaRPr sz="1629">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t/>
            </a:r>
            <a:endParaRPr sz="1629">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629">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ctrTitle"/>
          </p:nvPr>
        </p:nvSpPr>
        <p:spPr>
          <a:xfrm>
            <a:off x="985500" y="1"/>
            <a:ext cx="7173000" cy="575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ct val="34859"/>
              <a:buFont typeface="Arial"/>
              <a:buNone/>
            </a:pPr>
            <a:r>
              <a:rPr lang="en" sz="3155">
                <a:latin typeface="Times New Roman"/>
                <a:ea typeface="Times New Roman"/>
                <a:cs typeface="Times New Roman"/>
                <a:sym typeface="Times New Roman"/>
              </a:rPr>
              <a:t>Module 4 : Reports &amp; Analytics</a:t>
            </a:r>
            <a:endParaRPr sz="3155">
              <a:latin typeface="Times New Roman"/>
              <a:ea typeface="Times New Roman"/>
              <a:cs typeface="Times New Roman"/>
              <a:sym typeface="Times New Roman"/>
            </a:endParaRPr>
          </a:p>
        </p:txBody>
      </p:sp>
      <p:sp>
        <p:nvSpPr>
          <p:cNvPr id="191" name="Google Shape;191;p35"/>
          <p:cNvSpPr txBox="1"/>
          <p:nvPr>
            <p:ph idx="1" type="subTitle"/>
          </p:nvPr>
        </p:nvSpPr>
        <p:spPr>
          <a:xfrm>
            <a:off x="153000" y="418289"/>
            <a:ext cx="8613300" cy="421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User Flow:</a:t>
            </a:r>
            <a:endParaRPr sz="1829">
              <a:latin typeface="Times New Roman"/>
              <a:ea typeface="Times New Roman"/>
              <a:cs typeface="Times New Roman"/>
              <a:sym typeface="Times New Roman"/>
            </a:endParaRPr>
          </a:p>
        </p:txBody>
      </p:sp>
      <p:sp>
        <p:nvSpPr>
          <p:cNvPr id="192" name="Google Shape;192;p35"/>
          <p:cNvSpPr txBox="1"/>
          <p:nvPr/>
        </p:nvSpPr>
        <p:spPr>
          <a:xfrm>
            <a:off x="2811000" y="862144"/>
            <a:ext cx="3806100" cy="398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latin typeface="Times New Roman"/>
                <a:ea typeface="Times New Roman"/>
                <a:cs typeface="Times New Roman"/>
                <a:sym typeface="Times New Roman"/>
              </a:rPr>
              <a:t>User</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 sz="1900">
                <a:latin typeface="Times New Roman"/>
                <a:ea typeface="Times New Roman"/>
                <a:cs typeface="Times New Roman"/>
                <a:sym typeface="Times New Roman"/>
              </a:rPr>
              <a:t>Report Request</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 sz="1900">
                <a:latin typeface="Times New Roman"/>
                <a:ea typeface="Times New Roman"/>
                <a:cs typeface="Times New Roman"/>
                <a:sym typeface="Times New Roman"/>
              </a:rPr>
              <a:t>ReportController</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 sz="1900">
                <a:latin typeface="Times New Roman"/>
                <a:ea typeface="Times New Roman"/>
                <a:cs typeface="Times New Roman"/>
                <a:sym typeface="Times New Roman"/>
              </a:rPr>
              <a:t>ReportService</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 sz="1900">
                <a:latin typeface="Times New Roman"/>
                <a:ea typeface="Times New Roman"/>
                <a:cs typeface="Times New Roman"/>
                <a:sym typeface="Times New Roman"/>
              </a:rPr>
              <a:t>Fetch Data from Database</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 sz="1900">
                <a:latin typeface="Times New Roman"/>
                <a:ea typeface="Times New Roman"/>
                <a:cs typeface="Times New Roman"/>
                <a:sym typeface="Times New Roman"/>
              </a:rPr>
              <a:t>Generate Report / Analytics</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 sz="1900">
                <a:latin typeface="Times New Roman"/>
                <a:ea typeface="Times New Roman"/>
                <a:cs typeface="Times New Roman"/>
                <a:sym typeface="Times New Roman"/>
              </a:rPr>
              <a:t>Display or Export Report</a:t>
            </a:r>
            <a:endParaRPr sz="19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6"/>
          <p:cNvSpPr txBox="1"/>
          <p:nvPr>
            <p:ph type="ctrTitle"/>
          </p:nvPr>
        </p:nvSpPr>
        <p:spPr>
          <a:xfrm>
            <a:off x="985500" y="1"/>
            <a:ext cx="7173000" cy="575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155">
                <a:latin typeface="Times New Roman"/>
                <a:ea typeface="Times New Roman"/>
                <a:cs typeface="Times New Roman"/>
                <a:sym typeface="Times New Roman"/>
              </a:rPr>
              <a:t>Module 4 : Reports &amp; Analytics</a:t>
            </a:r>
            <a:endParaRPr sz="3155">
              <a:latin typeface="Times New Roman"/>
              <a:ea typeface="Times New Roman"/>
              <a:cs typeface="Times New Roman"/>
              <a:sym typeface="Times New Roman"/>
            </a:endParaRPr>
          </a:p>
        </p:txBody>
      </p:sp>
      <p:sp>
        <p:nvSpPr>
          <p:cNvPr id="198" name="Google Shape;198;p36"/>
          <p:cNvSpPr txBox="1"/>
          <p:nvPr>
            <p:ph idx="1" type="subTitle"/>
          </p:nvPr>
        </p:nvSpPr>
        <p:spPr>
          <a:xfrm>
            <a:off x="153000" y="418289"/>
            <a:ext cx="8613300" cy="421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 sz="1829">
                <a:latin typeface="Times New Roman"/>
                <a:ea typeface="Times New Roman"/>
                <a:cs typeface="Times New Roman"/>
                <a:sym typeface="Times New Roman"/>
              </a:rPr>
              <a:t>Database Schema:</a:t>
            </a:r>
            <a:endParaRPr sz="1829">
              <a:latin typeface="Times New Roman"/>
              <a:ea typeface="Times New Roman"/>
              <a:cs typeface="Times New Roman"/>
              <a:sym typeface="Times New Roman"/>
            </a:endParaRPr>
          </a:p>
        </p:txBody>
      </p:sp>
      <p:graphicFrame>
        <p:nvGraphicFramePr>
          <p:cNvPr id="199" name="Google Shape;199;p36"/>
          <p:cNvGraphicFramePr/>
          <p:nvPr/>
        </p:nvGraphicFramePr>
        <p:xfrm>
          <a:off x="538550" y="1028541"/>
          <a:ext cx="3000000" cy="3000000"/>
        </p:xfrm>
        <a:graphic>
          <a:graphicData uri="http://schemas.openxmlformats.org/drawingml/2006/table">
            <a:tbl>
              <a:tblPr>
                <a:noFill/>
                <a:tableStyleId>{0428CCD0-C68F-449A-BD32-083CE833CB9D}</a:tableStyleId>
              </a:tblPr>
              <a:tblGrid>
                <a:gridCol w="2015625"/>
                <a:gridCol w="2657350"/>
                <a:gridCol w="3358050"/>
              </a:tblGrid>
              <a:tr h="340800">
                <a:tc>
                  <a:txBody>
                    <a:bodyPr/>
                    <a:lstStyle/>
                    <a:p>
                      <a:pPr indent="0" lvl="0" marL="0" rtl="0" algn="ctr">
                        <a:lnSpc>
                          <a:spcPct val="115000"/>
                        </a:lnSpc>
                        <a:spcBef>
                          <a:spcPts val="0"/>
                        </a:spcBef>
                        <a:spcAft>
                          <a:spcPts val="0"/>
                        </a:spcAft>
                        <a:buNone/>
                      </a:pPr>
                      <a:r>
                        <a:rPr b="1" lang="en" sz="1700">
                          <a:latin typeface="Times New Roman"/>
                          <a:ea typeface="Times New Roman"/>
                          <a:cs typeface="Times New Roman"/>
                          <a:sym typeface="Times New Roman"/>
                        </a:rPr>
                        <a:t>Field</a:t>
                      </a:r>
                      <a:endParaRPr b="1" sz="17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700">
                          <a:latin typeface="Times New Roman"/>
                          <a:ea typeface="Times New Roman"/>
                          <a:cs typeface="Times New Roman"/>
                          <a:sym typeface="Times New Roman"/>
                        </a:rPr>
                        <a:t>Type</a:t>
                      </a:r>
                      <a:endParaRPr b="1" sz="17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700">
                          <a:latin typeface="Times New Roman"/>
                          <a:ea typeface="Times New Roman"/>
                          <a:cs typeface="Times New Roman"/>
                          <a:sym typeface="Times New Roman"/>
                        </a:rPr>
                        <a:t>Description</a:t>
                      </a:r>
                      <a:endParaRPr b="1" sz="17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report_id</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Primary Key(BIGINT)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Unique report identifier</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product_id</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Foreign Key(BIGINT)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Related product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generated_by</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1500">
                          <a:latin typeface="Times New Roman"/>
                          <a:ea typeface="Times New Roman"/>
                          <a:cs typeface="Times New Roman"/>
                          <a:sym typeface="Times New Roman"/>
                        </a:rPr>
                        <a:t>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User generating report</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total_stock_in</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INT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Total incoming stock</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total_stock_out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Total outgoing stock</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current_stock</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VARCHAR</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Current product stock</a:t>
                      </a:r>
                      <a:endParaRPr sz="1500">
                        <a:latin typeface="Times New Roman"/>
                        <a:ea typeface="Times New Roman"/>
                        <a:cs typeface="Times New Roman"/>
                        <a:sym typeface="Times New Roman"/>
                      </a:endParaRPr>
                    </a:p>
                  </a:txBody>
                  <a:tcPr marT="91425" marB="91425" marR="91425" marL="91425"/>
                </a:tc>
              </a:tr>
              <a:tr h="318825">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created_at</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TIMESTAMP</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500">
                          <a:latin typeface="Times New Roman"/>
                          <a:ea typeface="Times New Roman"/>
                          <a:cs typeface="Times New Roman"/>
                          <a:sym typeface="Times New Roman"/>
                        </a:rPr>
                        <a:t>Repor</a:t>
                      </a:r>
                      <a:r>
                        <a:rPr lang="en" sz="1500">
                          <a:latin typeface="Times New Roman"/>
                          <a:ea typeface="Times New Roman"/>
                          <a:cs typeface="Times New Roman"/>
                          <a:sym typeface="Times New Roman"/>
                        </a:rPr>
                        <a:t>t creation time</a:t>
                      </a:r>
                      <a:endParaRPr sz="15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7"/>
          <p:cNvSpPr txBox="1"/>
          <p:nvPr>
            <p:ph idx="1" type="subTitle"/>
          </p:nvPr>
        </p:nvSpPr>
        <p:spPr>
          <a:xfrm>
            <a:off x="300625" y="1108744"/>
            <a:ext cx="8957400" cy="4689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rgbClr val="000000"/>
              </a:buClr>
              <a:buSzPts val="1100"/>
              <a:buFont typeface="Arial"/>
              <a:buNone/>
            </a:pPr>
            <a:r>
              <a:rPr b="1" lang="en" sz="1500">
                <a:solidFill>
                  <a:schemeClr val="dk1"/>
                </a:solidFill>
              </a:rPr>
              <a:t>ReportController</a:t>
            </a:r>
            <a:endParaRPr sz="1100">
              <a:solidFill>
                <a:srgbClr val="188038"/>
              </a:solidFill>
              <a:latin typeface="Roboto Mono"/>
              <a:ea typeface="Roboto Mono"/>
              <a:cs typeface="Roboto Mono"/>
              <a:sym typeface="Roboto Mono"/>
            </a:endParaRPr>
          </a:p>
          <a:p>
            <a:pPr indent="0" lvl="0" marL="1828800" rtl="0" algn="just">
              <a:lnSpc>
                <a:spcPct val="115000"/>
              </a:lnSpc>
              <a:spcBef>
                <a:spcPts val="40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FUNCTION generateReport(filters)</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RETURN ReportService.generate(filters)</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FUNCTION exportReport(format)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ExportService.export(format)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rPr>
              <a:t>ReportService</a:t>
            </a:r>
            <a:endParaRPr sz="1100">
              <a:solidFill>
                <a:srgbClr val="188038"/>
              </a:solidFill>
              <a:latin typeface="Roboto Mono"/>
              <a:ea typeface="Roboto Mono"/>
              <a:cs typeface="Roboto Mono"/>
              <a:sym typeface="Roboto Mono"/>
            </a:endParaRPr>
          </a:p>
          <a:p>
            <a:pPr indent="0" lvl="0" marL="1828800" rtl="0" algn="just">
              <a:lnSpc>
                <a:spcPct val="115000"/>
              </a:lnSpc>
              <a:spcBef>
                <a:spcPts val="40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FUNCTION generate(filters)</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fetch product data</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fetch transaction data</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apply filters</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analyze data</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    RETURN report</a:t>
            </a:r>
            <a:endParaRPr sz="1100">
              <a:solidFill>
                <a:srgbClr val="188038"/>
              </a:solidFill>
              <a:latin typeface="Roboto Mono"/>
              <a:ea typeface="Roboto Mono"/>
              <a:cs typeface="Roboto Mono"/>
              <a:sym typeface="Roboto Mono"/>
            </a:endParaRPr>
          </a:p>
          <a:p>
            <a:pPr indent="0" lvl="0" marL="1828800" rtl="0" algn="just">
              <a:lnSpc>
                <a:spcPct val="115000"/>
              </a:lnSpc>
              <a:spcBef>
                <a:spcPts val="0"/>
              </a:spcBef>
              <a:spcAft>
                <a:spcPts val="0"/>
              </a:spcAft>
              <a:buClr>
                <a:schemeClr val="dk1"/>
              </a:buClr>
              <a:buSzPts val="1100"/>
              <a:buFont typeface="Arial"/>
              <a:buNone/>
            </a:pPr>
            <a:r>
              <a:rPr lang="en" sz="1100">
                <a:solidFill>
                  <a:srgbClr val="188038"/>
                </a:solidFill>
                <a:latin typeface="Roboto Mono"/>
                <a:ea typeface="Roboto Mono"/>
                <a:cs typeface="Roboto Mono"/>
                <a:sym typeface="Roboto Mono"/>
              </a:rPr>
              <a:t>END FUNCTION</a:t>
            </a:r>
            <a:endParaRPr sz="1100">
              <a:solidFill>
                <a:srgbClr val="188038"/>
              </a:solidFill>
              <a:latin typeface="Roboto Mono"/>
              <a:ea typeface="Roboto Mono"/>
              <a:cs typeface="Roboto Mono"/>
              <a:sym typeface="Roboto Mono"/>
            </a:endParaRPr>
          </a:p>
        </p:txBody>
      </p:sp>
      <p:sp>
        <p:nvSpPr>
          <p:cNvPr id="205" name="Google Shape;205;p37"/>
          <p:cNvSpPr txBox="1"/>
          <p:nvPr>
            <p:ph type="ctrTitle"/>
          </p:nvPr>
        </p:nvSpPr>
        <p:spPr>
          <a:xfrm>
            <a:off x="446475" y="-899512"/>
            <a:ext cx="7940700" cy="166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155">
                <a:latin typeface="Times New Roman"/>
                <a:ea typeface="Times New Roman"/>
                <a:cs typeface="Times New Roman"/>
                <a:sym typeface="Times New Roman"/>
              </a:rPr>
              <a:t>Pseudocode (</a:t>
            </a:r>
            <a:r>
              <a:rPr lang="en" sz="3155">
                <a:latin typeface="Times New Roman"/>
                <a:ea typeface="Times New Roman"/>
                <a:cs typeface="Times New Roman"/>
                <a:sym typeface="Times New Roman"/>
              </a:rPr>
              <a:t>Report &amp; Analytics</a:t>
            </a:r>
            <a:r>
              <a:rPr lang="en" sz="3155">
                <a:latin typeface="Times New Roman"/>
                <a:ea typeface="Times New Roman"/>
                <a:cs typeface="Times New Roman"/>
                <a:sym typeface="Times New Roman"/>
              </a:rPr>
              <a:t>)</a:t>
            </a:r>
            <a:endParaRPr sz="3155">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8"/>
          <p:cNvSpPr txBox="1"/>
          <p:nvPr>
            <p:ph type="ctrTitle"/>
          </p:nvPr>
        </p:nvSpPr>
        <p:spPr>
          <a:xfrm>
            <a:off x="601650" y="1876350"/>
            <a:ext cx="7940700" cy="13908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SzPts val="990"/>
              <a:buNone/>
            </a:pPr>
            <a:r>
              <a:rPr lang="en" sz="4540">
                <a:latin typeface="Times New Roman"/>
                <a:ea typeface="Times New Roman"/>
                <a:cs typeface="Times New Roman"/>
                <a:sym typeface="Times New Roman"/>
              </a:rPr>
              <a:t>Thank You</a:t>
            </a:r>
            <a:endParaRPr sz="4540">
              <a:latin typeface="Times New Roman"/>
              <a:ea typeface="Times New Roman"/>
              <a:cs typeface="Times New Roman"/>
              <a:sym typeface="Times New Roman"/>
            </a:endParaRPr>
          </a:p>
          <a:p>
            <a:pPr indent="0" lvl="0" marL="0" rtl="0" algn="ctr">
              <a:lnSpc>
                <a:spcPct val="150000"/>
              </a:lnSpc>
              <a:spcBef>
                <a:spcPts val="0"/>
              </a:spcBef>
              <a:spcAft>
                <a:spcPts val="0"/>
              </a:spcAft>
              <a:buSzPts val="990"/>
              <a:buNone/>
            </a:pPr>
            <a:r>
              <a:rPr lang="en" sz="2140">
                <a:latin typeface="Times New Roman"/>
                <a:ea typeface="Times New Roman"/>
                <a:cs typeface="Times New Roman"/>
                <a:sym typeface="Times New Roman"/>
              </a:rPr>
              <a:t>Any Question or Feedback for me?</a:t>
            </a:r>
            <a:endParaRPr sz="214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