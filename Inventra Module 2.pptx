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Roboto Mon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B65A080-446E-4D9F-A104-CCB1C962C2A3}">
  <a:tblStyle styleId="{7B65A080-446E-4D9F-A104-CCB1C962C2A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Mono-bold.fntdata"/><Relationship Id="rId25" Type="http://schemas.openxmlformats.org/officeDocument/2006/relationships/font" Target="fonts/RobotoMono-regular.fntdata"/><Relationship Id="rId28" Type="http://schemas.openxmlformats.org/officeDocument/2006/relationships/font" Target="fonts/RobotoMono-boldItalic.fntdata"/><Relationship Id="rId27" Type="http://schemas.openxmlformats.org/officeDocument/2006/relationships/font" Target="fonts/RobotoMon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d0b8655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d0b8655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d0b865585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d0b865585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d0b865585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d0b865585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d0b865585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d0b865585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d0b865585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d0b865585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d0b865585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d0b865585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af61eaa7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af61eaa7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3540edd5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b3540edd5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3540edd5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3540edd5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3540edd5a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b3540edd5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3540edd5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b3540edd5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3540edd5a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b3540edd5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af61eaa7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af61eaa7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3540edd5a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b3540edd5a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3540edd5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b3540edd5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3540edd5a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b3540edd5a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af61eaa7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af61eaa7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073550" y="207447"/>
            <a:ext cx="7301700" cy="140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Times New Roman"/>
                <a:ea typeface="Times New Roman"/>
                <a:cs typeface="Times New Roman"/>
                <a:sym typeface="Times New Roman"/>
              </a:rPr>
              <a:t>Inventra</a:t>
            </a: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55">
                <a:latin typeface="Times New Roman"/>
                <a:ea typeface="Times New Roman"/>
                <a:cs typeface="Times New Roman"/>
                <a:sym typeface="Times New Roman"/>
              </a:rPr>
              <a:t>Intelligent Inventory Management System</a:t>
            </a:r>
            <a:endParaRPr sz="3155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135400" y="1672171"/>
            <a:ext cx="8852100" cy="20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4805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●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Inventra is a smart inventory management system designed to manage products, users, and stock efficiently.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●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It automates inventory tracking, reduces human error, and improves operational efficiency.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●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The system is modular and scalable, making it suitable for retail, warehouse, and enterprise use.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1085275" y="-880633"/>
            <a:ext cx="7301700" cy="166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55">
                <a:latin typeface="Times New Roman"/>
                <a:ea typeface="Times New Roman"/>
                <a:cs typeface="Times New Roman"/>
                <a:sym typeface="Times New Roman"/>
              </a:rPr>
              <a:t>Meaning of “Inventra”</a:t>
            </a:r>
            <a:endParaRPr sz="3155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548650" y="1045364"/>
            <a:ext cx="9144000" cy="37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4805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●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Inventra = Inventory + Intelligence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●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Represents a modern inventory ecosystem enhanced with: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1" marL="9144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○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Automation.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1" marL="9144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○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Forecasting with proper dashboard.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1" marL="9144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○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Smart decision assistance.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1" marL="9144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○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Focuses on reducing human effort and improving stock accuracy.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1085275" y="-850111"/>
            <a:ext cx="7301700" cy="166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55">
                <a:latin typeface="Times New Roman"/>
                <a:ea typeface="Times New Roman"/>
                <a:cs typeface="Times New Roman"/>
                <a:sym typeface="Times New Roman"/>
              </a:rPr>
              <a:t>Proposed System</a:t>
            </a:r>
            <a:endParaRPr sz="3155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647125" y="976325"/>
            <a:ext cx="8146500" cy="40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4805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●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Inventra – Smart Inventory Management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●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System Overview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○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Centralized inventory management system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○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Secure user authentication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○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Role-based access control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○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Real-time stock updates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○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Modular architecture for easy expansion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ctrTitle"/>
          </p:nvPr>
        </p:nvSpPr>
        <p:spPr>
          <a:xfrm>
            <a:off x="1085275" y="-939918"/>
            <a:ext cx="7301700" cy="166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55">
                <a:latin typeface="Times New Roman"/>
                <a:ea typeface="Times New Roman"/>
                <a:cs typeface="Times New Roman"/>
                <a:sym typeface="Times New Roman"/>
              </a:rPr>
              <a:t>Proposed System</a:t>
            </a:r>
            <a:endParaRPr sz="3155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16"/>
          <p:cNvSpPr txBox="1"/>
          <p:nvPr>
            <p:ph idx="1" type="subTitle"/>
          </p:nvPr>
        </p:nvSpPr>
        <p:spPr>
          <a:xfrm>
            <a:off x="248250" y="647007"/>
            <a:ext cx="8718900" cy="36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Modules of Invetra: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AutoNum type="arabicPeriod"/>
            </a:pPr>
            <a:r>
              <a:rPr b="1" lang="en" sz="1829">
                <a:latin typeface="Times New Roman"/>
                <a:ea typeface="Times New Roman"/>
                <a:cs typeface="Times New Roman"/>
                <a:sym typeface="Times New Roman"/>
              </a:rPr>
              <a:t>Authentication : </a:t>
            </a: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Login, token generation, role validation.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AutoNum type="arabicPeriod"/>
            </a:pPr>
            <a:r>
              <a:rPr b="1" lang="en" sz="1829">
                <a:latin typeface="Times New Roman"/>
                <a:ea typeface="Times New Roman"/>
                <a:cs typeface="Times New Roman"/>
                <a:sym typeface="Times New Roman"/>
              </a:rPr>
              <a:t>Product / Inventory Management : </a:t>
            </a: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Add, update, remove items, track stock levels. </a:t>
            </a: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Store supplier details, purchase history. 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AutoNum type="arabicPeriod"/>
            </a:pPr>
            <a:r>
              <a:rPr b="1" lang="en" sz="1829">
                <a:latin typeface="Times New Roman"/>
                <a:ea typeface="Times New Roman"/>
                <a:cs typeface="Times New Roman"/>
                <a:sym typeface="Times New Roman"/>
              </a:rPr>
              <a:t>Inventory Alerts : </a:t>
            </a: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Automated alerts for Low stock, Expiry near, Fast and slow moving items. 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AutoNum type="arabicPeriod"/>
            </a:pPr>
            <a:r>
              <a:rPr b="1" lang="en" sz="1829">
                <a:latin typeface="Times New Roman"/>
                <a:ea typeface="Times New Roman"/>
                <a:cs typeface="Times New Roman"/>
                <a:sym typeface="Times New Roman"/>
              </a:rPr>
              <a:t>Reports and Analytics :</a:t>
            </a: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 Provides charts, insights, predictions. </a:t>
            </a: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Records outgoing &amp; incoming stock.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Modules Covered in This Presentation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●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Module 1 – Authentication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●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 Module 2 – Product / Inventory Management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ctrTitle"/>
          </p:nvPr>
        </p:nvSpPr>
        <p:spPr>
          <a:xfrm>
            <a:off x="1085275" y="-735811"/>
            <a:ext cx="7301700" cy="166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55">
                <a:latin typeface="Times New Roman"/>
                <a:ea typeface="Times New Roman"/>
                <a:cs typeface="Times New Roman"/>
                <a:sym typeface="Times New Roman"/>
              </a:rPr>
              <a:t>System Configuration</a:t>
            </a:r>
            <a:endParaRPr sz="3155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" name="Google Shape;79;p17"/>
          <p:cNvSpPr txBox="1"/>
          <p:nvPr>
            <p:ph idx="1" type="subTitle"/>
          </p:nvPr>
        </p:nvSpPr>
        <p:spPr>
          <a:xfrm>
            <a:off x="610614" y="915265"/>
            <a:ext cx="8647500" cy="36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29">
                <a:latin typeface="Times New Roman"/>
                <a:ea typeface="Times New Roman"/>
                <a:cs typeface="Times New Roman"/>
                <a:sym typeface="Times New Roman"/>
              </a:rPr>
              <a:t>Software Requirements: </a:t>
            </a:r>
            <a:endParaRPr b="1"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0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●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Frontend : React.js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0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●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Backend : Java Springboot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0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●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Database : MySQL / MongoDB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0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●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Security :  JWT Authentication / Role-based Access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29">
                <a:latin typeface="Times New Roman"/>
                <a:ea typeface="Times New Roman"/>
                <a:cs typeface="Times New Roman"/>
                <a:sym typeface="Times New Roman"/>
              </a:rPr>
              <a:t>Hardware Requirements: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0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●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Minimum 8GB RAM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0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●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Multi-core processor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0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●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Stable server for hosting backend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ctrTitle"/>
          </p:nvPr>
        </p:nvSpPr>
        <p:spPr>
          <a:xfrm>
            <a:off x="1085275" y="-735811"/>
            <a:ext cx="7301700" cy="166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55">
                <a:latin typeface="Times New Roman"/>
                <a:ea typeface="Times New Roman"/>
                <a:cs typeface="Times New Roman"/>
                <a:sym typeface="Times New Roman"/>
              </a:rPr>
              <a:t>Module 1: Authentication Module</a:t>
            </a:r>
            <a:endParaRPr sz="3155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8"/>
          <p:cNvSpPr txBox="1"/>
          <p:nvPr>
            <p:ph idx="1" type="subTitle"/>
          </p:nvPr>
        </p:nvSpPr>
        <p:spPr>
          <a:xfrm>
            <a:off x="248250" y="924970"/>
            <a:ext cx="8613300" cy="29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This module ensures that only authorized users can access the system. It manages login, logout, user roles, and security tokens.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29">
                <a:latin typeface="Times New Roman"/>
                <a:ea typeface="Times New Roman"/>
                <a:cs typeface="Times New Roman"/>
                <a:sym typeface="Times New Roman"/>
              </a:rPr>
              <a:t>Classes:</a:t>
            </a:r>
            <a:endParaRPr b="1"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●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AuthController 	:- Receives requests from UI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:- Forwards requests to AuthService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●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AuthService		:- Contains authentication business logic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:- Handles signup, login, password reset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●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User       			:- Stores user credentials and roles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●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UserRepository	:- Interacts with database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●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JWTUtility 		:- Generates and validates tokens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●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EmailService		:- Sends password reset emails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ctrTitle"/>
          </p:nvPr>
        </p:nvSpPr>
        <p:spPr>
          <a:xfrm>
            <a:off x="1085275" y="111119"/>
            <a:ext cx="7301700" cy="67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55">
                <a:latin typeface="Times New Roman"/>
                <a:ea typeface="Times New Roman"/>
                <a:cs typeface="Times New Roman"/>
                <a:sym typeface="Times New Roman"/>
              </a:rPr>
              <a:t>Module 1: Authentication Module</a:t>
            </a:r>
            <a:endParaRPr sz="3155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9"/>
          <p:cNvSpPr txBox="1"/>
          <p:nvPr>
            <p:ph idx="1" type="subTitle"/>
          </p:nvPr>
        </p:nvSpPr>
        <p:spPr>
          <a:xfrm>
            <a:off x="153000" y="822775"/>
            <a:ext cx="8613300" cy="4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29">
                <a:latin typeface="Times New Roman"/>
                <a:ea typeface="Times New Roman"/>
                <a:cs typeface="Times New Roman"/>
                <a:sym typeface="Times New Roman"/>
              </a:rPr>
              <a:t>Database Schema</a:t>
            </a:r>
            <a:r>
              <a:rPr b="1" lang="en" sz="1829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2" name="Google Shape;92;p19"/>
          <p:cNvGraphicFramePr/>
          <p:nvPr/>
        </p:nvGraphicFramePr>
        <p:xfrm>
          <a:off x="538550" y="136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{7B65A080-446E-4D9F-A104-CCB1C962C2A3}</a:tableStyleId>
              </a:tblPr>
              <a:tblGrid>
                <a:gridCol w="2032000"/>
                <a:gridCol w="2143125"/>
                <a:gridCol w="3921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Field</a:t>
                      </a:r>
                      <a:endParaRPr b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Type</a:t>
                      </a:r>
                      <a:endParaRPr b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b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userid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Primary Key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Unique user ID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username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Varchar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Unique user name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email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Varchar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Email address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password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Varchar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Encrypted password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role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Varchar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Admin / Manager / Staff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is_active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Boolean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Account status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ctrTitle"/>
          </p:nvPr>
        </p:nvSpPr>
        <p:spPr>
          <a:xfrm>
            <a:off x="1085275" y="-1018584"/>
            <a:ext cx="7301700" cy="166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55">
                <a:latin typeface="Times New Roman"/>
                <a:ea typeface="Times New Roman"/>
                <a:cs typeface="Times New Roman"/>
                <a:sym typeface="Times New Roman"/>
              </a:rPr>
              <a:t>Authentication Flow Diagram</a:t>
            </a:r>
            <a:endParaRPr sz="3155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20"/>
          <p:cNvSpPr txBox="1"/>
          <p:nvPr>
            <p:ph idx="1" type="subTitle"/>
          </p:nvPr>
        </p:nvSpPr>
        <p:spPr>
          <a:xfrm>
            <a:off x="1838600" y="874134"/>
            <a:ext cx="8957400" cy="46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User</a:t>
            </a:r>
            <a:endParaRPr b="1" sz="1500">
              <a:solidFill>
                <a:schemeClr val="dk1"/>
              </a:solidFill>
            </a:endParaRPr>
          </a:p>
          <a:p>
            <a:pPr indent="45720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  ↓</a:t>
            </a:r>
            <a:endParaRPr b="1" sz="1500">
              <a:solidFill>
                <a:schemeClr val="dk1"/>
              </a:solidFill>
            </a:endParaRPr>
          </a:p>
          <a:p>
            <a:pPr indent="45720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Login Credentials</a:t>
            </a:r>
            <a:endParaRPr b="1" sz="1500">
              <a:solidFill>
                <a:schemeClr val="dk1"/>
              </a:solidFill>
            </a:endParaRPr>
          </a:p>
          <a:p>
            <a:pPr indent="45720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  ↓</a:t>
            </a:r>
            <a:endParaRPr b="1" sz="1500">
              <a:solidFill>
                <a:schemeClr val="dk1"/>
              </a:solidFill>
            </a:endParaRPr>
          </a:p>
          <a:p>
            <a:pPr indent="45720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Authentication Module</a:t>
            </a:r>
            <a:endParaRPr b="1" sz="1500">
              <a:solidFill>
                <a:schemeClr val="dk1"/>
              </a:solidFill>
            </a:endParaRPr>
          </a:p>
          <a:p>
            <a:pPr indent="45720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  ↓</a:t>
            </a:r>
            <a:endParaRPr b="1" sz="1500">
              <a:solidFill>
                <a:schemeClr val="dk1"/>
              </a:solidFill>
            </a:endParaRPr>
          </a:p>
          <a:p>
            <a:pPr indent="45720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User Verification</a:t>
            </a:r>
            <a:endParaRPr b="1" sz="1500">
              <a:solidFill>
                <a:schemeClr val="dk1"/>
              </a:solidFill>
            </a:endParaRPr>
          </a:p>
          <a:p>
            <a:pPr indent="45720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  ↓</a:t>
            </a:r>
            <a:endParaRPr b="1" sz="1500">
              <a:solidFill>
                <a:schemeClr val="dk1"/>
              </a:solidFill>
            </a:endParaRPr>
          </a:p>
          <a:p>
            <a:pPr indent="45720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Token Generation</a:t>
            </a:r>
            <a:endParaRPr b="1" sz="1500">
              <a:solidFill>
                <a:schemeClr val="dk1"/>
              </a:solidFill>
            </a:endParaRPr>
          </a:p>
          <a:p>
            <a:pPr indent="45720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  ↓</a:t>
            </a:r>
            <a:endParaRPr b="1" sz="1500">
              <a:solidFill>
                <a:schemeClr val="dk1"/>
              </a:solidFill>
            </a:endParaRPr>
          </a:p>
          <a:p>
            <a:pPr indent="45720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Access Granted</a:t>
            </a:r>
            <a:endParaRPr b="1" sz="1500">
              <a:solidFill>
                <a:schemeClr val="dk1"/>
              </a:solidFill>
            </a:endParaRPr>
          </a:p>
          <a:p>
            <a:pPr indent="45720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45720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ctrTitle"/>
          </p:nvPr>
        </p:nvSpPr>
        <p:spPr>
          <a:xfrm>
            <a:off x="1085275" y="-1018584"/>
            <a:ext cx="7301700" cy="166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55">
                <a:latin typeface="Times New Roman"/>
                <a:ea typeface="Times New Roman"/>
                <a:cs typeface="Times New Roman"/>
                <a:sym typeface="Times New Roman"/>
              </a:rPr>
              <a:t>Pseudocode (Sign up)</a:t>
            </a:r>
            <a:endParaRPr sz="3155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21"/>
          <p:cNvSpPr txBox="1"/>
          <p:nvPr>
            <p:ph idx="1" type="subTitle"/>
          </p:nvPr>
        </p:nvSpPr>
        <p:spPr>
          <a:xfrm>
            <a:off x="300625" y="439017"/>
            <a:ext cx="8957400" cy="46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AuthController – Signup</a:t>
            </a:r>
            <a:endParaRPr b="1" sz="1500">
              <a:solidFill>
                <a:schemeClr val="dk1"/>
              </a:solidFill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FUNCTION signup(request)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userDetails = request data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result = AuthService.registerUser(userDetails)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RETURN result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END FUNCTION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AuthService – Signup</a:t>
            </a:r>
            <a:r>
              <a:rPr b="1" lang="en" sz="1300">
                <a:solidFill>
                  <a:schemeClr val="dk1"/>
                </a:solidFill>
              </a:rPr>
              <a:t> </a:t>
            </a:r>
            <a:endParaRPr b="1" sz="1300">
              <a:solidFill>
                <a:schemeClr val="dk1"/>
              </a:solidFill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FUNCTION registerUser(userDetails)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IF username exists THEN   RETURN "User already exists"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END IF     encryptedPassword = encrypt(password)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create new User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save user in database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RETURN "Signup successful"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END FUNCTION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ctrTitle"/>
          </p:nvPr>
        </p:nvSpPr>
        <p:spPr>
          <a:xfrm>
            <a:off x="1085275" y="-1018584"/>
            <a:ext cx="7301700" cy="166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55">
                <a:latin typeface="Times New Roman"/>
                <a:ea typeface="Times New Roman"/>
                <a:cs typeface="Times New Roman"/>
                <a:sym typeface="Times New Roman"/>
              </a:rPr>
              <a:t>Pseudocode (Login)</a:t>
            </a:r>
            <a:endParaRPr sz="3155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22"/>
          <p:cNvSpPr txBox="1"/>
          <p:nvPr>
            <p:ph idx="1" type="subTitle"/>
          </p:nvPr>
        </p:nvSpPr>
        <p:spPr>
          <a:xfrm>
            <a:off x="300625" y="439017"/>
            <a:ext cx="8957400" cy="46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AuthController – Login</a:t>
            </a:r>
            <a:endParaRPr b="1" sz="1500">
              <a:solidFill>
                <a:schemeClr val="dk1"/>
              </a:solidFill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FUNCTION signin(request)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username = request.username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password = request.password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token = AuthService.authenticate(username, password)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RETURN token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END FUNCTION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AuthService – Login Logic</a:t>
            </a:r>
            <a:endParaRPr b="1" sz="1500">
              <a:solidFill>
                <a:schemeClr val="dk1"/>
              </a:solidFill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FUNCTION authenticate(username, password)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user = find user by username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IF user not found THEN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RETURN "Invalid username"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END IF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IF password matches THEN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token = generate JWT token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RETURN token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ELSE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RETURN "Invalid password"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END IF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END FUNCTION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ctrTitle"/>
          </p:nvPr>
        </p:nvSpPr>
        <p:spPr>
          <a:xfrm>
            <a:off x="1085275" y="-1018584"/>
            <a:ext cx="7301700" cy="166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55">
                <a:latin typeface="Times New Roman"/>
                <a:ea typeface="Times New Roman"/>
                <a:cs typeface="Times New Roman"/>
                <a:sym typeface="Times New Roman"/>
              </a:rPr>
              <a:t>Pseudocode (Forget password)</a:t>
            </a:r>
            <a:endParaRPr sz="3155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23"/>
          <p:cNvSpPr txBox="1"/>
          <p:nvPr>
            <p:ph idx="1" type="subTitle"/>
          </p:nvPr>
        </p:nvSpPr>
        <p:spPr>
          <a:xfrm>
            <a:off x="300625" y="904684"/>
            <a:ext cx="8957400" cy="46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AuthService – Forgot Password</a:t>
            </a:r>
            <a:endParaRPr b="1" sz="1500">
              <a:solidFill>
                <a:schemeClr val="dk1"/>
              </a:solidFill>
            </a:endParaRPr>
          </a:p>
          <a:p>
            <a:pPr indent="0" lvl="0" marL="1828800" rtl="0" algn="just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FUNCTION processForgotPassword(email)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user = find user by email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IF user not found THEN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RETURN "Email not registered"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END IF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resetToken = generate token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send reset link via EmailService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RETURN "Reset link sent"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END FUNCTION</a:t>
            </a:r>
            <a:endParaRPr b="1"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ctrTitle"/>
          </p:nvPr>
        </p:nvSpPr>
        <p:spPr>
          <a:xfrm>
            <a:off x="922725" y="-944159"/>
            <a:ext cx="7464300" cy="166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55">
                <a:latin typeface="Times New Roman"/>
                <a:ea typeface="Times New Roman"/>
                <a:cs typeface="Times New Roman"/>
                <a:sym typeface="Times New Roman"/>
              </a:rPr>
              <a:t>Module 2 : Product / Inventory Management</a:t>
            </a:r>
            <a:endParaRPr sz="3155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24"/>
          <p:cNvSpPr txBox="1"/>
          <p:nvPr>
            <p:ph idx="1" type="subTitle"/>
          </p:nvPr>
        </p:nvSpPr>
        <p:spPr>
          <a:xfrm>
            <a:off x="248250" y="597551"/>
            <a:ext cx="8613300" cy="45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29">
                <a:latin typeface="Times New Roman"/>
                <a:ea typeface="Times New Roman"/>
                <a:cs typeface="Times New Roman"/>
                <a:sym typeface="Times New Roman"/>
              </a:rPr>
              <a:t>Purpose:</a:t>
            </a:r>
            <a:endParaRPr b="1"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●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Manage products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●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Track stock levels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●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Prevent duplicate products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●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Handle stock-in and stock-out operations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29">
                <a:latin typeface="Times New Roman"/>
                <a:ea typeface="Times New Roman"/>
                <a:cs typeface="Times New Roman"/>
                <a:sym typeface="Times New Roman"/>
              </a:rPr>
              <a:t>Classes:</a:t>
            </a:r>
            <a:endParaRPr b="1"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●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Product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●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ProductController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●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ProductService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●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ProductRepository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●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TransactionService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●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AlertService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>
            <p:ph type="ctrTitle"/>
          </p:nvPr>
        </p:nvSpPr>
        <p:spPr>
          <a:xfrm>
            <a:off x="895950" y="-97642"/>
            <a:ext cx="7491000" cy="67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55">
                <a:latin typeface="Times New Roman"/>
                <a:ea typeface="Times New Roman"/>
                <a:cs typeface="Times New Roman"/>
                <a:sym typeface="Times New Roman"/>
              </a:rPr>
              <a:t>Module 2: </a:t>
            </a:r>
            <a:r>
              <a:rPr lang="en" sz="3155">
                <a:latin typeface="Times New Roman"/>
                <a:ea typeface="Times New Roman"/>
                <a:cs typeface="Times New Roman"/>
                <a:sym typeface="Times New Roman"/>
              </a:rPr>
              <a:t>Product / Inventory Management</a:t>
            </a:r>
            <a:endParaRPr sz="3155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25"/>
          <p:cNvSpPr txBox="1"/>
          <p:nvPr>
            <p:ph idx="1" type="subTitle"/>
          </p:nvPr>
        </p:nvSpPr>
        <p:spPr>
          <a:xfrm>
            <a:off x="153000" y="418289"/>
            <a:ext cx="8613300" cy="4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29">
                <a:latin typeface="Times New Roman"/>
                <a:ea typeface="Times New Roman"/>
                <a:cs typeface="Times New Roman"/>
                <a:sym typeface="Times New Roman"/>
              </a:rPr>
              <a:t>Database Schema: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29" name="Google Shape;129;p25"/>
          <p:cNvGraphicFramePr/>
          <p:nvPr/>
        </p:nvGraphicFramePr>
        <p:xfrm>
          <a:off x="538550" y="8433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{7B65A080-446E-4D9F-A104-CCB1C962C2A3}</a:tableStyleId>
              </a:tblPr>
              <a:tblGrid>
                <a:gridCol w="2015625"/>
                <a:gridCol w="2657350"/>
                <a:gridCol w="3358050"/>
              </a:tblGrid>
              <a:tr h="340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Field</a:t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Type</a:t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18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product_id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Primary Key(BIGINT)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Unique product id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18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sku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VARCHAR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Stock keeping unit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18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product_name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VARCHAR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Product name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18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category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VARCHAR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Type of Product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18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supplier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VARCHAR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Supplier Detail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18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</a:t>
                      </a: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nit_price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DECIMAL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Price of Product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18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stock_quantity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Current / Real time quantity of product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18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created_at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TIMESTAMP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Timestamp of product creation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type="ctrTitle"/>
          </p:nvPr>
        </p:nvSpPr>
        <p:spPr>
          <a:xfrm>
            <a:off x="1085275" y="-1018584"/>
            <a:ext cx="7301700" cy="166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55">
                <a:latin typeface="Times New Roman"/>
                <a:ea typeface="Times New Roman"/>
                <a:cs typeface="Times New Roman"/>
                <a:sym typeface="Times New Roman"/>
              </a:rPr>
              <a:t>Inventory</a:t>
            </a:r>
            <a:r>
              <a:rPr lang="en" sz="3155">
                <a:latin typeface="Times New Roman"/>
                <a:ea typeface="Times New Roman"/>
                <a:cs typeface="Times New Roman"/>
                <a:sym typeface="Times New Roman"/>
              </a:rPr>
              <a:t> Flow Diagram</a:t>
            </a:r>
            <a:endParaRPr sz="3155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26"/>
          <p:cNvSpPr txBox="1"/>
          <p:nvPr>
            <p:ph idx="1" type="subTitle"/>
          </p:nvPr>
        </p:nvSpPr>
        <p:spPr>
          <a:xfrm>
            <a:off x="1838600" y="792653"/>
            <a:ext cx="8957400" cy="46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User</a:t>
            </a:r>
            <a:endParaRPr b="1" sz="1500">
              <a:solidFill>
                <a:schemeClr val="dk1"/>
              </a:solidFill>
            </a:endParaRPr>
          </a:p>
          <a:p>
            <a:pPr indent="45720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  ↓</a:t>
            </a:r>
            <a:endParaRPr b="1" sz="1500">
              <a:solidFill>
                <a:schemeClr val="dk1"/>
              </a:solidFill>
            </a:endParaRPr>
          </a:p>
          <a:p>
            <a:pPr indent="45720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Inventory Request (Add / Update / Remove Stock)</a:t>
            </a:r>
            <a:endParaRPr b="1" sz="1500">
              <a:solidFill>
                <a:schemeClr val="dk1"/>
              </a:solidFill>
            </a:endParaRPr>
          </a:p>
          <a:p>
            <a:pPr indent="45720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  ↓</a:t>
            </a:r>
            <a:endParaRPr b="1" sz="1500">
              <a:solidFill>
                <a:schemeClr val="dk1"/>
              </a:solidFill>
            </a:endParaRPr>
          </a:p>
          <a:p>
            <a:pPr indent="45720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Inventory Module</a:t>
            </a:r>
            <a:endParaRPr b="1" sz="1500">
              <a:solidFill>
                <a:schemeClr val="dk1"/>
              </a:solidFill>
            </a:endParaRPr>
          </a:p>
          <a:p>
            <a:pPr indent="45720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  ↓</a:t>
            </a:r>
            <a:endParaRPr b="1" sz="1500">
              <a:solidFill>
                <a:schemeClr val="dk1"/>
              </a:solidFill>
            </a:endParaRPr>
          </a:p>
          <a:p>
            <a:pPr indent="45720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Stock Validation</a:t>
            </a:r>
            <a:endParaRPr b="1" sz="1500">
              <a:solidFill>
                <a:schemeClr val="dk1"/>
              </a:solidFill>
            </a:endParaRPr>
          </a:p>
          <a:p>
            <a:pPr indent="45720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  ↓</a:t>
            </a:r>
            <a:endParaRPr b="1" sz="1500">
              <a:solidFill>
                <a:schemeClr val="dk1"/>
              </a:solidFill>
            </a:endParaRPr>
          </a:p>
          <a:p>
            <a:pPr indent="45720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Database Update</a:t>
            </a:r>
            <a:endParaRPr b="1" sz="1500">
              <a:solidFill>
                <a:schemeClr val="dk1"/>
              </a:solidFill>
            </a:endParaRPr>
          </a:p>
          <a:p>
            <a:pPr indent="45720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  ↓</a:t>
            </a:r>
            <a:endParaRPr b="1" sz="1500">
              <a:solidFill>
                <a:schemeClr val="dk1"/>
              </a:solidFill>
            </a:endParaRPr>
          </a:p>
          <a:p>
            <a:pPr indent="45720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Transaction Recorded</a:t>
            </a:r>
            <a:endParaRPr b="1" sz="1500">
              <a:solidFill>
                <a:schemeClr val="dk1"/>
              </a:solidFill>
            </a:endParaRPr>
          </a:p>
          <a:p>
            <a:pPr indent="45720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45720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/>
          <p:nvPr>
            <p:ph type="ctrTitle"/>
          </p:nvPr>
        </p:nvSpPr>
        <p:spPr>
          <a:xfrm>
            <a:off x="1085275" y="-1018584"/>
            <a:ext cx="7301700" cy="166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55">
                <a:latin typeface="Times New Roman"/>
                <a:ea typeface="Times New Roman"/>
                <a:cs typeface="Times New Roman"/>
                <a:sym typeface="Times New Roman"/>
              </a:rPr>
              <a:t>Pseudocode (</a:t>
            </a:r>
            <a:r>
              <a:rPr lang="en" sz="3155">
                <a:latin typeface="Times New Roman"/>
                <a:ea typeface="Times New Roman"/>
                <a:cs typeface="Times New Roman"/>
                <a:sym typeface="Times New Roman"/>
              </a:rPr>
              <a:t>ProductController</a:t>
            </a:r>
            <a:r>
              <a:rPr lang="en" sz="3155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3155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27"/>
          <p:cNvSpPr txBox="1"/>
          <p:nvPr>
            <p:ph idx="1" type="subTitle"/>
          </p:nvPr>
        </p:nvSpPr>
        <p:spPr>
          <a:xfrm>
            <a:off x="300625" y="927904"/>
            <a:ext cx="8957400" cy="46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ProductController</a:t>
            </a:r>
            <a:endParaRPr b="1" sz="1500">
              <a:solidFill>
                <a:schemeClr val="dk1"/>
              </a:solidFill>
            </a:endParaRPr>
          </a:p>
          <a:p>
            <a:pPr indent="0" lvl="0" marL="1828800" rtl="0" algn="just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FUNCTION addProduct(productData)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ProductService.addProduct(productData)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END FUNCTION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FUNCTION stockIn(productId, quantity)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ProductService.increaseStock(productId, quantity)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END FUNCTION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FUNCTION stockOut(productId, quantity)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ProductService.decreaseStock(productId, quantity)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END FUNCTION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/>
          <p:cNvSpPr txBox="1"/>
          <p:nvPr>
            <p:ph idx="1" type="subTitle"/>
          </p:nvPr>
        </p:nvSpPr>
        <p:spPr>
          <a:xfrm>
            <a:off x="300625" y="1108744"/>
            <a:ext cx="8957400" cy="46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addProduct</a:t>
            </a:r>
            <a:endParaRPr b="1" sz="1500">
              <a:solidFill>
                <a:schemeClr val="dk1"/>
              </a:solidFill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FUNCTION addProduct(productData)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IF SKU does not exist THEN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save product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ELSE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RETURN "Duplicate Product"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END IF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END FUNCTION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increaseStock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FUNCTION increaseStock(productId, quantity)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product.stock += quantity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save product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log transaction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check low stock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END FUNCTION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47" name="Google Shape;147;p28"/>
          <p:cNvSpPr txBox="1"/>
          <p:nvPr>
            <p:ph type="ctrTitle"/>
          </p:nvPr>
        </p:nvSpPr>
        <p:spPr>
          <a:xfrm>
            <a:off x="446475" y="-899512"/>
            <a:ext cx="7940700" cy="166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55">
                <a:latin typeface="Times New Roman"/>
                <a:ea typeface="Times New Roman"/>
                <a:cs typeface="Times New Roman"/>
                <a:sym typeface="Times New Roman"/>
              </a:rPr>
              <a:t>Pseudocode (</a:t>
            </a:r>
            <a:r>
              <a:rPr lang="en" sz="3155">
                <a:latin typeface="Times New Roman"/>
                <a:ea typeface="Times New Roman"/>
                <a:cs typeface="Times New Roman"/>
                <a:sym typeface="Times New Roman"/>
              </a:rPr>
              <a:t>ProductService)</a:t>
            </a:r>
            <a:endParaRPr sz="3155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9"/>
          <p:cNvSpPr txBox="1"/>
          <p:nvPr>
            <p:ph idx="1" type="subTitle"/>
          </p:nvPr>
        </p:nvSpPr>
        <p:spPr>
          <a:xfrm>
            <a:off x="300625" y="623847"/>
            <a:ext cx="8957400" cy="46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decreaseStock</a:t>
            </a:r>
            <a:endParaRPr b="1" sz="1500">
              <a:solidFill>
                <a:schemeClr val="dk1"/>
              </a:solidFill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FUNCTION decreaseStock(productId, quantity)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IF stock sufficient THEN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product.stock -= quantity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save product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log transaction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check low stock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ELSE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RETURN "Insufficient Stock"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END IF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END FUNCTION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ProductRepository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ProductRepository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FUNCTION findById(productId)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RETURN product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END FUNCTION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FUNCTION save(product)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store product in database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END FUNCTION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END CLASS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3" name="Google Shape;153;p29"/>
          <p:cNvSpPr txBox="1"/>
          <p:nvPr>
            <p:ph type="ctrTitle"/>
          </p:nvPr>
        </p:nvSpPr>
        <p:spPr>
          <a:xfrm>
            <a:off x="446475" y="-1018575"/>
            <a:ext cx="7940700" cy="166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55">
                <a:latin typeface="Times New Roman"/>
                <a:ea typeface="Times New Roman"/>
                <a:cs typeface="Times New Roman"/>
                <a:sym typeface="Times New Roman"/>
              </a:rPr>
              <a:t>Pseudocode (ProductService)</a:t>
            </a:r>
            <a:endParaRPr sz="3155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0"/>
          <p:cNvSpPr txBox="1"/>
          <p:nvPr>
            <p:ph type="ctrTitle"/>
          </p:nvPr>
        </p:nvSpPr>
        <p:spPr>
          <a:xfrm>
            <a:off x="601650" y="1876350"/>
            <a:ext cx="7940700" cy="139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540"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454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140">
                <a:latin typeface="Times New Roman"/>
                <a:ea typeface="Times New Roman"/>
                <a:cs typeface="Times New Roman"/>
                <a:sym typeface="Times New Roman"/>
              </a:rPr>
              <a:t>Any Question or Feedback for me?</a:t>
            </a:r>
            <a:endParaRPr sz="214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