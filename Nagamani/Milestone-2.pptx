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E5FED7-8854-49DF-86E6-3100541A122D}" v="201" dt="2026-02-03T02:46:22.472"/>
    <p1510:client id="{87803C8E-6F39-4CAE-AFDF-B12A2790189B}" v="293" dt="2026-02-03T03:27:56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E25616-3A97-4315-A324-71A45A72F024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3F8522E-7DD7-4161-BE3E-16B3F58D35DB}">
      <dgm:prSet phldr="0"/>
      <dgm:spPr/>
      <dgm:t>
        <a:bodyPr/>
        <a:lstStyle/>
        <a:p>
          <a:pPr rtl="0"/>
          <a:r>
            <a:rPr lang="en-US" b="1">
              <a:latin typeface="Century Gothic" panose="020B0502020202020204"/>
              <a:ea typeface="+mn-ea"/>
              <a:cs typeface="+mn-cs"/>
            </a:rPr>
            <a:t>Role of the module</a:t>
          </a:r>
          <a:endParaRPr lang="en-US" b="1">
            <a:ea typeface="+mn-ea"/>
            <a:cs typeface="+mn-cs"/>
          </a:endParaRPr>
        </a:p>
      </dgm:t>
    </dgm:pt>
    <dgm:pt modelId="{6934BEAE-5641-4FBA-9496-4851D601EA84}" type="parTrans" cxnId="{4669DE5C-DA17-4076-802F-60B9F03485BE}">
      <dgm:prSet/>
      <dgm:spPr/>
      <dgm:t>
        <a:bodyPr/>
        <a:lstStyle/>
        <a:p>
          <a:endParaRPr lang="en-US"/>
        </a:p>
      </dgm:t>
    </dgm:pt>
    <dgm:pt modelId="{59106BB0-D81E-4B2C-82D7-9B1159958A79}" type="sibTrans" cxnId="{4669DE5C-DA17-4076-802F-60B9F03485BE}">
      <dgm:prSet/>
      <dgm:spPr/>
      <dgm:t>
        <a:bodyPr/>
        <a:lstStyle/>
        <a:p>
          <a:endParaRPr lang="en-US"/>
        </a:p>
      </dgm:t>
    </dgm:pt>
    <dgm:pt modelId="{09E7DCBC-7379-4FF3-BA32-380E8940566E}">
      <dgm:prSet/>
      <dgm:spPr/>
      <dgm:t>
        <a:bodyPr/>
        <a:lstStyle/>
        <a:p>
          <a:r>
            <a:rPr lang="en-US">
              <a:ea typeface="+mn-ea"/>
              <a:cs typeface="+mn-cs"/>
            </a:rPr>
            <a:t>Acts as the core inventory control module</a:t>
          </a:r>
        </a:p>
      </dgm:t>
    </dgm:pt>
    <dgm:pt modelId="{F9F89350-C77E-4E35-91FF-14F00795267F}" type="parTrans" cxnId="{1DEEF120-CEBF-4519-B13A-28E6E97968BC}">
      <dgm:prSet/>
      <dgm:spPr/>
      <dgm:t>
        <a:bodyPr/>
        <a:lstStyle/>
        <a:p>
          <a:endParaRPr lang="en-US"/>
        </a:p>
      </dgm:t>
    </dgm:pt>
    <dgm:pt modelId="{9A215366-D76C-4BC0-A990-B5A6A0A851A4}" type="sibTrans" cxnId="{1DEEF120-CEBF-4519-B13A-28E6E97968BC}">
      <dgm:prSet/>
      <dgm:spPr/>
      <dgm:t>
        <a:bodyPr/>
        <a:lstStyle/>
        <a:p>
          <a:endParaRPr lang="en-US"/>
        </a:p>
      </dgm:t>
    </dgm:pt>
    <dgm:pt modelId="{9CA291F2-E776-41C3-A67F-5B6601C81C95}">
      <dgm:prSet/>
      <dgm:spPr/>
      <dgm:t>
        <a:bodyPr/>
        <a:lstStyle/>
        <a:p>
          <a:r>
            <a:rPr lang="en-US">
              <a:ea typeface="+mn-ea"/>
              <a:cs typeface="+mn-cs"/>
            </a:rPr>
            <a:t>Manages product creation and updates</a:t>
          </a:r>
        </a:p>
      </dgm:t>
    </dgm:pt>
    <dgm:pt modelId="{41D31B17-EDCF-4955-BC30-D89D8ADA331E}" type="parTrans" cxnId="{2CAD3A55-4314-464F-95C0-1951DE50C9C4}">
      <dgm:prSet/>
      <dgm:spPr/>
      <dgm:t>
        <a:bodyPr/>
        <a:lstStyle/>
        <a:p>
          <a:endParaRPr lang="en-US"/>
        </a:p>
      </dgm:t>
    </dgm:pt>
    <dgm:pt modelId="{BD31E29D-7D5E-4DF1-906A-AE8FB6ABEEB9}" type="sibTrans" cxnId="{2CAD3A55-4314-464F-95C0-1951DE50C9C4}">
      <dgm:prSet/>
      <dgm:spPr/>
      <dgm:t>
        <a:bodyPr/>
        <a:lstStyle/>
        <a:p>
          <a:endParaRPr lang="en-US"/>
        </a:p>
      </dgm:t>
    </dgm:pt>
    <dgm:pt modelId="{B6E72BF5-1BD2-4BD7-839B-DE449C2F6441}">
      <dgm:prSet/>
      <dgm:spPr/>
      <dgm:t>
        <a:bodyPr/>
        <a:lstStyle/>
        <a:p>
          <a:r>
            <a:rPr lang="en-US">
              <a:ea typeface="+mn-ea"/>
              <a:cs typeface="+mn-cs"/>
            </a:rPr>
            <a:t>Maintains stock quantity and limits</a:t>
          </a:r>
        </a:p>
      </dgm:t>
    </dgm:pt>
    <dgm:pt modelId="{BFA4BFDC-4BA5-404E-8A5E-60B9CE125C49}" type="parTrans" cxnId="{13DE694C-B784-43D8-AF5F-BC460B9D6BEC}">
      <dgm:prSet/>
      <dgm:spPr/>
      <dgm:t>
        <a:bodyPr/>
        <a:lstStyle/>
        <a:p>
          <a:endParaRPr lang="en-US"/>
        </a:p>
      </dgm:t>
    </dgm:pt>
    <dgm:pt modelId="{0D3E12C8-A2B0-48D5-AF79-EA181BB70ED5}" type="sibTrans" cxnId="{13DE694C-B784-43D8-AF5F-BC460B9D6BEC}">
      <dgm:prSet/>
      <dgm:spPr/>
      <dgm:t>
        <a:bodyPr/>
        <a:lstStyle/>
        <a:p>
          <a:endParaRPr lang="en-US"/>
        </a:p>
      </dgm:t>
    </dgm:pt>
    <dgm:pt modelId="{4D474342-6ACB-452C-829B-DB7465F01DD1}">
      <dgm:prSet/>
      <dgm:spPr/>
      <dgm:t>
        <a:bodyPr/>
        <a:lstStyle/>
        <a:p>
          <a:r>
            <a:rPr lang="en-US">
              <a:ea typeface="+mn-ea"/>
              <a:cs typeface="+mn-cs"/>
            </a:rPr>
            <a:t>Supports smooth business operations</a:t>
          </a:r>
        </a:p>
      </dgm:t>
    </dgm:pt>
    <dgm:pt modelId="{EF69775B-C0E0-4B6D-82FF-99C4AED6F853}" type="parTrans" cxnId="{11233B0E-8C4F-443A-B6A5-B26F6FB589D5}">
      <dgm:prSet/>
      <dgm:spPr/>
      <dgm:t>
        <a:bodyPr/>
        <a:lstStyle/>
        <a:p>
          <a:endParaRPr lang="en-US"/>
        </a:p>
      </dgm:t>
    </dgm:pt>
    <dgm:pt modelId="{C3D5DDF3-169D-421A-9ECF-573E3BA5A3BA}" type="sibTrans" cxnId="{11233B0E-8C4F-443A-B6A5-B26F6FB589D5}">
      <dgm:prSet/>
      <dgm:spPr/>
      <dgm:t>
        <a:bodyPr/>
        <a:lstStyle/>
        <a:p>
          <a:endParaRPr lang="en-US"/>
        </a:p>
      </dgm:t>
    </dgm:pt>
    <dgm:pt modelId="{7AC0AC11-A8B8-4C6B-ACAE-D9E0C6D3E597}" type="pres">
      <dgm:prSet presAssocID="{D0E25616-3A97-4315-A324-71A45A72F024}" presName="linear" presStyleCnt="0">
        <dgm:presLayoutVars>
          <dgm:animLvl val="lvl"/>
          <dgm:resizeHandles val="exact"/>
        </dgm:presLayoutVars>
      </dgm:prSet>
      <dgm:spPr/>
    </dgm:pt>
    <dgm:pt modelId="{91A37034-B64C-4D8F-ADB6-E61C41A4837A}" type="pres">
      <dgm:prSet presAssocID="{13F8522E-7DD7-4161-BE3E-16B3F58D35D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3A9CECD-9304-4FB5-8F7D-B74672A2AAAA}" type="pres">
      <dgm:prSet presAssocID="{59106BB0-D81E-4B2C-82D7-9B1159958A79}" presName="spacer" presStyleCnt="0"/>
      <dgm:spPr/>
    </dgm:pt>
    <dgm:pt modelId="{C6BFC211-FDA6-4934-AF99-36170CE98783}" type="pres">
      <dgm:prSet presAssocID="{09E7DCBC-7379-4FF3-BA32-380E8940566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9751886-49AA-4DFA-8630-76AB9FE381BF}" type="pres">
      <dgm:prSet presAssocID="{9A215366-D76C-4BC0-A990-B5A6A0A851A4}" presName="spacer" presStyleCnt="0"/>
      <dgm:spPr/>
    </dgm:pt>
    <dgm:pt modelId="{FEE94CD0-F530-4B10-B0BE-F486AE7FE625}" type="pres">
      <dgm:prSet presAssocID="{9CA291F2-E776-41C3-A67F-5B6601C81C9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ED42FDA-714E-4071-B01A-B8CBDDE620C8}" type="pres">
      <dgm:prSet presAssocID="{BD31E29D-7D5E-4DF1-906A-AE8FB6ABEEB9}" presName="spacer" presStyleCnt="0"/>
      <dgm:spPr/>
    </dgm:pt>
    <dgm:pt modelId="{47DCA698-2245-4DAD-8390-CDC27B245D6E}" type="pres">
      <dgm:prSet presAssocID="{B6E72BF5-1BD2-4BD7-839B-DE449C2F644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5CF3368-46CA-4790-85DA-1C678ACEE079}" type="pres">
      <dgm:prSet presAssocID="{0D3E12C8-A2B0-48D5-AF79-EA181BB70ED5}" presName="spacer" presStyleCnt="0"/>
      <dgm:spPr/>
    </dgm:pt>
    <dgm:pt modelId="{A9DFE847-3976-4C06-9E65-FFBE8DF411FF}" type="pres">
      <dgm:prSet presAssocID="{4D474342-6ACB-452C-829B-DB7465F01DD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1233B0E-8C4F-443A-B6A5-B26F6FB589D5}" srcId="{D0E25616-3A97-4315-A324-71A45A72F024}" destId="{4D474342-6ACB-452C-829B-DB7465F01DD1}" srcOrd="4" destOrd="0" parTransId="{EF69775B-C0E0-4B6D-82FF-99C4AED6F853}" sibTransId="{C3D5DDF3-169D-421A-9ECF-573E3BA5A3BA}"/>
    <dgm:cxn modelId="{CC99A210-5873-4B56-854A-3C84EBB88E42}" type="presOf" srcId="{13F8522E-7DD7-4161-BE3E-16B3F58D35DB}" destId="{91A37034-B64C-4D8F-ADB6-E61C41A4837A}" srcOrd="0" destOrd="0" presId="urn:microsoft.com/office/officeart/2005/8/layout/vList2"/>
    <dgm:cxn modelId="{0B76E51E-3E73-4F6F-B1EC-FD2DCDDFD91A}" type="presOf" srcId="{B6E72BF5-1BD2-4BD7-839B-DE449C2F6441}" destId="{47DCA698-2245-4DAD-8390-CDC27B245D6E}" srcOrd="0" destOrd="0" presId="urn:microsoft.com/office/officeart/2005/8/layout/vList2"/>
    <dgm:cxn modelId="{1DEEF120-CEBF-4519-B13A-28E6E97968BC}" srcId="{D0E25616-3A97-4315-A324-71A45A72F024}" destId="{09E7DCBC-7379-4FF3-BA32-380E8940566E}" srcOrd="1" destOrd="0" parTransId="{F9F89350-C77E-4E35-91FF-14F00795267F}" sibTransId="{9A215366-D76C-4BC0-A990-B5A6A0A851A4}"/>
    <dgm:cxn modelId="{4669DE5C-DA17-4076-802F-60B9F03485BE}" srcId="{D0E25616-3A97-4315-A324-71A45A72F024}" destId="{13F8522E-7DD7-4161-BE3E-16B3F58D35DB}" srcOrd="0" destOrd="0" parTransId="{6934BEAE-5641-4FBA-9496-4851D601EA84}" sibTransId="{59106BB0-D81E-4B2C-82D7-9B1159958A79}"/>
    <dgm:cxn modelId="{13DE694C-B784-43D8-AF5F-BC460B9D6BEC}" srcId="{D0E25616-3A97-4315-A324-71A45A72F024}" destId="{B6E72BF5-1BD2-4BD7-839B-DE449C2F6441}" srcOrd="3" destOrd="0" parTransId="{BFA4BFDC-4BA5-404E-8A5E-60B9CE125C49}" sibTransId="{0D3E12C8-A2B0-48D5-AF79-EA181BB70ED5}"/>
    <dgm:cxn modelId="{2CAD3A55-4314-464F-95C0-1951DE50C9C4}" srcId="{D0E25616-3A97-4315-A324-71A45A72F024}" destId="{9CA291F2-E776-41C3-A67F-5B6601C81C95}" srcOrd="2" destOrd="0" parTransId="{41D31B17-EDCF-4955-BC30-D89D8ADA331E}" sibTransId="{BD31E29D-7D5E-4DF1-906A-AE8FB6ABEEB9}"/>
    <dgm:cxn modelId="{8B8CB487-9E64-4FCE-A23D-9525D6A0945D}" type="presOf" srcId="{9CA291F2-E776-41C3-A67F-5B6601C81C95}" destId="{FEE94CD0-F530-4B10-B0BE-F486AE7FE625}" srcOrd="0" destOrd="0" presId="urn:microsoft.com/office/officeart/2005/8/layout/vList2"/>
    <dgm:cxn modelId="{4526F9BF-12C0-4471-AF11-E03C274EF953}" type="presOf" srcId="{D0E25616-3A97-4315-A324-71A45A72F024}" destId="{7AC0AC11-A8B8-4C6B-ACAE-D9E0C6D3E597}" srcOrd="0" destOrd="0" presId="urn:microsoft.com/office/officeart/2005/8/layout/vList2"/>
    <dgm:cxn modelId="{510AE8CE-0C25-4CD6-B268-D2AC4AE847CB}" type="presOf" srcId="{09E7DCBC-7379-4FF3-BA32-380E8940566E}" destId="{C6BFC211-FDA6-4934-AF99-36170CE98783}" srcOrd="0" destOrd="0" presId="urn:microsoft.com/office/officeart/2005/8/layout/vList2"/>
    <dgm:cxn modelId="{E032BED6-44C3-4322-89D1-9380242A5573}" type="presOf" srcId="{4D474342-6ACB-452C-829B-DB7465F01DD1}" destId="{A9DFE847-3976-4C06-9E65-FFBE8DF411FF}" srcOrd="0" destOrd="0" presId="urn:microsoft.com/office/officeart/2005/8/layout/vList2"/>
    <dgm:cxn modelId="{46B17BE3-E718-42A3-A8FF-9703762253F5}" type="presParOf" srcId="{7AC0AC11-A8B8-4C6B-ACAE-D9E0C6D3E597}" destId="{91A37034-B64C-4D8F-ADB6-E61C41A4837A}" srcOrd="0" destOrd="0" presId="urn:microsoft.com/office/officeart/2005/8/layout/vList2"/>
    <dgm:cxn modelId="{2A15E4D5-EE23-4DE1-BC9F-39D6A15416D5}" type="presParOf" srcId="{7AC0AC11-A8B8-4C6B-ACAE-D9E0C6D3E597}" destId="{B3A9CECD-9304-4FB5-8F7D-B74672A2AAAA}" srcOrd="1" destOrd="0" presId="urn:microsoft.com/office/officeart/2005/8/layout/vList2"/>
    <dgm:cxn modelId="{745F4BBC-09DA-481D-8150-6CB2592A8498}" type="presParOf" srcId="{7AC0AC11-A8B8-4C6B-ACAE-D9E0C6D3E597}" destId="{C6BFC211-FDA6-4934-AF99-36170CE98783}" srcOrd="2" destOrd="0" presId="urn:microsoft.com/office/officeart/2005/8/layout/vList2"/>
    <dgm:cxn modelId="{44782A6D-A6DC-4386-92C4-66EBED5B4A8F}" type="presParOf" srcId="{7AC0AC11-A8B8-4C6B-ACAE-D9E0C6D3E597}" destId="{69751886-49AA-4DFA-8630-76AB9FE381BF}" srcOrd="3" destOrd="0" presId="urn:microsoft.com/office/officeart/2005/8/layout/vList2"/>
    <dgm:cxn modelId="{1039ADD4-C1C8-4032-B126-BFF37EC79703}" type="presParOf" srcId="{7AC0AC11-A8B8-4C6B-ACAE-D9E0C6D3E597}" destId="{FEE94CD0-F530-4B10-B0BE-F486AE7FE625}" srcOrd="4" destOrd="0" presId="urn:microsoft.com/office/officeart/2005/8/layout/vList2"/>
    <dgm:cxn modelId="{B422545C-A0FF-4A15-8415-064EC845384D}" type="presParOf" srcId="{7AC0AC11-A8B8-4C6B-ACAE-D9E0C6D3E597}" destId="{CED42FDA-714E-4071-B01A-B8CBDDE620C8}" srcOrd="5" destOrd="0" presId="urn:microsoft.com/office/officeart/2005/8/layout/vList2"/>
    <dgm:cxn modelId="{BD4F11B2-A0F6-4B4B-A086-8ADFEC7C82A5}" type="presParOf" srcId="{7AC0AC11-A8B8-4C6B-ACAE-D9E0C6D3E597}" destId="{47DCA698-2245-4DAD-8390-CDC27B245D6E}" srcOrd="6" destOrd="0" presId="urn:microsoft.com/office/officeart/2005/8/layout/vList2"/>
    <dgm:cxn modelId="{AEEBEE06-5F08-43F7-8CD3-72DB54348A4F}" type="presParOf" srcId="{7AC0AC11-A8B8-4C6B-ACAE-D9E0C6D3E597}" destId="{A5CF3368-46CA-4790-85DA-1C678ACEE079}" srcOrd="7" destOrd="0" presId="urn:microsoft.com/office/officeart/2005/8/layout/vList2"/>
    <dgm:cxn modelId="{71029008-5AF1-480F-B83B-9354380E8912}" type="presParOf" srcId="{7AC0AC11-A8B8-4C6B-ACAE-D9E0C6D3E597}" destId="{A9DFE847-3976-4C06-9E65-FFBE8DF411F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A37034-B64C-4D8F-ADB6-E61C41A4837A}">
      <dsp:nvSpPr>
        <dsp:cNvPr id="0" name=""/>
        <dsp:cNvSpPr/>
      </dsp:nvSpPr>
      <dsp:spPr>
        <a:xfrm>
          <a:off x="0" y="59075"/>
          <a:ext cx="10895369" cy="5996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Century Gothic" panose="020B0502020202020204"/>
              <a:ea typeface="+mn-ea"/>
              <a:cs typeface="+mn-cs"/>
            </a:rPr>
            <a:t>Role of the module</a:t>
          </a:r>
          <a:endParaRPr lang="en-US" sz="2500" b="1" kern="1200">
            <a:ea typeface="+mn-ea"/>
            <a:cs typeface="+mn-cs"/>
          </a:endParaRPr>
        </a:p>
      </dsp:txBody>
      <dsp:txXfrm>
        <a:off x="29271" y="88346"/>
        <a:ext cx="10836827" cy="541083"/>
      </dsp:txXfrm>
    </dsp:sp>
    <dsp:sp modelId="{C6BFC211-FDA6-4934-AF99-36170CE98783}">
      <dsp:nvSpPr>
        <dsp:cNvPr id="0" name=""/>
        <dsp:cNvSpPr/>
      </dsp:nvSpPr>
      <dsp:spPr>
        <a:xfrm>
          <a:off x="0" y="730700"/>
          <a:ext cx="10895369" cy="5996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ea typeface="+mn-ea"/>
              <a:cs typeface="+mn-cs"/>
            </a:rPr>
            <a:t>Acts as the core inventory control module</a:t>
          </a:r>
        </a:p>
      </dsp:txBody>
      <dsp:txXfrm>
        <a:off x="29271" y="759971"/>
        <a:ext cx="10836827" cy="541083"/>
      </dsp:txXfrm>
    </dsp:sp>
    <dsp:sp modelId="{FEE94CD0-F530-4B10-B0BE-F486AE7FE625}">
      <dsp:nvSpPr>
        <dsp:cNvPr id="0" name=""/>
        <dsp:cNvSpPr/>
      </dsp:nvSpPr>
      <dsp:spPr>
        <a:xfrm>
          <a:off x="0" y="1402326"/>
          <a:ext cx="10895369" cy="5996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ea typeface="+mn-ea"/>
              <a:cs typeface="+mn-cs"/>
            </a:rPr>
            <a:t>Manages product creation and updates</a:t>
          </a:r>
        </a:p>
      </dsp:txBody>
      <dsp:txXfrm>
        <a:off x="29271" y="1431597"/>
        <a:ext cx="10836827" cy="541083"/>
      </dsp:txXfrm>
    </dsp:sp>
    <dsp:sp modelId="{47DCA698-2245-4DAD-8390-CDC27B245D6E}">
      <dsp:nvSpPr>
        <dsp:cNvPr id="0" name=""/>
        <dsp:cNvSpPr/>
      </dsp:nvSpPr>
      <dsp:spPr>
        <a:xfrm>
          <a:off x="0" y="2073951"/>
          <a:ext cx="10895369" cy="5996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ea typeface="+mn-ea"/>
              <a:cs typeface="+mn-cs"/>
            </a:rPr>
            <a:t>Maintains stock quantity and limits</a:t>
          </a:r>
        </a:p>
      </dsp:txBody>
      <dsp:txXfrm>
        <a:off x="29271" y="2103222"/>
        <a:ext cx="10836827" cy="541083"/>
      </dsp:txXfrm>
    </dsp:sp>
    <dsp:sp modelId="{A9DFE847-3976-4C06-9E65-FFBE8DF411FF}">
      <dsp:nvSpPr>
        <dsp:cNvPr id="0" name=""/>
        <dsp:cNvSpPr/>
      </dsp:nvSpPr>
      <dsp:spPr>
        <a:xfrm>
          <a:off x="0" y="2745575"/>
          <a:ext cx="10895369" cy="5996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ea typeface="+mn-ea"/>
              <a:cs typeface="+mn-cs"/>
            </a:rPr>
            <a:t>Supports smooth business operations</a:t>
          </a:r>
        </a:p>
      </dsp:txBody>
      <dsp:txXfrm>
        <a:off x="29271" y="2774846"/>
        <a:ext cx="10836827" cy="541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896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31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301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85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12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55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800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69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679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781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017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1625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039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007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564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7922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365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809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7000"/>
                <a:hueMod val="88000"/>
                <a:satMod val="130000"/>
                <a:lumMod val="124000"/>
              </a:schemeClr>
            </a:gs>
            <a:gs pos="100000">
              <a:schemeClr val="bg1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A0B882D-4FEF-4E28-9811-11D57386D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2FB23-3CEC-32DD-4611-31D07C23C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-Presented By Nagamani Mannempalli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23A1CD-D4D5-491C-3EB2-6A93E1E1E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sz="6700" err="1">
                <a:cs typeface="Angsana New"/>
              </a:rPr>
              <a:t>Inventra</a:t>
            </a:r>
            <a:r>
              <a:rPr lang="en-US" sz="6700">
                <a:cs typeface="Angsana New"/>
              </a:rPr>
              <a:t> – Intelligent Management System</a:t>
            </a:r>
            <a:endParaRPr lang="en-US" sz="67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A6D14-0849-4180-8DEF-F2F6BF123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0952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Cardboard boxes on conveyor belt">
            <a:extLst>
              <a:ext uri="{FF2B5EF4-FFF2-40B4-BE49-F238E27FC236}">
                <a16:creationId xmlns:a16="http://schemas.microsoft.com/office/drawing/2014/main" id="{EE60345F-8389-562C-744A-1CD7DC70A70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15000"/>
          </a:blip>
          <a:srcRect t="64" b="156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DC729A-E2E1-D864-FDB8-3CC037735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📘 MODULE 2: PRODUCT / INVENTORY MANAGEMENT</a:t>
            </a:r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9FE742-1A27-4AEF-B5F0-F8C383EAB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A886C-4DA8-A6AF-58F3-5BFE10476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b="1"/>
              <a:t>Introduction</a:t>
            </a:r>
            <a:endParaRPr lang="en-US"/>
          </a:p>
          <a:p>
            <a:pPr>
              <a:buClr>
                <a:srgbClr val="E4DEF6"/>
              </a:buClr>
            </a:pPr>
            <a:r>
              <a:rPr lang="en-US">
                <a:ea typeface="+mn-lt"/>
                <a:cs typeface="+mn-lt"/>
              </a:rPr>
              <a:t>Product / Inventory Management handles all products in the system</a:t>
            </a:r>
            <a:endParaRPr lang="en-US"/>
          </a:p>
          <a:p>
            <a:pPr>
              <a:buClr>
                <a:srgbClr val="E4DEF6"/>
              </a:buClr>
            </a:pPr>
            <a:r>
              <a:rPr lang="en-US">
                <a:ea typeface="+mn-lt"/>
                <a:cs typeface="+mn-lt"/>
              </a:rPr>
              <a:t>Ensures accurate tracking of available stock</a:t>
            </a:r>
            <a:endParaRPr lang="en-US"/>
          </a:p>
          <a:p>
            <a:pPr>
              <a:buClr>
                <a:srgbClr val="E4DEF6"/>
              </a:buClr>
            </a:pPr>
            <a:r>
              <a:rPr lang="en-US">
                <a:ea typeface="+mn-lt"/>
                <a:cs typeface="+mn-lt"/>
              </a:rPr>
              <a:t>Helps avoid duplicate product entries</a:t>
            </a:r>
            <a:endParaRPr lang="en-US"/>
          </a:p>
          <a:p>
            <a:pPr>
              <a:buClr>
                <a:srgbClr val="E4DEF6"/>
              </a:buClr>
            </a:pPr>
            <a:r>
              <a:rPr lang="en-US">
                <a:ea typeface="+mn-lt"/>
                <a:cs typeface="+mn-lt"/>
              </a:rPr>
              <a:t>Plays a key role in business operations</a:t>
            </a:r>
            <a:endParaRPr lang="en-US"/>
          </a:p>
          <a:p>
            <a:pPr>
              <a:buClr>
                <a:srgbClr val="E4DEF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1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2831-21B1-5782-6C9C-6B4391EFC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Objective / Purpose</a:t>
            </a:r>
            <a:endParaRPr lang="en-US" sz="3200"/>
          </a:p>
          <a:p>
            <a:pPr>
              <a:buClr>
                <a:srgbClr val="E4DEF6"/>
              </a:buClr>
              <a:buFont typeface="Arial" panose="05000000000000000000" pitchFamily="2" charset="2"/>
              <a:buChar char="•"/>
            </a:pPr>
            <a:r>
              <a:rPr lang="en-US" sz="2400" dirty="0">
                <a:ea typeface="+mn-lt"/>
                <a:cs typeface="+mn-lt"/>
              </a:rPr>
              <a:t>To manage products efficiently in the inventory</a:t>
            </a:r>
            <a:endParaRPr lang="en-US" sz="2400" dirty="0"/>
          </a:p>
          <a:p>
            <a:pPr>
              <a:buClr>
                <a:srgbClr val="E4DEF6"/>
              </a:buClr>
              <a:buFont typeface="Arial" panose="05000000000000000000" pitchFamily="2" charset="2"/>
              <a:buChar char="•"/>
            </a:pPr>
            <a:r>
              <a:rPr lang="en-US" sz="2400" dirty="0">
                <a:ea typeface="+mn-lt"/>
                <a:cs typeface="+mn-lt"/>
              </a:rPr>
              <a:t>To track stock-in and stock-out operations</a:t>
            </a:r>
            <a:endParaRPr lang="en-US" sz="2400" dirty="0"/>
          </a:p>
          <a:p>
            <a:pPr>
              <a:buClr>
                <a:srgbClr val="E4DEF6"/>
              </a:buClr>
              <a:buFont typeface="Arial" panose="05000000000000000000" pitchFamily="2" charset="2"/>
              <a:buChar char="•"/>
            </a:pPr>
            <a:r>
              <a:rPr lang="en-US" sz="2400" dirty="0">
                <a:ea typeface="+mn-lt"/>
                <a:cs typeface="+mn-lt"/>
              </a:rPr>
              <a:t>To prevent duplicate products using SKU</a:t>
            </a:r>
            <a:endParaRPr lang="en-US" sz="2400" dirty="0"/>
          </a:p>
          <a:p>
            <a:pPr>
              <a:buClr>
                <a:srgbClr val="E4DEF6"/>
              </a:buClr>
              <a:buFont typeface="Arial" panose="05000000000000000000" pitchFamily="2" charset="2"/>
              <a:buChar char="•"/>
            </a:pPr>
            <a:r>
              <a:rPr lang="en-US" sz="2400" dirty="0">
                <a:ea typeface="+mn-lt"/>
                <a:cs typeface="+mn-lt"/>
              </a:rPr>
              <a:t>To maintain real-time stock accuracy</a:t>
            </a:r>
            <a:endParaRPr lang="en-US" sz="2400" dirty="0"/>
          </a:p>
          <a:p>
            <a:pPr>
              <a:buClr>
                <a:srgbClr val="E4DEF6"/>
              </a:buClr>
              <a:buFont typeface="Arial" panose="05000000000000000000" pitchFamily="2" charset="2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3630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611AD3-7F22-C31B-58AF-2782C1F6EF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710913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6183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C1FE5-0A14-114E-E6E6-00FDB2277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Classes Involved</a:t>
            </a:r>
            <a:endParaRPr lang="en-US" sz="32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Product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 err="1">
                <a:ea typeface="+mn-lt"/>
                <a:cs typeface="+mn-lt"/>
              </a:rPr>
              <a:t>ProductController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 err="1">
                <a:ea typeface="+mn-lt"/>
                <a:cs typeface="+mn-lt"/>
              </a:rPr>
              <a:t>ProductService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 err="1">
                <a:ea typeface="+mn-lt"/>
                <a:cs typeface="+mn-lt"/>
              </a:rPr>
              <a:t>ProductRepository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 err="1">
                <a:ea typeface="+mn-lt"/>
                <a:cs typeface="+mn-lt"/>
              </a:rPr>
              <a:t>TransactionService</a:t>
            </a:r>
            <a:r>
              <a:rPr lang="en-US" sz="2400" dirty="0">
                <a:ea typeface="+mn-lt"/>
                <a:cs typeface="+mn-lt"/>
              </a:rPr>
              <a:t> (for logging)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 err="1">
                <a:ea typeface="+mn-lt"/>
                <a:cs typeface="+mn-lt"/>
              </a:rPr>
              <a:t>AlertService</a:t>
            </a:r>
            <a:r>
              <a:rPr lang="en-US" sz="2400" dirty="0">
                <a:ea typeface="+mn-lt"/>
                <a:cs typeface="+mn-lt"/>
              </a:rPr>
              <a:t> (for low stock alerts)</a:t>
            </a:r>
            <a:endParaRPr lang="en-US" sz="2400" dirty="0"/>
          </a:p>
          <a:p>
            <a:pPr>
              <a:buClr>
                <a:srgbClr val="E4DEF6"/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82114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6A08C-DEA8-82C8-6D4D-29AC7D562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Database Schema – Product Table</a:t>
            </a:r>
            <a:endParaRPr lang="en-US" sz="32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Each product has a unique </a:t>
            </a:r>
            <a:r>
              <a:rPr lang="en-US" sz="2400" b="1" dirty="0" err="1">
                <a:ea typeface="+mn-lt"/>
                <a:cs typeface="+mn-lt"/>
              </a:rPr>
              <a:t>product_id</a:t>
            </a:r>
            <a:endParaRPr lang="en-US" sz="24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SKU is unique to avoid duplication</a:t>
            </a:r>
            <a:endParaRPr lang="en-US" sz="24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Stores product details like name, category, supplier</a:t>
            </a:r>
            <a:endParaRPr lang="en-US" sz="24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Tracks price, stock quantity, and minimum stock level</a:t>
            </a:r>
            <a:endParaRPr lang="en-US" dirty="0"/>
          </a:p>
          <a:p>
            <a:pPr>
              <a:buClr>
                <a:srgbClr val="E4DEF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06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BCC63-20DF-A935-7FEF-1011319BE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/>
              <a:t> </a:t>
            </a:r>
            <a:r>
              <a:rPr lang="en-US" sz="3200" b="1" dirty="0"/>
              <a:t>Product Class (Data Model)</a:t>
            </a:r>
            <a:endParaRPr lang="en-US" sz="32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Stores product information</a:t>
            </a:r>
            <a:endParaRPr lang="en-US" sz="24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Attributes include:</a:t>
            </a:r>
            <a:endParaRPr lang="en-US" sz="2400"/>
          </a:p>
          <a:p>
            <a:pPr lvl="1">
              <a:buClr>
                <a:srgbClr val="E4DEF6"/>
              </a:buClr>
            </a:pPr>
            <a:r>
              <a:rPr lang="en-US" sz="2000" dirty="0" err="1">
                <a:ea typeface="+mn-lt"/>
                <a:cs typeface="+mn-lt"/>
              </a:rPr>
              <a:t>productId</a:t>
            </a:r>
            <a:endParaRPr lang="en-US" sz="2000"/>
          </a:p>
          <a:p>
            <a:pPr lvl="1">
              <a:buClr>
                <a:srgbClr val="E4DEF6"/>
              </a:buClr>
            </a:pPr>
            <a:r>
              <a:rPr lang="en-US" sz="2000" dirty="0" err="1">
                <a:ea typeface="+mn-lt"/>
                <a:cs typeface="+mn-lt"/>
              </a:rPr>
              <a:t>sku</a:t>
            </a:r>
            <a:endParaRPr lang="en-US" sz="2000"/>
          </a:p>
          <a:p>
            <a:pPr lvl="1">
              <a:buClr>
                <a:srgbClr val="E4DEF6"/>
              </a:buClr>
            </a:pPr>
            <a:r>
              <a:rPr lang="en-US" sz="2000" dirty="0">
                <a:ea typeface="+mn-lt"/>
                <a:cs typeface="+mn-lt"/>
              </a:rPr>
              <a:t>name</a:t>
            </a:r>
            <a:endParaRPr lang="en-US" sz="2000"/>
          </a:p>
          <a:p>
            <a:pPr lvl="1">
              <a:buClr>
                <a:srgbClr val="E4DEF6"/>
              </a:buClr>
            </a:pPr>
            <a:r>
              <a:rPr lang="en-US" sz="2000" dirty="0">
                <a:ea typeface="+mn-lt"/>
                <a:cs typeface="+mn-lt"/>
              </a:rPr>
              <a:t>category</a:t>
            </a:r>
            <a:endParaRPr lang="en-US" sz="2000"/>
          </a:p>
          <a:p>
            <a:pPr lvl="1">
              <a:buClr>
                <a:srgbClr val="E4DEF6"/>
              </a:buClr>
            </a:pPr>
            <a:r>
              <a:rPr lang="en-US" sz="2000" dirty="0">
                <a:ea typeface="+mn-lt"/>
                <a:cs typeface="+mn-lt"/>
              </a:rPr>
              <a:t>supplier</a:t>
            </a:r>
            <a:endParaRPr lang="en-US" sz="2000"/>
          </a:p>
          <a:p>
            <a:pPr lvl="1">
              <a:buClr>
                <a:srgbClr val="E4DEF6"/>
              </a:buClr>
            </a:pPr>
            <a:r>
              <a:rPr lang="en-US" sz="2000" dirty="0" err="1">
                <a:ea typeface="+mn-lt"/>
                <a:cs typeface="+mn-lt"/>
              </a:rPr>
              <a:t>unitPrice</a:t>
            </a:r>
            <a:endParaRPr lang="en-US" sz="2000"/>
          </a:p>
          <a:p>
            <a:pPr lvl="1">
              <a:buClr>
                <a:srgbClr val="E4DEF6"/>
              </a:buClr>
            </a:pPr>
            <a:r>
              <a:rPr lang="en-US" sz="2000" dirty="0" err="1">
                <a:ea typeface="+mn-lt"/>
                <a:cs typeface="+mn-lt"/>
              </a:rPr>
              <a:t>stockQuantity</a:t>
            </a:r>
            <a:endParaRPr lang="en-US" sz="2000"/>
          </a:p>
          <a:p>
            <a:pPr lvl="1">
              <a:buClr>
                <a:srgbClr val="E4DEF6"/>
              </a:buClr>
            </a:pPr>
            <a:r>
              <a:rPr lang="en-US" sz="2000" dirty="0" err="1">
                <a:ea typeface="+mn-lt"/>
                <a:cs typeface="+mn-lt"/>
              </a:rPr>
              <a:t>minStockLevel</a:t>
            </a:r>
            <a:endParaRPr lang="en-US" sz="2000"/>
          </a:p>
          <a:p>
            <a:pPr>
              <a:buClr>
                <a:srgbClr val="E4DEF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31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00DBF-5484-E7B9-4A61-BF3D397FD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Product Controller</a:t>
            </a:r>
            <a:endParaRPr lang="en-US" sz="32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Handles incoming user requests</a:t>
            </a:r>
            <a:endParaRPr lang="en-US" sz="24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Main operations:</a:t>
            </a:r>
            <a:endParaRPr lang="en-US" sz="2400"/>
          </a:p>
          <a:p>
            <a:pPr lvl="1">
              <a:buClr>
                <a:srgbClr val="E4DEF6"/>
              </a:buClr>
            </a:pPr>
            <a:r>
              <a:rPr lang="en-US" sz="2000" dirty="0">
                <a:ea typeface="+mn-lt"/>
                <a:cs typeface="+mn-lt"/>
              </a:rPr>
              <a:t>Add new product</a:t>
            </a:r>
            <a:endParaRPr lang="en-US" sz="2000"/>
          </a:p>
          <a:p>
            <a:pPr lvl="1">
              <a:buClr>
                <a:srgbClr val="E4DEF6"/>
              </a:buClr>
            </a:pPr>
            <a:r>
              <a:rPr lang="en-US" sz="2000" dirty="0">
                <a:ea typeface="+mn-lt"/>
                <a:cs typeface="+mn-lt"/>
              </a:rPr>
              <a:t>Stock-in products</a:t>
            </a:r>
            <a:endParaRPr lang="en-US" sz="2000"/>
          </a:p>
          <a:p>
            <a:pPr lvl="1">
              <a:buClr>
                <a:srgbClr val="E4DEF6"/>
              </a:buClr>
            </a:pPr>
            <a:r>
              <a:rPr lang="en-US" sz="2000" dirty="0">
                <a:ea typeface="+mn-lt"/>
                <a:cs typeface="+mn-lt"/>
              </a:rPr>
              <a:t>Stock-out products</a:t>
            </a:r>
            <a:endParaRPr lang="en-US" sz="20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Delegates logic to </a:t>
            </a:r>
            <a:r>
              <a:rPr lang="en-US" sz="2400" dirty="0" err="1">
                <a:ea typeface="+mn-lt"/>
                <a:cs typeface="+mn-lt"/>
              </a:rPr>
              <a:t>ProductService</a:t>
            </a:r>
            <a:endParaRPr lang="en-US" sz="2400" dirty="0"/>
          </a:p>
          <a:p>
            <a:pPr>
              <a:buClr>
                <a:srgbClr val="E4DEF6"/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6943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F7E59-D996-CF24-AC0F-DFA827A11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Product Service – Add Product Logic</a:t>
            </a:r>
            <a:endParaRPr lang="en-US" sz="32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Checks if product SKU already exists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If SKU is new → product is saved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If SKU exists → duplicate product is prevented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Ensures data consistency</a:t>
            </a:r>
            <a:endParaRPr lang="en-US" sz="2400" dirty="0"/>
          </a:p>
          <a:p>
            <a:pPr>
              <a:buClr>
                <a:srgbClr val="E4DEF6"/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72553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D932D-F594-7F0C-4896-18F129A19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Stock-In Operation</a:t>
            </a:r>
            <a:endParaRPr lang="en-US" sz="32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Increases product stock quantity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Saves updated stock to database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Logs transaction as STOCK_IN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Checks for low stock alerts</a:t>
            </a:r>
            <a:endParaRPr lang="en-US" sz="2400" dirty="0"/>
          </a:p>
          <a:p>
            <a:pPr>
              <a:buClr>
                <a:srgbClr val="E4DEF6"/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8879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B3161-982D-B689-286D-FDE088FDA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Stock-Out Operation</a:t>
            </a:r>
            <a:endParaRPr lang="en-US" sz="32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Checks if sufficient stock is available</a:t>
            </a:r>
            <a:endParaRPr lang="en-US" sz="24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Reduces stock quantity safely</a:t>
            </a:r>
            <a:endParaRPr lang="en-US" sz="24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Logs transaction as STOCK_OUT</a:t>
            </a:r>
            <a:endParaRPr lang="en-US" sz="24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Triggers low stock alert if needed</a:t>
            </a:r>
            <a:endParaRPr lang="en-US" sz="24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Prevents negative stock</a:t>
            </a:r>
            <a:endParaRPr lang="en-US" sz="2400"/>
          </a:p>
          <a:p>
            <a:pPr>
              <a:buClr>
                <a:srgbClr val="E4DEF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03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91EFA-6062-7063-C0ED-19F4D0CAB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Advantages / Benefits</a:t>
            </a:r>
            <a:endParaRPr lang="en-US" sz="32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Prevents duplicate product entries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Maintains accurate stock levels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Improves inventory control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Reduces manual errors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Supports decision making</a:t>
            </a:r>
            <a:endParaRPr lang="en-US" sz="2400" dirty="0"/>
          </a:p>
          <a:p>
            <a:pPr>
              <a:buClr>
                <a:srgbClr val="E4DEF6"/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25772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331F6A-DA09-422D-8CED-00C0B4585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7C2F65-00C4-451C-8BFA-E765DEC17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0733" y="0"/>
            <a:ext cx="321564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DDF752-B2A6-49DC-B474-8E1F71AFF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4859" y="0"/>
            <a:ext cx="1438656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95D62-5830-FC57-F111-F55054DFB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447798"/>
            <a:ext cx="6282984" cy="4766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Conclusion</a:t>
            </a:r>
            <a:endParaRPr lang="en-US" sz="320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Product module is the heart of inventory management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Ensures accurate stock handling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Supports smooth business flow</a:t>
            </a:r>
            <a:endParaRPr lang="en-US" sz="2400" dirty="0"/>
          </a:p>
          <a:p>
            <a:pPr>
              <a:buClr>
                <a:srgbClr val="E4DEF6"/>
              </a:buClr>
            </a:pPr>
            <a:r>
              <a:rPr lang="en-US" sz="2400" dirty="0">
                <a:ea typeface="+mn-lt"/>
                <a:cs typeface="+mn-lt"/>
              </a:rPr>
              <a:t>Helps avoid stock issues and losses</a:t>
            </a:r>
            <a:endParaRPr lang="en-US" sz="2400" dirty="0"/>
          </a:p>
          <a:p>
            <a:pPr>
              <a:buClr>
                <a:srgbClr val="E4DEF6"/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96675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06D0-3E5D-9866-9E1E-E3AF3B965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6974915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687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Ion</vt:lpstr>
      <vt:lpstr>Inventra – Intelligent Management System</vt:lpstr>
      <vt:lpstr>📘 MODULE 2: PRODUCT / INVENTORY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203</cp:revision>
  <dcterms:created xsi:type="dcterms:W3CDTF">2026-02-03T02:33:51Z</dcterms:created>
  <dcterms:modified xsi:type="dcterms:W3CDTF">2026-02-03T03:28:55Z</dcterms:modified>
</cp:coreProperties>
</file>