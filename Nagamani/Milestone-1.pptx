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6" r:id="rId9"/>
    <p:sldId id="267" r:id="rId10"/>
    <p:sldId id="268" r:id="rId11"/>
    <p:sldId id="262" r:id="rId12"/>
    <p:sldId id="269" r:id="rId13"/>
    <p:sldId id="270" r:id="rId14"/>
    <p:sldId id="271" r:id="rId15"/>
    <p:sldId id="272" r:id="rId16"/>
    <p:sldId id="273" r:id="rId17"/>
    <p:sldId id="26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CDAC7B-6D60-F9B8-AFE5-D430EEAA52BD}" v="21" dt="2026-02-03T03:50:52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F1C513-10A5-47A0-8987-AD15CF448E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16B65B-A5AE-49E0-899A-1224536C96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&amp; Authentication Management – Secure login with JWT. </a:t>
          </a:r>
        </a:p>
      </dgm:t>
    </dgm:pt>
    <dgm:pt modelId="{D59AAD43-0184-457D-AB7A-F39941E9F80B}" type="parTrans" cxnId="{7E23CF3D-4FAC-4B23-AC2C-907DC5630DD1}">
      <dgm:prSet/>
      <dgm:spPr/>
      <dgm:t>
        <a:bodyPr/>
        <a:lstStyle/>
        <a:p>
          <a:endParaRPr lang="en-US"/>
        </a:p>
      </dgm:t>
    </dgm:pt>
    <dgm:pt modelId="{A34CD598-BF95-4773-97FC-45E23A11BD9A}" type="sibTrans" cxnId="{7E23CF3D-4FAC-4B23-AC2C-907DC5630DD1}">
      <dgm:prSet/>
      <dgm:spPr/>
      <dgm:t>
        <a:bodyPr/>
        <a:lstStyle/>
        <a:p>
          <a:endParaRPr lang="en-US"/>
        </a:p>
      </dgm:t>
    </dgm:pt>
    <dgm:pt modelId="{AA941E20-EE44-4E17-8A10-9F185BAA70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Product Management – Add, update, and categorize products. </a:t>
          </a:r>
        </a:p>
      </dgm:t>
    </dgm:pt>
    <dgm:pt modelId="{F7AE682D-228B-46E8-B2AA-19AD04008AA4}" type="parTrans" cxnId="{463FB454-BCE9-46AB-AE31-DE1F51793985}">
      <dgm:prSet/>
      <dgm:spPr/>
      <dgm:t>
        <a:bodyPr/>
        <a:lstStyle/>
        <a:p>
          <a:endParaRPr lang="en-US"/>
        </a:p>
      </dgm:t>
    </dgm:pt>
    <dgm:pt modelId="{537156DE-55DE-4254-80E7-6B0FB563C9BE}" type="sibTrans" cxnId="{463FB454-BCE9-46AB-AE31-DE1F51793985}">
      <dgm:prSet/>
      <dgm:spPr/>
      <dgm:t>
        <a:bodyPr/>
        <a:lstStyle/>
        <a:p>
          <a:endParaRPr lang="en-US"/>
        </a:p>
      </dgm:t>
    </dgm:pt>
    <dgm:pt modelId="{90C49AF4-467D-4BD4-B4AB-80F4167DE4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Stock Monitoring – Tracks stock levels and updates quantity. </a:t>
          </a:r>
        </a:p>
      </dgm:t>
    </dgm:pt>
    <dgm:pt modelId="{1C99E35D-0CE4-4BAD-9CD2-F68D97C87402}" type="parTrans" cxnId="{F3CF876B-9C00-42F5-85F5-F66C7FEF7AB0}">
      <dgm:prSet/>
      <dgm:spPr/>
      <dgm:t>
        <a:bodyPr/>
        <a:lstStyle/>
        <a:p>
          <a:endParaRPr lang="en-US"/>
        </a:p>
      </dgm:t>
    </dgm:pt>
    <dgm:pt modelId="{92C89B85-DDFA-4A93-A79C-F5BA90520345}" type="sibTrans" cxnId="{F3CF876B-9C00-42F5-85F5-F66C7FEF7AB0}">
      <dgm:prSet/>
      <dgm:spPr/>
      <dgm:t>
        <a:bodyPr/>
        <a:lstStyle/>
        <a:p>
          <a:endParaRPr lang="en-US"/>
        </a:p>
      </dgm:t>
    </dgm:pt>
    <dgm:pt modelId="{F6EC11C2-1A0A-4545-9BAE-487D9EBF86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Reports &amp; Notifications – Auto‑generate reports and send email alerts. </a:t>
          </a:r>
        </a:p>
      </dgm:t>
    </dgm:pt>
    <dgm:pt modelId="{6C894694-AB16-4E9A-AB3D-ADBA3EC9C547}" type="parTrans" cxnId="{3FA62E16-B020-4889-BF99-7011967E026C}">
      <dgm:prSet/>
      <dgm:spPr/>
      <dgm:t>
        <a:bodyPr/>
        <a:lstStyle/>
        <a:p>
          <a:endParaRPr lang="en-US"/>
        </a:p>
      </dgm:t>
    </dgm:pt>
    <dgm:pt modelId="{727F8AAF-9EF5-4250-97AD-810AD33B4DA7}" type="sibTrans" cxnId="{3FA62E16-B020-4889-BF99-7011967E026C}">
      <dgm:prSet/>
      <dgm:spPr/>
      <dgm:t>
        <a:bodyPr/>
        <a:lstStyle/>
        <a:p>
          <a:endParaRPr lang="en-US"/>
        </a:p>
      </dgm:t>
    </dgm:pt>
    <dgm:pt modelId="{1AAEE889-D14B-4932-88E0-F98CF6BEFB9D}" type="pres">
      <dgm:prSet presAssocID="{8DF1C513-10A5-47A0-8987-AD15CF448E38}" presName="root" presStyleCnt="0">
        <dgm:presLayoutVars>
          <dgm:dir/>
          <dgm:resizeHandles val="exact"/>
        </dgm:presLayoutVars>
      </dgm:prSet>
      <dgm:spPr/>
    </dgm:pt>
    <dgm:pt modelId="{872EB507-F5EA-4250-BE2D-96253313B1FB}" type="pres">
      <dgm:prSet presAssocID="{7516B65B-A5AE-49E0-899A-1224536C9675}" presName="compNode" presStyleCnt="0"/>
      <dgm:spPr/>
    </dgm:pt>
    <dgm:pt modelId="{96262C4F-EC99-4D22-8C60-22AE793BEAF4}" type="pres">
      <dgm:prSet presAssocID="{7516B65B-A5AE-49E0-899A-1224536C9675}" presName="bgRect" presStyleLbl="bgShp" presStyleIdx="0" presStyleCnt="4"/>
      <dgm:spPr/>
    </dgm:pt>
    <dgm:pt modelId="{C7772846-F419-4425-A263-043AD8A32B2A}" type="pres">
      <dgm:prSet presAssocID="{7516B65B-A5AE-49E0-899A-1224536C967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E34E580-DFEC-4E01-8218-CF05E4500972}" type="pres">
      <dgm:prSet presAssocID="{7516B65B-A5AE-49E0-899A-1224536C9675}" presName="spaceRect" presStyleCnt="0"/>
      <dgm:spPr/>
    </dgm:pt>
    <dgm:pt modelId="{D01AFDED-8745-4850-901C-BD79D87FDF00}" type="pres">
      <dgm:prSet presAssocID="{7516B65B-A5AE-49E0-899A-1224536C9675}" presName="parTx" presStyleLbl="revTx" presStyleIdx="0" presStyleCnt="4">
        <dgm:presLayoutVars>
          <dgm:chMax val="0"/>
          <dgm:chPref val="0"/>
        </dgm:presLayoutVars>
      </dgm:prSet>
      <dgm:spPr/>
    </dgm:pt>
    <dgm:pt modelId="{24D3D4F0-4945-4EE6-ABE5-15155B8A45D0}" type="pres">
      <dgm:prSet presAssocID="{A34CD598-BF95-4773-97FC-45E23A11BD9A}" presName="sibTrans" presStyleCnt="0"/>
      <dgm:spPr/>
    </dgm:pt>
    <dgm:pt modelId="{F90DB4AE-6EEB-454E-A173-C7DAA9C5D619}" type="pres">
      <dgm:prSet presAssocID="{AA941E20-EE44-4E17-8A10-9F185BAA7068}" presName="compNode" presStyleCnt="0"/>
      <dgm:spPr/>
    </dgm:pt>
    <dgm:pt modelId="{2EB69AB6-9EA0-4056-8A66-AE874B06FF4E}" type="pres">
      <dgm:prSet presAssocID="{AA941E20-EE44-4E17-8A10-9F185BAA7068}" presName="bgRect" presStyleLbl="bgShp" presStyleIdx="1" presStyleCnt="4"/>
      <dgm:spPr/>
    </dgm:pt>
    <dgm:pt modelId="{A2D92FEC-07B8-41BF-8BCC-57D21D4D87E9}" type="pres">
      <dgm:prSet presAssocID="{AA941E20-EE44-4E17-8A10-9F185BAA70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2E08674-D7AF-4618-A182-6F7510BB603C}" type="pres">
      <dgm:prSet presAssocID="{AA941E20-EE44-4E17-8A10-9F185BAA7068}" presName="spaceRect" presStyleCnt="0"/>
      <dgm:spPr/>
    </dgm:pt>
    <dgm:pt modelId="{0A5D6FB2-B8C3-4913-95AA-4407C9B2BF6E}" type="pres">
      <dgm:prSet presAssocID="{AA941E20-EE44-4E17-8A10-9F185BAA7068}" presName="parTx" presStyleLbl="revTx" presStyleIdx="1" presStyleCnt="4">
        <dgm:presLayoutVars>
          <dgm:chMax val="0"/>
          <dgm:chPref val="0"/>
        </dgm:presLayoutVars>
      </dgm:prSet>
      <dgm:spPr/>
    </dgm:pt>
    <dgm:pt modelId="{0DCF203B-EC52-432A-AC45-21F5457FB7CD}" type="pres">
      <dgm:prSet presAssocID="{537156DE-55DE-4254-80E7-6B0FB563C9BE}" presName="sibTrans" presStyleCnt="0"/>
      <dgm:spPr/>
    </dgm:pt>
    <dgm:pt modelId="{AD08D603-CEF9-42A9-BADE-58FC6BFC91E4}" type="pres">
      <dgm:prSet presAssocID="{90C49AF4-467D-4BD4-B4AB-80F4167DE4A8}" presName="compNode" presStyleCnt="0"/>
      <dgm:spPr/>
    </dgm:pt>
    <dgm:pt modelId="{6059618C-22E5-4087-AEA2-203377ED367E}" type="pres">
      <dgm:prSet presAssocID="{90C49AF4-467D-4BD4-B4AB-80F4167DE4A8}" presName="bgRect" presStyleLbl="bgShp" presStyleIdx="2" presStyleCnt="4"/>
      <dgm:spPr/>
    </dgm:pt>
    <dgm:pt modelId="{B86D91FD-46F7-4576-BEFB-41BE00F45727}" type="pres">
      <dgm:prSet presAssocID="{90C49AF4-467D-4BD4-B4AB-80F4167DE4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66EC9D1E-5696-47C6-9225-673D8AB60CDF}" type="pres">
      <dgm:prSet presAssocID="{90C49AF4-467D-4BD4-B4AB-80F4167DE4A8}" presName="spaceRect" presStyleCnt="0"/>
      <dgm:spPr/>
    </dgm:pt>
    <dgm:pt modelId="{3A13B3DB-8FEF-4920-B3AC-6C85478ADEAF}" type="pres">
      <dgm:prSet presAssocID="{90C49AF4-467D-4BD4-B4AB-80F4167DE4A8}" presName="parTx" presStyleLbl="revTx" presStyleIdx="2" presStyleCnt="4">
        <dgm:presLayoutVars>
          <dgm:chMax val="0"/>
          <dgm:chPref val="0"/>
        </dgm:presLayoutVars>
      </dgm:prSet>
      <dgm:spPr/>
    </dgm:pt>
    <dgm:pt modelId="{EEEF19F0-042E-425A-B853-8A276B8C63E6}" type="pres">
      <dgm:prSet presAssocID="{92C89B85-DDFA-4A93-A79C-F5BA90520345}" presName="sibTrans" presStyleCnt="0"/>
      <dgm:spPr/>
    </dgm:pt>
    <dgm:pt modelId="{54CDC900-51E6-4EA8-A747-3C4FFC39B02F}" type="pres">
      <dgm:prSet presAssocID="{F6EC11C2-1A0A-4545-9BAE-487D9EBF8600}" presName="compNode" presStyleCnt="0"/>
      <dgm:spPr/>
    </dgm:pt>
    <dgm:pt modelId="{F366F9E3-CE6B-417A-847D-24FF523D1100}" type="pres">
      <dgm:prSet presAssocID="{F6EC11C2-1A0A-4545-9BAE-487D9EBF8600}" presName="bgRect" presStyleLbl="bgShp" presStyleIdx="3" presStyleCnt="4"/>
      <dgm:spPr/>
    </dgm:pt>
    <dgm:pt modelId="{CEC53E4B-515C-4C25-AE11-DA1DD6DBA15A}" type="pres">
      <dgm:prSet presAssocID="{F6EC11C2-1A0A-4545-9BAE-487D9EBF86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31EF9ED8-BC1C-489F-BD4D-5EBA3D9B93BF}" type="pres">
      <dgm:prSet presAssocID="{F6EC11C2-1A0A-4545-9BAE-487D9EBF8600}" presName="spaceRect" presStyleCnt="0"/>
      <dgm:spPr/>
    </dgm:pt>
    <dgm:pt modelId="{3E58F316-F7EF-4EB5-A6DD-4238B21ABBE6}" type="pres">
      <dgm:prSet presAssocID="{F6EC11C2-1A0A-4545-9BAE-487D9EBF860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FA62E16-B020-4889-BF99-7011967E026C}" srcId="{8DF1C513-10A5-47A0-8987-AD15CF448E38}" destId="{F6EC11C2-1A0A-4545-9BAE-487D9EBF8600}" srcOrd="3" destOrd="0" parTransId="{6C894694-AB16-4E9A-AB3D-ADBA3EC9C547}" sibTransId="{727F8AAF-9EF5-4250-97AD-810AD33B4DA7}"/>
    <dgm:cxn modelId="{894C4329-3757-4D00-867A-0C2E0F2B9AE6}" type="presOf" srcId="{7516B65B-A5AE-49E0-899A-1224536C9675}" destId="{D01AFDED-8745-4850-901C-BD79D87FDF00}" srcOrd="0" destOrd="0" presId="urn:microsoft.com/office/officeart/2018/2/layout/IconVerticalSolidList"/>
    <dgm:cxn modelId="{7E23CF3D-4FAC-4B23-AC2C-907DC5630DD1}" srcId="{8DF1C513-10A5-47A0-8987-AD15CF448E38}" destId="{7516B65B-A5AE-49E0-899A-1224536C9675}" srcOrd="0" destOrd="0" parTransId="{D59AAD43-0184-457D-AB7A-F39941E9F80B}" sibTransId="{A34CD598-BF95-4773-97FC-45E23A11BD9A}"/>
    <dgm:cxn modelId="{EF727969-BA07-44FC-932E-3113BDE05467}" type="presOf" srcId="{F6EC11C2-1A0A-4545-9BAE-487D9EBF8600}" destId="{3E58F316-F7EF-4EB5-A6DD-4238B21ABBE6}" srcOrd="0" destOrd="0" presId="urn:microsoft.com/office/officeart/2018/2/layout/IconVerticalSolidList"/>
    <dgm:cxn modelId="{F3CF876B-9C00-42F5-85F5-F66C7FEF7AB0}" srcId="{8DF1C513-10A5-47A0-8987-AD15CF448E38}" destId="{90C49AF4-467D-4BD4-B4AB-80F4167DE4A8}" srcOrd="2" destOrd="0" parTransId="{1C99E35D-0CE4-4BAD-9CD2-F68D97C87402}" sibTransId="{92C89B85-DDFA-4A93-A79C-F5BA90520345}"/>
    <dgm:cxn modelId="{A956D073-3B0F-48B1-8BA1-CF6657DE3124}" type="presOf" srcId="{AA941E20-EE44-4E17-8A10-9F185BAA7068}" destId="{0A5D6FB2-B8C3-4913-95AA-4407C9B2BF6E}" srcOrd="0" destOrd="0" presId="urn:microsoft.com/office/officeart/2018/2/layout/IconVerticalSolidList"/>
    <dgm:cxn modelId="{463FB454-BCE9-46AB-AE31-DE1F51793985}" srcId="{8DF1C513-10A5-47A0-8987-AD15CF448E38}" destId="{AA941E20-EE44-4E17-8A10-9F185BAA7068}" srcOrd="1" destOrd="0" parTransId="{F7AE682D-228B-46E8-B2AA-19AD04008AA4}" sibTransId="{537156DE-55DE-4254-80E7-6B0FB563C9BE}"/>
    <dgm:cxn modelId="{1EE3A78E-D6A4-48E9-8283-86B260B40147}" type="presOf" srcId="{90C49AF4-467D-4BD4-B4AB-80F4167DE4A8}" destId="{3A13B3DB-8FEF-4920-B3AC-6C85478ADEAF}" srcOrd="0" destOrd="0" presId="urn:microsoft.com/office/officeart/2018/2/layout/IconVerticalSolidList"/>
    <dgm:cxn modelId="{28329BC8-F877-40D4-8B69-28C645E04B87}" type="presOf" srcId="{8DF1C513-10A5-47A0-8987-AD15CF448E38}" destId="{1AAEE889-D14B-4932-88E0-F98CF6BEFB9D}" srcOrd="0" destOrd="0" presId="urn:microsoft.com/office/officeart/2018/2/layout/IconVerticalSolidList"/>
    <dgm:cxn modelId="{FA484F95-523F-439A-9C70-149E31CB5C8A}" type="presParOf" srcId="{1AAEE889-D14B-4932-88E0-F98CF6BEFB9D}" destId="{872EB507-F5EA-4250-BE2D-96253313B1FB}" srcOrd="0" destOrd="0" presId="urn:microsoft.com/office/officeart/2018/2/layout/IconVerticalSolidList"/>
    <dgm:cxn modelId="{0D317DB4-3E83-48AC-80DD-B7881D690A50}" type="presParOf" srcId="{872EB507-F5EA-4250-BE2D-96253313B1FB}" destId="{96262C4F-EC99-4D22-8C60-22AE793BEAF4}" srcOrd="0" destOrd="0" presId="urn:microsoft.com/office/officeart/2018/2/layout/IconVerticalSolidList"/>
    <dgm:cxn modelId="{292110BB-876E-4654-8868-C8CB635A1928}" type="presParOf" srcId="{872EB507-F5EA-4250-BE2D-96253313B1FB}" destId="{C7772846-F419-4425-A263-043AD8A32B2A}" srcOrd="1" destOrd="0" presId="urn:microsoft.com/office/officeart/2018/2/layout/IconVerticalSolidList"/>
    <dgm:cxn modelId="{2A258D62-6829-4922-BAEB-117B43EF78AF}" type="presParOf" srcId="{872EB507-F5EA-4250-BE2D-96253313B1FB}" destId="{4E34E580-DFEC-4E01-8218-CF05E4500972}" srcOrd="2" destOrd="0" presId="urn:microsoft.com/office/officeart/2018/2/layout/IconVerticalSolidList"/>
    <dgm:cxn modelId="{42D2EC0E-8ADB-44BF-A90C-DC9538099FB6}" type="presParOf" srcId="{872EB507-F5EA-4250-BE2D-96253313B1FB}" destId="{D01AFDED-8745-4850-901C-BD79D87FDF00}" srcOrd="3" destOrd="0" presId="urn:microsoft.com/office/officeart/2018/2/layout/IconVerticalSolidList"/>
    <dgm:cxn modelId="{FE95CBC2-98D1-4941-B585-4208FE9BEC4E}" type="presParOf" srcId="{1AAEE889-D14B-4932-88E0-F98CF6BEFB9D}" destId="{24D3D4F0-4945-4EE6-ABE5-15155B8A45D0}" srcOrd="1" destOrd="0" presId="urn:microsoft.com/office/officeart/2018/2/layout/IconVerticalSolidList"/>
    <dgm:cxn modelId="{974B1F49-A793-4962-A7DC-A32F65AA1083}" type="presParOf" srcId="{1AAEE889-D14B-4932-88E0-F98CF6BEFB9D}" destId="{F90DB4AE-6EEB-454E-A173-C7DAA9C5D619}" srcOrd="2" destOrd="0" presId="urn:microsoft.com/office/officeart/2018/2/layout/IconVerticalSolidList"/>
    <dgm:cxn modelId="{6B3DB694-2FEF-4818-A254-5F8874683337}" type="presParOf" srcId="{F90DB4AE-6EEB-454E-A173-C7DAA9C5D619}" destId="{2EB69AB6-9EA0-4056-8A66-AE874B06FF4E}" srcOrd="0" destOrd="0" presId="urn:microsoft.com/office/officeart/2018/2/layout/IconVerticalSolidList"/>
    <dgm:cxn modelId="{D2F3EAD3-211D-4E69-87C3-62CD58D77C2E}" type="presParOf" srcId="{F90DB4AE-6EEB-454E-A173-C7DAA9C5D619}" destId="{A2D92FEC-07B8-41BF-8BCC-57D21D4D87E9}" srcOrd="1" destOrd="0" presId="urn:microsoft.com/office/officeart/2018/2/layout/IconVerticalSolidList"/>
    <dgm:cxn modelId="{0FEEC984-3199-4BF4-BF7E-53E77CAEE7EF}" type="presParOf" srcId="{F90DB4AE-6EEB-454E-A173-C7DAA9C5D619}" destId="{12E08674-D7AF-4618-A182-6F7510BB603C}" srcOrd="2" destOrd="0" presId="urn:microsoft.com/office/officeart/2018/2/layout/IconVerticalSolidList"/>
    <dgm:cxn modelId="{4CC7A793-78E6-470B-9647-0888EA9D01BC}" type="presParOf" srcId="{F90DB4AE-6EEB-454E-A173-C7DAA9C5D619}" destId="{0A5D6FB2-B8C3-4913-95AA-4407C9B2BF6E}" srcOrd="3" destOrd="0" presId="urn:microsoft.com/office/officeart/2018/2/layout/IconVerticalSolidList"/>
    <dgm:cxn modelId="{55B737EF-21B8-4C80-A28E-7C259E848804}" type="presParOf" srcId="{1AAEE889-D14B-4932-88E0-F98CF6BEFB9D}" destId="{0DCF203B-EC52-432A-AC45-21F5457FB7CD}" srcOrd="3" destOrd="0" presId="urn:microsoft.com/office/officeart/2018/2/layout/IconVerticalSolidList"/>
    <dgm:cxn modelId="{EFE84D80-DA6C-4226-88A2-59EB3287D49E}" type="presParOf" srcId="{1AAEE889-D14B-4932-88E0-F98CF6BEFB9D}" destId="{AD08D603-CEF9-42A9-BADE-58FC6BFC91E4}" srcOrd="4" destOrd="0" presId="urn:microsoft.com/office/officeart/2018/2/layout/IconVerticalSolidList"/>
    <dgm:cxn modelId="{B4BE624B-160C-4EC0-8C11-7EDA73F423A8}" type="presParOf" srcId="{AD08D603-CEF9-42A9-BADE-58FC6BFC91E4}" destId="{6059618C-22E5-4087-AEA2-203377ED367E}" srcOrd="0" destOrd="0" presId="urn:microsoft.com/office/officeart/2018/2/layout/IconVerticalSolidList"/>
    <dgm:cxn modelId="{81D29E5F-437D-4DB6-B834-17DB2DB5B6A5}" type="presParOf" srcId="{AD08D603-CEF9-42A9-BADE-58FC6BFC91E4}" destId="{B86D91FD-46F7-4576-BEFB-41BE00F45727}" srcOrd="1" destOrd="0" presId="urn:microsoft.com/office/officeart/2018/2/layout/IconVerticalSolidList"/>
    <dgm:cxn modelId="{11AFCB18-9217-4013-81B8-C85DF7F9DFD2}" type="presParOf" srcId="{AD08D603-CEF9-42A9-BADE-58FC6BFC91E4}" destId="{66EC9D1E-5696-47C6-9225-673D8AB60CDF}" srcOrd="2" destOrd="0" presId="urn:microsoft.com/office/officeart/2018/2/layout/IconVerticalSolidList"/>
    <dgm:cxn modelId="{32E6549D-6620-4073-A856-C4D7F9E8DC01}" type="presParOf" srcId="{AD08D603-CEF9-42A9-BADE-58FC6BFC91E4}" destId="{3A13B3DB-8FEF-4920-B3AC-6C85478ADEAF}" srcOrd="3" destOrd="0" presId="urn:microsoft.com/office/officeart/2018/2/layout/IconVerticalSolidList"/>
    <dgm:cxn modelId="{531F07EE-CAF0-476A-80C4-40F5F29D1792}" type="presParOf" srcId="{1AAEE889-D14B-4932-88E0-F98CF6BEFB9D}" destId="{EEEF19F0-042E-425A-B853-8A276B8C63E6}" srcOrd="5" destOrd="0" presId="urn:microsoft.com/office/officeart/2018/2/layout/IconVerticalSolidList"/>
    <dgm:cxn modelId="{01C202B6-5A44-4E0E-8B24-6AE165B1FE2A}" type="presParOf" srcId="{1AAEE889-D14B-4932-88E0-F98CF6BEFB9D}" destId="{54CDC900-51E6-4EA8-A747-3C4FFC39B02F}" srcOrd="6" destOrd="0" presId="urn:microsoft.com/office/officeart/2018/2/layout/IconVerticalSolidList"/>
    <dgm:cxn modelId="{21E4F590-052A-49CF-9675-B03E83F386B6}" type="presParOf" srcId="{54CDC900-51E6-4EA8-A747-3C4FFC39B02F}" destId="{F366F9E3-CE6B-417A-847D-24FF523D1100}" srcOrd="0" destOrd="0" presId="urn:microsoft.com/office/officeart/2018/2/layout/IconVerticalSolidList"/>
    <dgm:cxn modelId="{209E2854-2C15-41A0-9CFC-0E986BC17763}" type="presParOf" srcId="{54CDC900-51E6-4EA8-A747-3C4FFC39B02F}" destId="{CEC53E4B-515C-4C25-AE11-DA1DD6DBA15A}" srcOrd="1" destOrd="0" presId="urn:microsoft.com/office/officeart/2018/2/layout/IconVerticalSolidList"/>
    <dgm:cxn modelId="{3A870306-9D0F-4ABD-BABB-96D65A2340DF}" type="presParOf" srcId="{54CDC900-51E6-4EA8-A747-3C4FFC39B02F}" destId="{31EF9ED8-BC1C-489F-BD4D-5EBA3D9B93BF}" srcOrd="2" destOrd="0" presId="urn:microsoft.com/office/officeart/2018/2/layout/IconVerticalSolidList"/>
    <dgm:cxn modelId="{A2C4BD98-B214-4730-9C7A-8B30AD830938}" type="presParOf" srcId="{54CDC900-51E6-4EA8-A747-3C4FFC39B02F}" destId="{3E58F316-F7EF-4EB5-A6DD-4238B21ABB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262C4F-EC99-4D22-8C60-22AE793BEAF4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72846-F419-4425-A263-043AD8A32B2A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AFDED-8745-4850-901C-BD79D87FDF00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User &amp; Authentication Management – Secure login with JWT. </a:t>
          </a:r>
        </a:p>
      </dsp:txBody>
      <dsp:txXfrm>
        <a:off x="1058686" y="1808"/>
        <a:ext cx="6828013" cy="916611"/>
      </dsp:txXfrm>
    </dsp:sp>
    <dsp:sp modelId="{2EB69AB6-9EA0-4056-8A66-AE874B06FF4E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92FEC-07B8-41BF-8BCC-57D21D4D87E9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D6FB2-B8C3-4913-95AA-4407C9B2BF6E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Product Management – Add, update, and categorize products. </a:t>
          </a:r>
        </a:p>
      </dsp:txBody>
      <dsp:txXfrm>
        <a:off x="1058686" y="1147573"/>
        <a:ext cx="6828013" cy="916611"/>
      </dsp:txXfrm>
    </dsp:sp>
    <dsp:sp modelId="{6059618C-22E5-4087-AEA2-203377ED367E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6D91FD-46F7-4576-BEFB-41BE00F45727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3B3DB-8FEF-4920-B3AC-6C85478ADEAF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Stock Monitoring – Tracks stock levels and updates quantity. </a:t>
          </a:r>
        </a:p>
      </dsp:txBody>
      <dsp:txXfrm>
        <a:off x="1058686" y="2293338"/>
        <a:ext cx="6828013" cy="916611"/>
      </dsp:txXfrm>
    </dsp:sp>
    <dsp:sp modelId="{F366F9E3-CE6B-417A-847D-24FF523D1100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53E4B-515C-4C25-AE11-DA1DD6DBA15A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8F316-F7EF-4EB5-A6DD-4238B21ABBE6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Reports &amp; Notifications – Auto‑generate reports and send email alerts. </a:t>
          </a:r>
        </a:p>
      </dsp:txBody>
      <dsp:txXfrm>
        <a:off x="1058686" y="3439103"/>
        <a:ext cx="68280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300"/>
              <a:t>Inventra – Inventory Stock Management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Meaning of the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Meaning of “Inventra”</a:t>
            </a:r>
          </a:p>
          <a:p>
            <a:r>
              <a:rPr lang="en-US" sz="2100">
                <a:ea typeface="+mn-lt"/>
                <a:cs typeface="+mn-lt"/>
              </a:rPr>
              <a:t>“Inven” → Inventory</a:t>
            </a:r>
            <a:endParaRPr lang="en-US" sz="2100"/>
          </a:p>
          <a:p>
            <a:r>
              <a:rPr lang="en-US" sz="2100">
                <a:ea typeface="+mn-lt"/>
                <a:cs typeface="+mn-lt"/>
              </a:rPr>
              <a:t>“tra” → Tracking / Management</a:t>
            </a:r>
            <a:endParaRPr lang="en-US" sz="2100"/>
          </a:p>
          <a:p>
            <a:r>
              <a:rPr lang="en-US" sz="2100">
                <a:ea typeface="+mn-lt"/>
                <a:cs typeface="+mn-lt"/>
              </a:rPr>
              <a:t>Represents a smart platform for </a:t>
            </a:r>
            <a:r>
              <a:rPr lang="en-US" sz="2100" b="1">
                <a:ea typeface="+mn-lt"/>
                <a:cs typeface="+mn-lt"/>
              </a:rPr>
              <a:t>automated stock control</a:t>
            </a:r>
            <a:endParaRPr lang="en-US" sz="2100"/>
          </a:p>
          <a:p>
            <a:r>
              <a:rPr lang="en-US" sz="2100">
                <a:ea typeface="+mn-lt"/>
                <a:cs typeface="+mn-lt"/>
              </a:rPr>
              <a:t>Reduces manual work &amp; minimizes errors</a:t>
            </a:r>
            <a:endParaRPr lang="en-US" sz="2100"/>
          </a:p>
          <a:p>
            <a:r>
              <a:rPr lang="en-US" sz="2100">
                <a:ea typeface="+mn-lt"/>
                <a:cs typeface="+mn-lt"/>
              </a:rPr>
              <a:t>Provides </a:t>
            </a:r>
            <a:r>
              <a:rPr lang="en-US" sz="2100" b="1">
                <a:ea typeface="+mn-lt"/>
                <a:cs typeface="+mn-lt"/>
              </a:rPr>
              <a:t>real-time visibility</a:t>
            </a:r>
            <a:r>
              <a:rPr lang="en-US" sz="2100">
                <a:ea typeface="+mn-lt"/>
                <a:cs typeface="+mn-lt"/>
              </a:rPr>
              <a:t> of stock levels</a:t>
            </a:r>
            <a:endParaRPr lang="en-US" sz="2100"/>
          </a:p>
          <a:p>
            <a:r>
              <a:rPr lang="en-US" sz="2100">
                <a:ea typeface="+mn-lt"/>
                <a:cs typeface="+mn-lt"/>
              </a:rPr>
              <a:t>Helps organizations make </a:t>
            </a:r>
            <a:r>
              <a:rPr lang="en-US" sz="2100" b="1">
                <a:ea typeface="+mn-lt"/>
                <a:cs typeface="+mn-lt"/>
              </a:rPr>
              <a:t>faster decisions</a:t>
            </a:r>
          </a:p>
          <a:p>
            <a:endParaRPr lang="en-US" sz="21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Existing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/>
              <a:t> Inventory is recorded manually using books or spreadsheets.</a:t>
            </a:r>
          </a:p>
          <a:p>
            <a:r>
              <a:rPr lang="en-US" sz="2100"/>
              <a:t> High chances of human errors during entry and updates.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/>
              <a:t> No centralized system for multiple users.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/>
              <a:t> Difficult to identify shortages or excess stock quickly.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/>
              <a:t> Reports take time as they are prepared manually.</a:t>
            </a:r>
            <a:endParaRPr lang="en-US" sz="21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Proposed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>
                <a:ea typeface="+mn-lt"/>
                <a:cs typeface="+mn-lt"/>
              </a:rPr>
              <a:t>A </a:t>
            </a:r>
            <a:r>
              <a:rPr lang="en-US" sz="1900" b="1">
                <a:ea typeface="+mn-lt"/>
                <a:cs typeface="+mn-lt"/>
              </a:rPr>
              <a:t>web-based inventory management system</a:t>
            </a:r>
            <a:r>
              <a:rPr lang="en-US" sz="1900">
                <a:ea typeface="+mn-lt"/>
                <a:cs typeface="+mn-lt"/>
              </a:rPr>
              <a:t> with centralized control and real-time updates.</a:t>
            </a:r>
            <a:endParaRPr lang="en-US">
              <a:ea typeface="+mn-lt"/>
              <a:cs typeface="+mn-lt"/>
            </a:endParaRPr>
          </a:p>
          <a:p>
            <a:r>
              <a:rPr lang="en-US" b="1"/>
              <a:t>Key Features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Secure user login &amp; registration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Automatic stock updates</a:t>
            </a:r>
            <a:endParaRPr lang="en-US">
              <a:ea typeface="+mn-lt"/>
              <a:cs typeface="+mn-lt"/>
            </a:endParaRPr>
          </a:p>
          <a:p>
            <a:r>
              <a:rPr lang="en-US" sz="1900">
                <a:ea typeface="+mn-lt"/>
                <a:cs typeface="+mn-lt"/>
              </a:rPr>
              <a:t>Product &amp; supplier management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Low-stock alerts &amp; email notifications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Includes admin &amp; staff roles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Report generation made easy</a:t>
            </a:r>
            <a:endParaRPr lang="en-US"/>
          </a:p>
          <a:p>
            <a:endParaRPr lang="en-US" sz="19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9C8D0-CFE6-4B4A-B33C-92E00963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>
                <a:ea typeface="Calibri"/>
                <a:cs typeface="Calibri"/>
              </a:rPr>
              <a:t>Modules in the proposed system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DFEC1B-B7A8-95AF-31E2-BA5D3BC753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749884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511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System Configuration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/>
              <a:t>Frontend: React, CSS, Bootstrap</a:t>
            </a:r>
          </a:p>
          <a:p>
            <a:r>
              <a:rPr lang="en-US" sz="2100"/>
              <a:t>Backend: Spring Boot</a:t>
            </a:r>
          </a:p>
          <a:p>
            <a:r>
              <a:rPr lang="en-US" sz="2100"/>
              <a:t>Database: MySQL / SQLite</a:t>
            </a:r>
          </a:p>
          <a:p>
            <a:r>
              <a:rPr lang="en-US" sz="2100"/>
              <a:t>Authentication: JWT Token Based Security</a:t>
            </a:r>
          </a:p>
          <a:p>
            <a:r>
              <a:rPr lang="en-US" sz="2100"/>
              <a:t>Notification Engine: Email via SMTP</a:t>
            </a:r>
          </a:p>
          <a:p>
            <a:r>
              <a:rPr lang="en-US" sz="2100"/>
              <a:t>IDE : Visual Studio Code (VS Code)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Module 1 – User &amp; Authentication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b="1"/>
              <a:t>Purpose of the Module</a:t>
            </a:r>
            <a:r>
              <a:rPr lang="en-US" sz="1800"/>
              <a:t>: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sz="1800"/>
              <a:t>Allows users to register and securely log in.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/>
              <a:t>Uses JWT to ensure only authenticated users can access the system.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/>
              <a:t>Implements role-based access (Admin / Staff).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/>
              <a:t>Sends welcome or notification emails to users when needed.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2400" b="1"/>
              <a:t>Role of Each Class</a:t>
            </a:r>
            <a:r>
              <a:rPr lang="en-US" sz="1800"/>
              <a:t>: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/>
              <a:t>User – Stores personal details, login info, and user role.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 err="1"/>
              <a:t>UserController</a:t>
            </a:r>
            <a:r>
              <a:rPr lang="en-US" sz="1800"/>
              <a:t> – Handles API requests from the frontend.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 err="1"/>
              <a:t>AuthService</a:t>
            </a:r>
            <a:r>
              <a:rPr lang="en-US" sz="1800"/>
              <a:t> – Verifies login credentials and generates JWT tokens.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 err="1"/>
              <a:t>UserRepository</a:t>
            </a:r>
            <a:r>
              <a:rPr lang="en-US" sz="1800"/>
              <a:t> – Performs database operations for users.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 err="1"/>
              <a:t>JwtUtil</a:t>
            </a:r>
            <a:r>
              <a:rPr lang="en-US" sz="1800"/>
              <a:t> – Creates and validates secure JWT tokens.</a:t>
            </a:r>
            <a:endParaRPr lang="en-US" sz="18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 err="1"/>
              <a:t>EmailService</a:t>
            </a:r>
            <a:r>
              <a:rPr lang="en-US" sz="1800"/>
              <a:t> – Sends email notifications to users.</a:t>
            </a:r>
            <a:endParaRPr lang="en-US" sz="1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38ABC-5602-DCB0-2307-1E434B6B9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  <a:ea typeface="Calibri"/>
                <a:cs typeface="Calibri"/>
              </a:rPr>
              <a:t>Class respresentations</a:t>
            </a:r>
            <a:endParaRPr lang="en-US" sz="35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44F9D-8592-B35D-9E82-81EAA054A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32" y="2289229"/>
            <a:ext cx="7410669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100">
                <a:ea typeface="+mn-lt"/>
                <a:cs typeface="+mn-lt"/>
              </a:rPr>
              <a:t>class User {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Long </a:t>
            </a:r>
            <a:r>
              <a:rPr lang="en-US" sz="2100" err="1">
                <a:ea typeface="+mn-lt"/>
                <a:cs typeface="+mn-lt"/>
              </a:rPr>
              <a:t>userId</a:t>
            </a:r>
            <a:r>
              <a:rPr lang="en-US" sz="2100">
                <a:ea typeface="+mn-lt"/>
                <a:cs typeface="+mn-lt"/>
              </a:rPr>
              <a:t>;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String name;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String email;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String password;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String role;        // ADMIN / STAFF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Boolean </a:t>
            </a:r>
            <a:r>
              <a:rPr lang="en-US" sz="2100" err="1">
                <a:ea typeface="+mn-lt"/>
                <a:cs typeface="+mn-lt"/>
              </a:rPr>
              <a:t>isActive</a:t>
            </a:r>
            <a:r>
              <a:rPr lang="en-US" sz="2100">
                <a:ea typeface="+mn-lt"/>
                <a:cs typeface="+mn-lt"/>
              </a:rPr>
              <a:t>;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}</a:t>
            </a:r>
            <a:endParaRPr lang="en-US"/>
          </a:p>
          <a:p>
            <a:pPr>
              <a:buNone/>
            </a:pPr>
            <a:endParaRPr lang="en-US" sz="2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006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64E25-07D4-E0DA-92DF-C92716302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  <a:ea typeface="Calibri"/>
                <a:cs typeface="Calibri"/>
              </a:rPr>
              <a:t>  </a:t>
            </a:r>
            <a:endParaRPr lang="en-US" sz="35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5A87E-2B4D-5A59-20E3-E46C946C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class </a:t>
            </a:r>
            <a:r>
              <a:rPr lang="en-US" sz="2100" err="1">
                <a:ea typeface="+mn-lt"/>
                <a:cs typeface="+mn-lt"/>
              </a:rPr>
              <a:t>UserController</a:t>
            </a:r>
            <a:r>
              <a:rPr lang="en-US" sz="2100">
                <a:ea typeface="+mn-lt"/>
                <a:cs typeface="+mn-lt"/>
              </a:rPr>
              <a:t> {</a:t>
            </a:r>
          </a:p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     User register(User user);</a:t>
            </a:r>
          </a:p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    String login(String email, String password);</a:t>
            </a:r>
            <a:endParaRPr lang="en-US" sz="21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}</a:t>
            </a:r>
            <a:endParaRPr lang="en-US" sz="2100">
              <a:ea typeface="Calibri"/>
              <a:cs typeface="Calibri"/>
            </a:endParaRPr>
          </a:p>
          <a:p>
            <a:pPr marL="0" indent="0">
              <a:buNone/>
            </a:pPr>
            <a:endParaRPr lang="en-US" sz="2100">
              <a:ea typeface="+mn-lt"/>
              <a:cs typeface="+mn-lt"/>
            </a:endParaRPr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class </a:t>
            </a:r>
            <a:r>
              <a:rPr lang="en-US" sz="2100" err="1">
                <a:ea typeface="+mn-lt"/>
                <a:cs typeface="+mn-lt"/>
              </a:rPr>
              <a:t>AuthService</a:t>
            </a:r>
            <a:r>
              <a:rPr lang="en-US" sz="2100">
                <a:ea typeface="+mn-lt"/>
                <a:cs typeface="+mn-lt"/>
              </a:rPr>
              <a:t> {</a:t>
            </a:r>
            <a:endParaRPr lang="en-US" sz="2100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User register(User user);</a:t>
            </a:r>
            <a:endParaRPr lang="en-US" sz="2100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String authenticate(String email, String password);</a:t>
            </a:r>
            <a:endParaRPr lang="en-US" sz="2100"/>
          </a:p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}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869263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74644-F5FA-EE12-889A-70FB8ACE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  <a:ea typeface="Calibri"/>
                <a:cs typeface="Calibri"/>
              </a:rPr>
              <a:t>  </a:t>
            </a:r>
            <a:endParaRPr lang="en-US" sz="35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CBFC7-B88D-01F8-65A3-B75A7D497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2100">
                <a:ea typeface="+mn-lt"/>
                <a:cs typeface="+mn-lt"/>
              </a:rPr>
              <a:t>class </a:t>
            </a:r>
            <a:r>
              <a:rPr lang="en-US" sz="2100" err="1">
                <a:ea typeface="+mn-lt"/>
                <a:cs typeface="+mn-lt"/>
              </a:rPr>
              <a:t>UserRepository</a:t>
            </a:r>
            <a:r>
              <a:rPr lang="en-US" sz="2100">
                <a:ea typeface="+mn-lt"/>
                <a:cs typeface="+mn-lt"/>
              </a:rPr>
              <a:t> {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User </a:t>
            </a:r>
            <a:r>
              <a:rPr lang="en-US" sz="2100" err="1">
                <a:ea typeface="+mn-lt"/>
                <a:cs typeface="+mn-lt"/>
              </a:rPr>
              <a:t>findByEmail</a:t>
            </a:r>
            <a:r>
              <a:rPr lang="en-US" sz="2100">
                <a:ea typeface="+mn-lt"/>
                <a:cs typeface="+mn-lt"/>
              </a:rPr>
              <a:t>(String email);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void save(User user);</a:t>
            </a:r>
            <a:endParaRPr lang="en-US"/>
          </a:p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}</a:t>
            </a:r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class </a:t>
            </a:r>
            <a:r>
              <a:rPr lang="en-US" sz="2100" err="1">
                <a:ea typeface="+mn-lt"/>
                <a:cs typeface="+mn-lt"/>
              </a:rPr>
              <a:t>JwtUtil</a:t>
            </a:r>
            <a:r>
              <a:rPr lang="en-US" sz="2100">
                <a:ea typeface="+mn-lt"/>
                <a:cs typeface="+mn-lt"/>
              </a:rPr>
              <a:t> {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String </a:t>
            </a:r>
            <a:r>
              <a:rPr lang="en-US" sz="2100" err="1">
                <a:ea typeface="+mn-lt"/>
                <a:cs typeface="+mn-lt"/>
              </a:rPr>
              <a:t>generateToken</a:t>
            </a:r>
            <a:r>
              <a:rPr lang="en-US" sz="2100">
                <a:ea typeface="+mn-lt"/>
                <a:cs typeface="+mn-lt"/>
              </a:rPr>
              <a:t>(String email, String role);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Boolean </a:t>
            </a:r>
            <a:r>
              <a:rPr lang="en-US" sz="2100" err="1">
                <a:ea typeface="+mn-lt"/>
                <a:cs typeface="+mn-lt"/>
              </a:rPr>
              <a:t>validateToken</a:t>
            </a:r>
            <a:r>
              <a:rPr lang="en-US" sz="2100">
                <a:ea typeface="+mn-lt"/>
                <a:cs typeface="+mn-lt"/>
              </a:rPr>
              <a:t>(String token);</a:t>
            </a:r>
            <a:endParaRPr lang="en-US"/>
          </a:p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}</a:t>
            </a:r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class </a:t>
            </a:r>
            <a:r>
              <a:rPr lang="en-US" sz="2100" err="1">
                <a:ea typeface="+mn-lt"/>
                <a:cs typeface="+mn-lt"/>
              </a:rPr>
              <a:t>EmailService</a:t>
            </a:r>
            <a:r>
              <a:rPr lang="en-US" sz="2100">
                <a:ea typeface="+mn-lt"/>
                <a:cs typeface="+mn-lt"/>
              </a:rPr>
              <a:t> {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void </a:t>
            </a:r>
            <a:r>
              <a:rPr lang="en-US" sz="2100" err="1">
                <a:ea typeface="+mn-lt"/>
                <a:cs typeface="+mn-lt"/>
              </a:rPr>
              <a:t>sendWelcomeEmail</a:t>
            </a:r>
            <a:r>
              <a:rPr lang="en-US" sz="2100">
                <a:ea typeface="+mn-lt"/>
                <a:cs typeface="+mn-lt"/>
              </a:rPr>
              <a:t>(User user);</a:t>
            </a:r>
            <a:endParaRPr lang="en-US"/>
          </a:p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01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Database Schema – Module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378" y="2346739"/>
            <a:ext cx="7827612" cy="41609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100">
                <a:ea typeface="+mn-lt"/>
                <a:cs typeface="+mn-lt"/>
              </a:rPr>
              <a:t>CREATE TABLE users (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</a:t>
            </a:r>
            <a:r>
              <a:rPr lang="en-US" sz="2100" err="1">
                <a:ea typeface="+mn-lt"/>
                <a:cs typeface="+mn-lt"/>
              </a:rPr>
              <a:t>user_id</a:t>
            </a:r>
            <a:r>
              <a:rPr lang="en-US" sz="2100">
                <a:ea typeface="+mn-lt"/>
                <a:cs typeface="+mn-lt"/>
              </a:rPr>
              <a:t>     BIGINT PRIMARY KEY AUTO_INCREMENT,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name        VARCHAR(100) NOT NULL,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email       VARCHAR(100) NOT NULL UNIQUE,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password    VARCHAR(255) NOT NULL,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role        VARCHAR(20) NOT NULL,         -- ADMIN / STAFF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    </a:t>
            </a:r>
            <a:r>
              <a:rPr lang="en-US" sz="2100" err="1">
                <a:ea typeface="+mn-lt"/>
                <a:cs typeface="+mn-lt"/>
              </a:rPr>
              <a:t>is_active</a:t>
            </a:r>
            <a:r>
              <a:rPr lang="en-US" sz="2100">
                <a:ea typeface="+mn-lt"/>
                <a:cs typeface="+mn-lt"/>
              </a:rPr>
              <a:t>   BOOLEAN DEFAULT TRUE</a:t>
            </a:r>
            <a:endParaRPr lang="en-US"/>
          </a:p>
          <a:p>
            <a:pPr>
              <a:buNone/>
            </a:pPr>
            <a:r>
              <a:rPr lang="en-US" sz="2100">
                <a:ea typeface="+mn-lt"/>
                <a:cs typeface="+mn-lt"/>
              </a:rPr>
              <a:t>);</a:t>
            </a:r>
            <a:endParaRPr lang="en-US"/>
          </a:p>
          <a:p>
            <a:pPr marL="0" indent="0">
              <a:buNone/>
            </a:pPr>
            <a:endParaRPr lang="en-US" sz="21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5287" y="0"/>
            <a:ext cx="633870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280888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9ABFD-DDBF-2390-5BDA-BAC2C468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9" y="637762"/>
            <a:ext cx="1643086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3100" dirty="0">
                <a:solidFill>
                  <a:schemeClr val="bg1"/>
                </a:solidFill>
                <a:ea typeface="Calibri"/>
                <a:cs typeface="Calibri"/>
              </a:rPr>
              <a:t>Pseudo Code</a:t>
            </a:r>
            <a:br>
              <a:rPr lang="en-US" sz="3100" dirty="0">
                <a:solidFill>
                  <a:schemeClr val="bg1"/>
                </a:solidFill>
                <a:ea typeface="Calibri"/>
                <a:cs typeface="Calibri"/>
              </a:rPr>
            </a:br>
            <a:r>
              <a:rPr lang="en-US" sz="3100" dirty="0">
                <a:solidFill>
                  <a:schemeClr val="bg1"/>
                </a:solidFill>
                <a:ea typeface="Calibri"/>
                <a:cs typeface="Calibri"/>
              </a:rPr>
              <a:t>for sign up /</a:t>
            </a:r>
            <a:br>
              <a:rPr lang="en-US" sz="3100" dirty="0">
                <a:solidFill>
                  <a:schemeClr val="bg1"/>
                </a:solidFill>
                <a:ea typeface="Calibri"/>
                <a:cs typeface="Calibri"/>
              </a:rPr>
            </a:br>
            <a:r>
              <a:rPr lang="en-US" sz="3100" dirty="0">
                <a:solidFill>
                  <a:schemeClr val="bg1"/>
                </a:solidFill>
                <a:ea typeface="Calibri"/>
                <a:cs typeface="Calibri"/>
              </a:rPr>
              <a:t>register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049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224C-65A3-989B-1FEE-F58425EED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049" y="850052"/>
            <a:ext cx="4792967" cy="532691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BEGIN SignUp</a:t>
            </a:r>
            <a:endParaRPr lang="en-US" sz="13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INPUT name, email, password, role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IF email exists in database THEN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RETURN "User already registered"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END IF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encryptedPassword ← encrypt(password)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CREATE User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user.name ← name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user.email ← email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user.password ← encryptedPassword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user.role ← role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user.isActive ← TRUE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SAVE user in database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CALL SendWelcomeEmail(user.email)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RETURN "Registration successful"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END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9679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5287" y="0"/>
            <a:ext cx="633870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280888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CD498-A56E-494A-52E3-2234B374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9" y="637762"/>
            <a:ext cx="1643086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3100">
                <a:solidFill>
                  <a:schemeClr val="bg1"/>
                </a:solidFill>
                <a:ea typeface="Calibri"/>
                <a:cs typeface="Calibri"/>
              </a:rPr>
              <a:t>Login</a:t>
            </a:r>
            <a:endParaRPr lang="en-US" sz="310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049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79607-24D7-AE65-B781-77786DF3A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049" y="850052"/>
            <a:ext cx="4792967" cy="532691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BEGIN Login</a:t>
            </a:r>
            <a:endParaRPr lang="en-US" sz="13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INPUT email, password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user ← FIND user by email from database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IF user does not exist THEN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RETURN "Invalid email or password"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END IF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IF user.isActive = FALSE THEN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RETURN "Account is disabled"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END IF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IF password does not match encrypted password THEN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     RETURN "Invalid email or password"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END IF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token ← GENERATE JWT token using email and role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    RETURN token</a:t>
            </a:r>
            <a:endParaRPr lang="en-US" sz="1300"/>
          </a:p>
          <a:p>
            <a:pPr>
              <a:lnSpc>
                <a:spcPct val="90000"/>
              </a:lnSpc>
            </a:pPr>
            <a:r>
              <a:rPr lang="en-US" sz="1300">
                <a:ea typeface="+mn-lt"/>
                <a:cs typeface="+mn-lt"/>
              </a:rPr>
              <a:t>END</a:t>
            </a:r>
            <a:endParaRPr lang="en-US" sz="1300"/>
          </a:p>
          <a:p>
            <a:pPr>
              <a:lnSpc>
                <a:spcPct val="90000"/>
              </a:lnSpc>
            </a:pPr>
            <a:endParaRPr lang="en-US" sz="13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848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5287" y="0"/>
            <a:ext cx="633870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280888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ED269-9824-7FC9-D74F-EB312470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9" y="637762"/>
            <a:ext cx="1643086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2900">
                <a:solidFill>
                  <a:schemeClr val="bg1"/>
                </a:solidFill>
                <a:ea typeface="Calibri"/>
                <a:cs typeface="Calibri"/>
              </a:rPr>
              <a:t>Forget password</a:t>
            </a:r>
            <a:endParaRPr lang="en-US" sz="290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049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1AE4-129D-F64A-AF57-E1FB1466E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049" y="850052"/>
            <a:ext cx="4792967" cy="532691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BEGIN ForgotPassword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INPUT email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user ← FIND user by email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IF user does not exist THEN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     RETURN "Email not registered"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END IF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resetToken ← GENERATE secure random token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expiryTime ← currentTime + 15 minutes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SAVE resetToken and expiryTime in database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SEND reset password link to user email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RETURN "Reset link sent to email"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END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857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5287" y="0"/>
            <a:ext cx="633870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280888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B555F6-56EA-5965-B984-A8AB6B9CE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9" y="637762"/>
            <a:ext cx="1643086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2900">
                <a:solidFill>
                  <a:schemeClr val="bg1"/>
                </a:solidFill>
                <a:ea typeface="Calibri"/>
                <a:cs typeface="Calibri"/>
              </a:rPr>
              <a:t>Reset password</a:t>
            </a:r>
            <a:endParaRPr lang="en-US" sz="29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049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6013C-F964-ED8F-1550-67457DB5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049" y="850052"/>
            <a:ext cx="4792967" cy="532691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BEGIN ResetPassword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ea typeface="+mn-lt"/>
                <a:cs typeface="+mn-lt"/>
              </a:rPr>
              <a:t>    INPUT </a:t>
            </a:r>
            <a:r>
              <a:rPr lang="en-US" sz="1600" dirty="0" err="1">
                <a:ea typeface="+mn-lt"/>
                <a:cs typeface="+mn-lt"/>
              </a:rPr>
              <a:t>resetToken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newPassword</a:t>
            </a:r>
            <a:endParaRPr lang="en-US" sz="1600" dirty="0" err="1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 dirty="0">
                <a:ea typeface="+mn-lt"/>
                <a:cs typeface="+mn-lt"/>
              </a:rPr>
              <a:t>    user ← FIND user by </a:t>
            </a:r>
            <a:r>
              <a:rPr lang="en-US" sz="1600" dirty="0" err="1">
                <a:ea typeface="+mn-lt"/>
                <a:cs typeface="+mn-lt"/>
              </a:rPr>
              <a:t>resetToken</a:t>
            </a:r>
            <a:endParaRPr lang="en-US" sz="1600" dirty="0" err="1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 dirty="0">
                <a:ea typeface="+mn-lt"/>
                <a:cs typeface="+mn-lt"/>
              </a:rPr>
              <a:t>    IF </a:t>
            </a:r>
            <a:r>
              <a:rPr lang="en-US" sz="1600" dirty="0" err="1">
                <a:ea typeface="+mn-lt"/>
                <a:cs typeface="+mn-lt"/>
              </a:rPr>
              <a:t>resetToken</a:t>
            </a:r>
            <a:r>
              <a:rPr lang="en-US" sz="1600" dirty="0">
                <a:ea typeface="+mn-lt"/>
                <a:cs typeface="+mn-lt"/>
              </a:rPr>
              <a:t> is invalid OR expired THEN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     RETURN "Invalid or expired token"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END IF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encryptedPassword ← encrypt(newPassword)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UPDATE user.password ← encryptedPassword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REMOVE resetToken from database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    RETURN "Password reset successful"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END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502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FB865-3F6F-819E-833C-1AE82F30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  <a:ea typeface="Calibri"/>
                <a:cs typeface="Calibri"/>
              </a:rPr>
              <a:t>Welcome email</a:t>
            </a:r>
            <a:endParaRPr lang="en-US" sz="35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2FD9D-113D-B54E-C6BD-FCD77D795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00">
                <a:ea typeface="+mn-lt"/>
                <a:cs typeface="+mn-lt"/>
              </a:rPr>
              <a:t>BEGIN SendWelcomeEmail</a:t>
            </a:r>
            <a:endParaRPr lang="en-US" sz="2100">
              <a:ea typeface="Calibri"/>
              <a:cs typeface="Calibri"/>
            </a:endParaRPr>
          </a:p>
          <a:p>
            <a:r>
              <a:rPr lang="en-US" sz="2100">
                <a:ea typeface="+mn-lt"/>
                <a:cs typeface="+mn-lt"/>
              </a:rPr>
              <a:t>    INPUT email</a:t>
            </a:r>
            <a:endParaRPr lang="en-US" sz="2100"/>
          </a:p>
          <a:p>
            <a:endParaRPr lang="en-US" sz="2100"/>
          </a:p>
          <a:p>
            <a:r>
              <a:rPr lang="en-US" sz="2100">
                <a:ea typeface="+mn-lt"/>
                <a:cs typeface="+mn-lt"/>
              </a:rPr>
              <a:t>    emailContent ← "Welcome to Inventra Inventory Management System"</a:t>
            </a:r>
            <a:endParaRPr lang="en-US" sz="2100"/>
          </a:p>
          <a:p>
            <a:endParaRPr lang="en-US" sz="2100"/>
          </a:p>
          <a:p>
            <a:r>
              <a:rPr lang="en-US" sz="2100">
                <a:ea typeface="+mn-lt"/>
                <a:cs typeface="+mn-lt"/>
              </a:rPr>
              <a:t>    SEND email to user with emailContent</a:t>
            </a:r>
            <a:endParaRPr lang="en-US" sz="2100"/>
          </a:p>
          <a:p>
            <a:endParaRPr lang="en-US" sz="2100"/>
          </a:p>
          <a:p>
            <a:r>
              <a:rPr lang="en-US" sz="2100">
                <a:ea typeface="+mn-lt"/>
                <a:cs typeface="+mn-lt"/>
              </a:rPr>
              <a:t>    RETURN "Welcome email sent"</a:t>
            </a:r>
            <a:endParaRPr lang="en-US" sz="2100"/>
          </a:p>
          <a:p>
            <a:r>
              <a:rPr lang="en-US" sz="2100">
                <a:ea typeface="+mn-lt"/>
                <a:cs typeface="+mn-lt"/>
              </a:rPr>
              <a:t>END</a:t>
            </a:r>
            <a:endParaRPr lang="en-US" sz="2100"/>
          </a:p>
          <a:p>
            <a:endParaRPr lang="en-US" sz="2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50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Presented by: Nagamani Mannempalli</a:t>
            </a:r>
            <a:endParaRPr lang="en-US" sz="1700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24" name="Graphic 23" descr="Smiling Face with No Fill">
            <a:extLst>
              <a:ext uri="{FF2B5EF4-FFF2-40B4-BE49-F238E27FC236}">
                <a16:creationId xmlns:a16="http://schemas.microsoft.com/office/drawing/2014/main" id="{89943C62-3F00-AE2D-1713-37730CC9E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Inventra – Inventory Stock Management System</vt:lpstr>
      <vt:lpstr>Meaning of the Title</vt:lpstr>
      <vt:lpstr>Existing System</vt:lpstr>
      <vt:lpstr>Proposed System</vt:lpstr>
      <vt:lpstr>Modules in the proposed system</vt:lpstr>
      <vt:lpstr>System Configuration</vt:lpstr>
      <vt:lpstr>Module 1 – User &amp; Authentication Management</vt:lpstr>
      <vt:lpstr>Class respresentations</vt:lpstr>
      <vt:lpstr>  </vt:lpstr>
      <vt:lpstr>  </vt:lpstr>
      <vt:lpstr>Database Schema – Module 1</vt:lpstr>
      <vt:lpstr>Pseudo Code for sign up / register</vt:lpstr>
      <vt:lpstr>Login</vt:lpstr>
      <vt:lpstr>Forget password</vt:lpstr>
      <vt:lpstr>Reset password</vt:lpstr>
      <vt:lpstr>Welcome email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171</cp:revision>
  <dcterms:created xsi:type="dcterms:W3CDTF">2013-01-27T09:14:16Z</dcterms:created>
  <dcterms:modified xsi:type="dcterms:W3CDTF">2026-02-03T03:51:50Z</dcterms:modified>
  <cp:category/>
</cp:coreProperties>
</file>