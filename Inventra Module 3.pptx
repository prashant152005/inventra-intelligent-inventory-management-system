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5143500" cx="9144000"/>
  <p:notesSz cx="6858000" cy="9144000"/>
  <p:embeddedFontLst>
    <p:embeddedFont>
      <p:font typeface="Roboto Mono"/>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5CE79E3-E71B-416C-A28F-E6886D8B84EE}">
  <a:tblStyle styleId="{B5CE79E3-E71B-416C-A28F-E6886D8B84E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RobotoMono-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Mono-italic.fntdata"/><Relationship Id="rId30" Type="http://schemas.openxmlformats.org/officeDocument/2006/relationships/font" Target="fonts/RobotoMono-bold.fntdata"/><Relationship Id="rId11" Type="http://schemas.openxmlformats.org/officeDocument/2006/relationships/slide" Target="slides/slide5.xml"/><Relationship Id="rId10" Type="http://schemas.openxmlformats.org/officeDocument/2006/relationships/slide" Target="slides/slide4.xml"/><Relationship Id="rId32" Type="http://schemas.openxmlformats.org/officeDocument/2006/relationships/font" Target="fonts/RobotoMono-bold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ad0b86558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ad0b86558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ad0b865585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ad0b865585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ad0b865585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ad0b865585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ad0b865585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ad0b865585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ad0b865585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ad0b865585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ad0b865585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ad0b865585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aaf61eaa7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aaf61eaa7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b3540edd5a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b3540edd5a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b3540edd5a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b3540edd5a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b3540edd5a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b3540edd5a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b3540edd5a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b3540edd5a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b3540edd5a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b3540edd5a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aaf61eaa7a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aaf61eaa7a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b3540edd5a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b3540edd5a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b3540edd5a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b3540edd5a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b3540edd5a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b3540edd5a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b29d3a5342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b29d3a5342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b29d3a534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b29d3a534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b29d3a5342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b29d3a5342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b29d3a5342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b29d3a5342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aaf61eaa7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aaf61eaa7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2.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1073550" y="207447"/>
            <a:ext cx="7301700" cy="1404600"/>
          </a:xfrm>
          <a:prstGeom prst="rect">
            <a:avLst/>
          </a:prstGeom>
        </p:spPr>
        <p:txBody>
          <a:bodyPr anchorCtr="0" anchor="b" bIns="91425" lIns="91425" spcFirstLastPara="1" rIns="91425" wrap="square" tIns="91425">
            <a:normAutofit/>
          </a:bodyPr>
          <a:lstStyle/>
          <a:p>
            <a:pPr indent="0" lvl="0" marL="0" rtl="0" algn="ctr">
              <a:lnSpc>
                <a:spcPct val="100000"/>
              </a:lnSpc>
              <a:spcBef>
                <a:spcPts val="0"/>
              </a:spcBef>
              <a:spcAft>
                <a:spcPts val="0"/>
              </a:spcAft>
              <a:buNone/>
            </a:pPr>
            <a:r>
              <a:rPr lang="en" sz="4800">
                <a:latin typeface="Times New Roman"/>
                <a:ea typeface="Times New Roman"/>
                <a:cs typeface="Times New Roman"/>
                <a:sym typeface="Times New Roman"/>
              </a:rPr>
              <a:t>Inventra</a:t>
            </a:r>
            <a:r>
              <a:rPr lang="en" sz="3600">
                <a:latin typeface="Times New Roman"/>
                <a:ea typeface="Times New Roman"/>
                <a:cs typeface="Times New Roman"/>
                <a:sym typeface="Times New Roman"/>
              </a:rPr>
              <a:t> </a:t>
            </a:r>
            <a:endParaRPr sz="3600">
              <a:latin typeface="Times New Roman"/>
              <a:ea typeface="Times New Roman"/>
              <a:cs typeface="Times New Roman"/>
              <a:sym typeface="Times New Roman"/>
            </a:endParaRPr>
          </a:p>
          <a:p>
            <a:pPr indent="0" lvl="0" marL="0" rtl="0" algn="ctr">
              <a:lnSpc>
                <a:spcPct val="100000"/>
              </a:lnSpc>
              <a:spcBef>
                <a:spcPts val="0"/>
              </a:spcBef>
              <a:spcAft>
                <a:spcPts val="0"/>
              </a:spcAft>
              <a:buNone/>
            </a:pPr>
            <a:r>
              <a:rPr lang="en" sz="3155">
                <a:latin typeface="Times New Roman"/>
                <a:ea typeface="Times New Roman"/>
                <a:cs typeface="Times New Roman"/>
                <a:sym typeface="Times New Roman"/>
              </a:rPr>
              <a:t>Intelligent Inventory Management System</a:t>
            </a:r>
            <a:endParaRPr sz="3155">
              <a:latin typeface="Times New Roman"/>
              <a:ea typeface="Times New Roman"/>
              <a:cs typeface="Times New Roman"/>
              <a:sym typeface="Times New Roman"/>
            </a:endParaRPr>
          </a:p>
        </p:txBody>
      </p:sp>
      <p:sp>
        <p:nvSpPr>
          <p:cNvPr id="55" name="Google Shape;55;p13"/>
          <p:cNvSpPr txBox="1"/>
          <p:nvPr>
            <p:ph idx="1" type="subTitle"/>
          </p:nvPr>
        </p:nvSpPr>
        <p:spPr>
          <a:xfrm>
            <a:off x="135400" y="1672171"/>
            <a:ext cx="8852100" cy="2020200"/>
          </a:xfrm>
          <a:prstGeom prst="rect">
            <a:avLst/>
          </a:prstGeom>
        </p:spPr>
        <p:txBody>
          <a:bodyPr anchorCtr="0" anchor="t" bIns="91425" lIns="91425" spcFirstLastPara="1" rIns="91425" wrap="square" tIns="91425">
            <a:noAutofit/>
          </a:bodyPr>
          <a:lstStyle/>
          <a:p>
            <a:pPr indent="-344805" lvl="0" marL="457200" rtl="0" algn="just">
              <a:lnSpc>
                <a:spcPct val="150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Inventra is a smart inventory management system designed to manage products, users, and stock efficiently.</a:t>
            </a:r>
            <a:endParaRPr sz="1829">
              <a:latin typeface="Times New Roman"/>
              <a:ea typeface="Times New Roman"/>
              <a:cs typeface="Times New Roman"/>
              <a:sym typeface="Times New Roman"/>
            </a:endParaRPr>
          </a:p>
          <a:p>
            <a:pPr indent="-344805" lvl="0" marL="457200" rtl="0" algn="just">
              <a:lnSpc>
                <a:spcPct val="150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It automates inventory tracking, reduces human error, and improves operational efficiency.</a:t>
            </a:r>
            <a:endParaRPr sz="1829">
              <a:latin typeface="Times New Roman"/>
              <a:ea typeface="Times New Roman"/>
              <a:cs typeface="Times New Roman"/>
              <a:sym typeface="Times New Roman"/>
            </a:endParaRPr>
          </a:p>
          <a:p>
            <a:pPr indent="-344805" lvl="0" marL="457200" rtl="0" algn="just">
              <a:lnSpc>
                <a:spcPct val="150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The system is modular and scalable, making it suitable for retail, warehouse, and enterprise use.</a:t>
            </a:r>
            <a:endParaRPr sz="1829">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ctrTitle"/>
          </p:nvPr>
        </p:nvSpPr>
        <p:spPr>
          <a:xfrm>
            <a:off x="1085275" y="-880633"/>
            <a:ext cx="7301700" cy="166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155">
                <a:latin typeface="Times New Roman"/>
                <a:ea typeface="Times New Roman"/>
                <a:cs typeface="Times New Roman"/>
                <a:sym typeface="Times New Roman"/>
              </a:rPr>
              <a:t>Meaning of “Inventra”</a:t>
            </a:r>
            <a:endParaRPr sz="3155">
              <a:latin typeface="Times New Roman"/>
              <a:ea typeface="Times New Roman"/>
              <a:cs typeface="Times New Roman"/>
              <a:sym typeface="Times New Roman"/>
            </a:endParaRPr>
          </a:p>
        </p:txBody>
      </p:sp>
      <p:sp>
        <p:nvSpPr>
          <p:cNvPr id="61" name="Google Shape;61;p14"/>
          <p:cNvSpPr txBox="1"/>
          <p:nvPr>
            <p:ph idx="1" type="subTitle"/>
          </p:nvPr>
        </p:nvSpPr>
        <p:spPr>
          <a:xfrm>
            <a:off x="548650" y="1045364"/>
            <a:ext cx="9144000" cy="3731700"/>
          </a:xfrm>
          <a:prstGeom prst="rect">
            <a:avLst/>
          </a:prstGeom>
        </p:spPr>
        <p:txBody>
          <a:bodyPr anchorCtr="0" anchor="t" bIns="91425" lIns="91425" spcFirstLastPara="1" rIns="91425" wrap="square" tIns="91425">
            <a:noAutofit/>
          </a:bodyPr>
          <a:lstStyle/>
          <a:p>
            <a:pPr indent="-344805" lvl="0" marL="457200" rtl="0" algn="just">
              <a:lnSpc>
                <a:spcPct val="200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Inventra = Inventory + Intelligence</a:t>
            </a:r>
            <a:endParaRPr sz="1829">
              <a:latin typeface="Times New Roman"/>
              <a:ea typeface="Times New Roman"/>
              <a:cs typeface="Times New Roman"/>
              <a:sym typeface="Times New Roman"/>
            </a:endParaRPr>
          </a:p>
          <a:p>
            <a:pPr indent="-344805" lvl="0" marL="457200" rtl="0" algn="just">
              <a:lnSpc>
                <a:spcPct val="200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Represents a modern inventory ecosystem enhanced with:</a:t>
            </a:r>
            <a:endParaRPr sz="1829">
              <a:latin typeface="Times New Roman"/>
              <a:ea typeface="Times New Roman"/>
              <a:cs typeface="Times New Roman"/>
              <a:sym typeface="Times New Roman"/>
            </a:endParaRPr>
          </a:p>
          <a:p>
            <a:pPr indent="-344805" lvl="1" marL="914400" rtl="0" algn="just">
              <a:lnSpc>
                <a:spcPct val="200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Automation.</a:t>
            </a:r>
            <a:endParaRPr sz="1829">
              <a:latin typeface="Times New Roman"/>
              <a:ea typeface="Times New Roman"/>
              <a:cs typeface="Times New Roman"/>
              <a:sym typeface="Times New Roman"/>
            </a:endParaRPr>
          </a:p>
          <a:p>
            <a:pPr indent="-344805" lvl="1" marL="914400" rtl="0" algn="just">
              <a:lnSpc>
                <a:spcPct val="200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Forecasting with proper dashboard.</a:t>
            </a:r>
            <a:endParaRPr sz="1829">
              <a:latin typeface="Times New Roman"/>
              <a:ea typeface="Times New Roman"/>
              <a:cs typeface="Times New Roman"/>
              <a:sym typeface="Times New Roman"/>
            </a:endParaRPr>
          </a:p>
          <a:p>
            <a:pPr indent="-344805" lvl="1" marL="914400" rtl="0" algn="just">
              <a:lnSpc>
                <a:spcPct val="200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Smart decision assistance.</a:t>
            </a:r>
            <a:endParaRPr sz="1829">
              <a:latin typeface="Times New Roman"/>
              <a:ea typeface="Times New Roman"/>
              <a:cs typeface="Times New Roman"/>
              <a:sym typeface="Times New Roman"/>
            </a:endParaRPr>
          </a:p>
          <a:p>
            <a:pPr indent="-344805" lvl="1" marL="914400" rtl="0" algn="just">
              <a:lnSpc>
                <a:spcPct val="200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Focuses on reducing human effort and improving stock accuracy.</a:t>
            </a:r>
            <a:endParaRPr sz="1829">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ctrTitle"/>
          </p:nvPr>
        </p:nvSpPr>
        <p:spPr>
          <a:xfrm>
            <a:off x="1085275" y="-850111"/>
            <a:ext cx="7301700" cy="166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155">
                <a:latin typeface="Times New Roman"/>
                <a:ea typeface="Times New Roman"/>
                <a:cs typeface="Times New Roman"/>
                <a:sym typeface="Times New Roman"/>
              </a:rPr>
              <a:t>Proposed System</a:t>
            </a:r>
            <a:endParaRPr sz="3155">
              <a:latin typeface="Times New Roman"/>
              <a:ea typeface="Times New Roman"/>
              <a:cs typeface="Times New Roman"/>
              <a:sym typeface="Times New Roman"/>
            </a:endParaRPr>
          </a:p>
        </p:txBody>
      </p:sp>
      <p:sp>
        <p:nvSpPr>
          <p:cNvPr id="67" name="Google Shape;67;p15"/>
          <p:cNvSpPr txBox="1"/>
          <p:nvPr>
            <p:ph idx="1" type="subTitle"/>
          </p:nvPr>
        </p:nvSpPr>
        <p:spPr>
          <a:xfrm>
            <a:off x="647125" y="976325"/>
            <a:ext cx="8146500" cy="4075800"/>
          </a:xfrm>
          <a:prstGeom prst="rect">
            <a:avLst/>
          </a:prstGeom>
        </p:spPr>
        <p:txBody>
          <a:bodyPr anchorCtr="0" anchor="t" bIns="91425" lIns="91425" spcFirstLastPara="1" rIns="91425" wrap="square" tIns="91425">
            <a:noAutofit/>
          </a:bodyPr>
          <a:lstStyle/>
          <a:p>
            <a:pPr indent="-344805" lvl="0" marL="457200" rtl="0" algn="just">
              <a:lnSpc>
                <a:spcPct val="200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Inventra – Smart Inventory Management</a:t>
            </a:r>
            <a:endParaRPr sz="1829">
              <a:latin typeface="Times New Roman"/>
              <a:ea typeface="Times New Roman"/>
              <a:cs typeface="Times New Roman"/>
              <a:sym typeface="Times New Roman"/>
            </a:endParaRPr>
          </a:p>
          <a:p>
            <a:pPr indent="-344805" lvl="0" marL="457200" rtl="0" algn="just">
              <a:lnSpc>
                <a:spcPct val="200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System Overview</a:t>
            </a:r>
            <a:endParaRPr sz="1829">
              <a:latin typeface="Times New Roman"/>
              <a:ea typeface="Times New Roman"/>
              <a:cs typeface="Times New Roman"/>
              <a:sym typeface="Times New Roman"/>
            </a:endParaRPr>
          </a:p>
          <a:p>
            <a:pPr indent="-344805" lvl="1" marL="914400" rtl="0" algn="just">
              <a:lnSpc>
                <a:spcPct val="150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Centralized inventory management system</a:t>
            </a:r>
            <a:endParaRPr sz="1829">
              <a:latin typeface="Times New Roman"/>
              <a:ea typeface="Times New Roman"/>
              <a:cs typeface="Times New Roman"/>
              <a:sym typeface="Times New Roman"/>
            </a:endParaRPr>
          </a:p>
          <a:p>
            <a:pPr indent="-344805" lvl="1" marL="914400" rtl="0" algn="just">
              <a:lnSpc>
                <a:spcPct val="150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Secure user authentication</a:t>
            </a:r>
            <a:endParaRPr sz="1829">
              <a:latin typeface="Times New Roman"/>
              <a:ea typeface="Times New Roman"/>
              <a:cs typeface="Times New Roman"/>
              <a:sym typeface="Times New Roman"/>
            </a:endParaRPr>
          </a:p>
          <a:p>
            <a:pPr indent="-344805" lvl="1" marL="914400" rtl="0" algn="just">
              <a:lnSpc>
                <a:spcPct val="150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Role-based access control</a:t>
            </a:r>
            <a:endParaRPr sz="1829">
              <a:latin typeface="Times New Roman"/>
              <a:ea typeface="Times New Roman"/>
              <a:cs typeface="Times New Roman"/>
              <a:sym typeface="Times New Roman"/>
            </a:endParaRPr>
          </a:p>
          <a:p>
            <a:pPr indent="-344805" lvl="1" marL="914400" rtl="0" algn="just">
              <a:lnSpc>
                <a:spcPct val="150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Real-time stock updates</a:t>
            </a:r>
            <a:endParaRPr sz="1829">
              <a:latin typeface="Times New Roman"/>
              <a:ea typeface="Times New Roman"/>
              <a:cs typeface="Times New Roman"/>
              <a:sym typeface="Times New Roman"/>
            </a:endParaRPr>
          </a:p>
          <a:p>
            <a:pPr indent="-344805" lvl="1" marL="914400" rtl="0" algn="just">
              <a:lnSpc>
                <a:spcPct val="150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Modular architecture for easy expansion</a:t>
            </a:r>
            <a:endParaRPr sz="1829">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ctrTitle"/>
          </p:nvPr>
        </p:nvSpPr>
        <p:spPr>
          <a:xfrm>
            <a:off x="1085275" y="-939918"/>
            <a:ext cx="7301700" cy="166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155">
                <a:latin typeface="Times New Roman"/>
                <a:ea typeface="Times New Roman"/>
                <a:cs typeface="Times New Roman"/>
                <a:sym typeface="Times New Roman"/>
              </a:rPr>
              <a:t>Proposed System</a:t>
            </a:r>
            <a:endParaRPr sz="3155">
              <a:latin typeface="Times New Roman"/>
              <a:ea typeface="Times New Roman"/>
              <a:cs typeface="Times New Roman"/>
              <a:sym typeface="Times New Roman"/>
            </a:endParaRPr>
          </a:p>
        </p:txBody>
      </p:sp>
      <p:sp>
        <p:nvSpPr>
          <p:cNvPr id="73" name="Google Shape;73;p16"/>
          <p:cNvSpPr txBox="1"/>
          <p:nvPr>
            <p:ph idx="1" type="subTitle"/>
          </p:nvPr>
        </p:nvSpPr>
        <p:spPr>
          <a:xfrm>
            <a:off x="248250" y="647007"/>
            <a:ext cx="8718900" cy="3610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n" sz="1829">
                <a:latin typeface="Times New Roman"/>
                <a:ea typeface="Times New Roman"/>
                <a:cs typeface="Times New Roman"/>
                <a:sym typeface="Times New Roman"/>
              </a:rPr>
              <a:t>Modules of Invetra:</a:t>
            </a:r>
            <a:endParaRPr sz="1829">
              <a:latin typeface="Times New Roman"/>
              <a:ea typeface="Times New Roman"/>
              <a:cs typeface="Times New Roman"/>
              <a:sym typeface="Times New Roman"/>
            </a:endParaRPr>
          </a:p>
          <a:p>
            <a:pPr indent="-344805" lvl="0" marL="914400" rtl="0" algn="just">
              <a:lnSpc>
                <a:spcPct val="115000"/>
              </a:lnSpc>
              <a:spcBef>
                <a:spcPts val="0"/>
              </a:spcBef>
              <a:spcAft>
                <a:spcPts val="0"/>
              </a:spcAft>
              <a:buSzPts val="1830"/>
              <a:buFont typeface="Times New Roman"/>
              <a:buAutoNum type="arabicPeriod"/>
            </a:pPr>
            <a:r>
              <a:rPr b="1" lang="en" sz="1829">
                <a:latin typeface="Times New Roman"/>
                <a:ea typeface="Times New Roman"/>
                <a:cs typeface="Times New Roman"/>
                <a:sym typeface="Times New Roman"/>
              </a:rPr>
              <a:t>Authentication : </a:t>
            </a:r>
            <a:r>
              <a:rPr lang="en" sz="1829">
                <a:latin typeface="Times New Roman"/>
                <a:ea typeface="Times New Roman"/>
                <a:cs typeface="Times New Roman"/>
                <a:sym typeface="Times New Roman"/>
              </a:rPr>
              <a:t>Login, token generation, role validation.</a:t>
            </a:r>
            <a:endParaRPr sz="1829">
              <a:latin typeface="Times New Roman"/>
              <a:ea typeface="Times New Roman"/>
              <a:cs typeface="Times New Roman"/>
              <a:sym typeface="Times New Roman"/>
            </a:endParaRPr>
          </a:p>
          <a:p>
            <a:pPr indent="-344805" lvl="0" marL="914400" rtl="0" algn="just">
              <a:lnSpc>
                <a:spcPct val="115000"/>
              </a:lnSpc>
              <a:spcBef>
                <a:spcPts val="0"/>
              </a:spcBef>
              <a:spcAft>
                <a:spcPts val="0"/>
              </a:spcAft>
              <a:buSzPts val="1830"/>
              <a:buFont typeface="Times New Roman"/>
              <a:buAutoNum type="arabicPeriod"/>
            </a:pPr>
            <a:r>
              <a:rPr b="1" lang="en" sz="1829">
                <a:latin typeface="Times New Roman"/>
                <a:ea typeface="Times New Roman"/>
                <a:cs typeface="Times New Roman"/>
                <a:sym typeface="Times New Roman"/>
              </a:rPr>
              <a:t>Product / Inventory Management : </a:t>
            </a:r>
            <a:r>
              <a:rPr lang="en" sz="1829">
                <a:latin typeface="Times New Roman"/>
                <a:ea typeface="Times New Roman"/>
                <a:cs typeface="Times New Roman"/>
                <a:sym typeface="Times New Roman"/>
              </a:rPr>
              <a:t>Add, update, remove items, track stock levels. </a:t>
            </a:r>
            <a:r>
              <a:rPr lang="en" sz="1829">
                <a:latin typeface="Times New Roman"/>
                <a:ea typeface="Times New Roman"/>
                <a:cs typeface="Times New Roman"/>
                <a:sym typeface="Times New Roman"/>
              </a:rPr>
              <a:t>Store supplier details, purchase history. </a:t>
            </a:r>
            <a:endParaRPr sz="1829">
              <a:latin typeface="Times New Roman"/>
              <a:ea typeface="Times New Roman"/>
              <a:cs typeface="Times New Roman"/>
              <a:sym typeface="Times New Roman"/>
            </a:endParaRPr>
          </a:p>
          <a:p>
            <a:pPr indent="-344805" lvl="0" marL="914400" rtl="0" algn="just">
              <a:lnSpc>
                <a:spcPct val="115000"/>
              </a:lnSpc>
              <a:spcBef>
                <a:spcPts val="0"/>
              </a:spcBef>
              <a:spcAft>
                <a:spcPts val="0"/>
              </a:spcAft>
              <a:buSzPts val="1830"/>
              <a:buFont typeface="Times New Roman"/>
              <a:buAutoNum type="arabicPeriod"/>
            </a:pPr>
            <a:r>
              <a:rPr b="1" lang="en" sz="1829">
                <a:latin typeface="Times New Roman"/>
                <a:ea typeface="Times New Roman"/>
                <a:cs typeface="Times New Roman"/>
                <a:sym typeface="Times New Roman"/>
              </a:rPr>
              <a:t>Inventory Alerts : </a:t>
            </a:r>
            <a:r>
              <a:rPr lang="en" sz="1829">
                <a:latin typeface="Times New Roman"/>
                <a:ea typeface="Times New Roman"/>
                <a:cs typeface="Times New Roman"/>
                <a:sym typeface="Times New Roman"/>
              </a:rPr>
              <a:t>Automated alerts for Low stock, Expiry near, Fast and slow moving items. </a:t>
            </a:r>
            <a:endParaRPr sz="1829">
              <a:latin typeface="Times New Roman"/>
              <a:ea typeface="Times New Roman"/>
              <a:cs typeface="Times New Roman"/>
              <a:sym typeface="Times New Roman"/>
            </a:endParaRPr>
          </a:p>
          <a:p>
            <a:pPr indent="-344805" lvl="0" marL="914400" rtl="0" algn="just">
              <a:lnSpc>
                <a:spcPct val="115000"/>
              </a:lnSpc>
              <a:spcBef>
                <a:spcPts val="0"/>
              </a:spcBef>
              <a:spcAft>
                <a:spcPts val="0"/>
              </a:spcAft>
              <a:buSzPts val="1830"/>
              <a:buFont typeface="Times New Roman"/>
              <a:buAutoNum type="arabicPeriod"/>
            </a:pPr>
            <a:r>
              <a:rPr b="1" lang="en" sz="1829">
                <a:latin typeface="Times New Roman"/>
                <a:ea typeface="Times New Roman"/>
                <a:cs typeface="Times New Roman"/>
                <a:sym typeface="Times New Roman"/>
              </a:rPr>
              <a:t>Reports and Analytics :</a:t>
            </a:r>
            <a:r>
              <a:rPr lang="en" sz="1829">
                <a:latin typeface="Times New Roman"/>
                <a:ea typeface="Times New Roman"/>
                <a:cs typeface="Times New Roman"/>
                <a:sym typeface="Times New Roman"/>
              </a:rPr>
              <a:t> Provides charts, insights, predictions. </a:t>
            </a:r>
            <a:r>
              <a:rPr lang="en" sz="1829">
                <a:latin typeface="Times New Roman"/>
                <a:ea typeface="Times New Roman"/>
                <a:cs typeface="Times New Roman"/>
                <a:sym typeface="Times New Roman"/>
              </a:rPr>
              <a:t>Records outgoing &amp; incoming stock.</a:t>
            </a:r>
            <a:endParaRPr sz="1829">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t/>
            </a:r>
            <a:endParaRPr sz="1829">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lang="en" sz="1829">
                <a:latin typeface="Times New Roman"/>
                <a:ea typeface="Times New Roman"/>
                <a:cs typeface="Times New Roman"/>
                <a:sym typeface="Times New Roman"/>
              </a:rPr>
              <a:t>Modules Covered in This Presentation</a:t>
            </a:r>
            <a:endParaRPr sz="1829">
              <a:latin typeface="Times New Roman"/>
              <a:ea typeface="Times New Roman"/>
              <a:cs typeface="Times New Roman"/>
              <a:sym typeface="Times New Roman"/>
            </a:endParaRPr>
          </a:p>
          <a:p>
            <a:pPr indent="-344805" lvl="0" marL="914400" rtl="0" algn="just">
              <a:lnSpc>
                <a:spcPct val="115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Module 1 – Authentication</a:t>
            </a:r>
            <a:endParaRPr sz="1829">
              <a:latin typeface="Times New Roman"/>
              <a:ea typeface="Times New Roman"/>
              <a:cs typeface="Times New Roman"/>
              <a:sym typeface="Times New Roman"/>
            </a:endParaRPr>
          </a:p>
          <a:p>
            <a:pPr indent="-344805" lvl="0" marL="914400" rtl="0" algn="just">
              <a:lnSpc>
                <a:spcPct val="115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 Module 2 – Product / Inventory Management</a:t>
            </a:r>
            <a:endParaRPr sz="1829">
              <a:latin typeface="Times New Roman"/>
              <a:ea typeface="Times New Roman"/>
              <a:cs typeface="Times New Roman"/>
              <a:sym typeface="Times New Roman"/>
            </a:endParaRPr>
          </a:p>
          <a:p>
            <a:pPr indent="0" lvl="0" marL="1828800" rtl="0" algn="just">
              <a:lnSpc>
                <a:spcPct val="115000"/>
              </a:lnSpc>
              <a:spcBef>
                <a:spcPts val="0"/>
              </a:spcBef>
              <a:spcAft>
                <a:spcPts val="0"/>
              </a:spcAft>
              <a:buNone/>
            </a:pPr>
            <a:r>
              <a:t/>
            </a:r>
            <a:endParaRPr sz="1829">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ctrTitle"/>
          </p:nvPr>
        </p:nvSpPr>
        <p:spPr>
          <a:xfrm>
            <a:off x="1085275" y="-735811"/>
            <a:ext cx="7301700" cy="166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155">
                <a:latin typeface="Times New Roman"/>
                <a:ea typeface="Times New Roman"/>
                <a:cs typeface="Times New Roman"/>
                <a:sym typeface="Times New Roman"/>
              </a:rPr>
              <a:t>System Configuration</a:t>
            </a:r>
            <a:endParaRPr sz="3155">
              <a:latin typeface="Times New Roman"/>
              <a:ea typeface="Times New Roman"/>
              <a:cs typeface="Times New Roman"/>
              <a:sym typeface="Times New Roman"/>
            </a:endParaRPr>
          </a:p>
        </p:txBody>
      </p:sp>
      <p:sp>
        <p:nvSpPr>
          <p:cNvPr id="79" name="Google Shape;79;p17"/>
          <p:cNvSpPr txBox="1"/>
          <p:nvPr>
            <p:ph idx="1" type="subTitle"/>
          </p:nvPr>
        </p:nvSpPr>
        <p:spPr>
          <a:xfrm>
            <a:off x="610614" y="915265"/>
            <a:ext cx="8647500" cy="3610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b="1" lang="en" sz="1829">
                <a:latin typeface="Times New Roman"/>
                <a:ea typeface="Times New Roman"/>
                <a:cs typeface="Times New Roman"/>
                <a:sym typeface="Times New Roman"/>
              </a:rPr>
              <a:t>Software Requirements: </a:t>
            </a:r>
            <a:endParaRPr b="1" sz="1829">
              <a:latin typeface="Times New Roman"/>
              <a:ea typeface="Times New Roman"/>
              <a:cs typeface="Times New Roman"/>
              <a:sym typeface="Times New Roman"/>
            </a:endParaRPr>
          </a:p>
          <a:p>
            <a:pPr indent="-344805" lvl="0" marL="914400" rtl="0" algn="just">
              <a:lnSpc>
                <a:spcPct val="150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Frontend : React.js</a:t>
            </a:r>
            <a:endParaRPr sz="1829">
              <a:latin typeface="Times New Roman"/>
              <a:ea typeface="Times New Roman"/>
              <a:cs typeface="Times New Roman"/>
              <a:sym typeface="Times New Roman"/>
            </a:endParaRPr>
          </a:p>
          <a:p>
            <a:pPr indent="-344805" lvl="0" marL="914400" rtl="0" algn="just">
              <a:lnSpc>
                <a:spcPct val="150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Backend : Java Springboot</a:t>
            </a:r>
            <a:endParaRPr sz="1829">
              <a:latin typeface="Times New Roman"/>
              <a:ea typeface="Times New Roman"/>
              <a:cs typeface="Times New Roman"/>
              <a:sym typeface="Times New Roman"/>
            </a:endParaRPr>
          </a:p>
          <a:p>
            <a:pPr indent="-344805" lvl="0" marL="914400" rtl="0" algn="just">
              <a:lnSpc>
                <a:spcPct val="150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Database : MySQL / MongoDB</a:t>
            </a:r>
            <a:endParaRPr sz="1829">
              <a:latin typeface="Times New Roman"/>
              <a:ea typeface="Times New Roman"/>
              <a:cs typeface="Times New Roman"/>
              <a:sym typeface="Times New Roman"/>
            </a:endParaRPr>
          </a:p>
          <a:p>
            <a:pPr indent="-344805" lvl="0" marL="914400" rtl="0" algn="just">
              <a:lnSpc>
                <a:spcPct val="150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Security :  JWT Authentication / Role-based Access</a:t>
            </a:r>
            <a:endParaRPr sz="1829">
              <a:latin typeface="Times New Roman"/>
              <a:ea typeface="Times New Roman"/>
              <a:cs typeface="Times New Roman"/>
              <a:sym typeface="Times New Roman"/>
            </a:endParaRPr>
          </a:p>
          <a:p>
            <a:pPr indent="0" lvl="0" marL="0" rtl="0" algn="just">
              <a:lnSpc>
                <a:spcPct val="150000"/>
              </a:lnSpc>
              <a:spcBef>
                <a:spcPts val="0"/>
              </a:spcBef>
              <a:spcAft>
                <a:spcPts val="0"/>
              </a:spcAft>
              <a:buNone/>
            </a:pPr>
            <a:r>
              <a:rPr b="1" lang="en" sz="1829">
                <a:latin typeface="Times New Roman"/>
                <a:ea typeface="Times New Roman"/>
                <a:cs typeface="Times New Roman"/>
                <a:sym typeface="Times New Roman"/>
              </a:rPr>
              <a:t>Hardware Requirements:</a:t>
            </a:r>
            <a:endParaRPr sz="1829">
              <a:latin typeface="Times New Roman"/>
              <a:ea typeface="Times New Roman"/>
              <a:cs typeface="Times New Roman"/>
              <a:sym typeface="Times New Roman"/>
            </a:endParaRPr>
          </a:p>
          <a:p>
            <a:pPr indent="-344805" lvl="0" marL="914400" rtl="0" algn="just">
              <a:lnSpc>
                <a:spcPct val="150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Minimum 8GB RAM</a:t>
            </a:r>
            <a:endParaRPr sz="1829">
              <a:latin typeface="Times New Roman"/>
              <a:ea typeface="Times New Roman"/>
              <a:cs typeface="Times New Roman"/>
              <a:sym typeface="Times New Roman"/>
            </a:endParaRPr>
          </a:p>
          <a:p>
            <a:pPr indent="-344805" lvl="0" marL="914400" rtl="0" algn="just">
              <a:lnSpc>
                <a:spcPct val="150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Multi-core processor</a:t>
            </a:r>
            <a:endParaRPr sz="1829">
              <a:latin typeface="Times New Roman"/>
              <a:ea typeface="Times New Roman"/>
              <a:cs typeface="Times New Roman"/>
              <a:sym typeface="Times New Roman"/>
            </a:endParaRPr>
          </a:p>
          <a:p>
            <a:pPr indent="-344805" lvl="0" marL="914400" rtl="0" algn="just">
              <a:lnSpc>
                <a:spcPct val="150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Stable server for hosting backend</a:t>
            </a:r>
            <a:endParaRPr sz="1829">
              <a:latin typeface="Times New Roman"/>
              <a:ea typeface="Times New Roman"/>
              <a:cs typeface="Times New Roman"/>
              <a:sym typeface="Times New Roman"/>
            </a:endParaRPr>
          </a:p>
          <a:p>
            <a:pPr indent="0" lvl="0" marL="1828800" rtl="0" algn="just">
              <a:lnSpc>
                <a:spcPct val="115000"/>
              </a:lnSpc>
              <a:spcBef>
                <a:spcPts val="0"/>
              </a:spcBef>
              <a:spcAft>
                <a:spcPts val="0"/>
              </a:spcAft>
              <a:buNone/>
            </a:pPr>
            <a:r>
              <a:t/>
            </a:r>
            <a:endParaRPr sz="1829">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ctrTitle"/>
          </p:nvPr>
        </p:nvSpPr>
        <p:spPr>
          <a:xfrm>
            <a:off x="1085275" y="-735811"/>
            <a:ext cx="7301700" cy="166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155">
                <a:latin typeface="Times New Roman"/>
                <a:ea typeface="Times New Roman"/>
                <a:cs typeface="Times New Roman"/>
                <a:sym typeface="Times New Roman"/>
              </a:rPr>
              <a:t>Module 1: Authentication Module</a:t>
            </a:r>
            <a:endParaRPr sz="3155">
              <a:latin typeface="Times New Roman"/>
              <a:ea typeface="Times New Roman"/>
              <a:cs typeface="Times New Roman"/>
              <a:sym typeface="Times New Roman"/>
            </a:endParaRPr>
          </a:p>
        </p:txBody>
      </p:sp>
      <p:sp>
        <p:nvSpPr>
          <p:cNvPr id="85" name="Google Shape;85;p18"/>
          <p:cNvSpPr txBox="1"/>
          <p:nvPr>
            <p:ph idx="1" type="subTitle"/>
          </p:nvPr>
        </p:nvSpPr>
        <p:spPr>
          <a:xfrm>
            <a:off x="248250" y="924970"/>
            <a:ext cx="8613300" cy="29715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lang="en" sz="1829">
                <a:latin typeface="Times New Roman"/>
                <a:ea typeface="Times New Roman"/>
                <a:cs typeface="Times New Roman"/>
                <a:sym typeface="Times New Roman"/>
              </a:rPr>
              <a:t>This module ensures that only authorized users can access the system. It manages login, logout, user roles, and security tokens.</a:t>
            </a:r>
            <a:endParaRPr sz="1829">
              <a:latin typeface="Times New Roman"/>
              <a:ea typeface="Times New Roman"/>
              <a:cs typeface="Times New Roman"/>
              <a:sym typeface="Times New Roman"/>
            </a:endParaRPr>
          </a:p>
          <a:p>
            <a:pPr indent="0" lvl="0" marL="0" rtl="0" algn="just">
              <a:lnSpc>
                <a:spcPct val="150000"/>
              </a:lnSpc>
              <a:spcBef>
                <a:spcPts val="0"/>
              </a:spcBef>
              <a:spcAft>
                <a:spcPts val="0"/>
              </a:spcAft>
              <a:buNone/>
            </a:pPr>
            <a:r>
              <a:rPr b="1" lang="en" sz="1829">
                <a:latin typeface="Times New Roman"/>
                <a:ea typeface="Times New Roman"/>
                <a:cs typeface="Times New Roman"/>
                <a:sym typeface="Times New Roman"/>
              </a:rPr>
              <a:t>Classes:</a:t>
            </a:r>
            <a:endParaRPr b="1" sz="1829">
              <a:latin typeface="Times New Roman"/>
              <a:ea typeface="Times New Roman"/>
              <a:cs typeface="Times New Roman"/>
              <a:sym typeface="Times New Roman"/>
            </a:endParaRPr>
          </a:p>
          <a:p>
            <a:pPr indent="-344805" lvl="0" marL="914400" rtl="0" algn="just">
              <a:lnSpc>
                <a:spcPct val="115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AuthController 	:- Receives requests from UI</a:t>
            </a:r>
            <a:endParaRPr sz="1829">
              <a:latin typeface="Times New Roman"/>
              <a:ea typeface="Times New Roman"/>
              <a:cs typeface="Times New Roman"/>
              <a:sym typeface="Times New Roman"/>
            </a:endParaRPr>
          </a:p>
          <a:p>
            <a:pPr indent="457200" lvl="0" marL="2286000" rtl="0" algn="just">
              <a:lnSpc>
                <a:spcPct val="115000"/>
              </a:lnSpc>
              <a:spcBef>
                <a:spcPts val="0"/>
              </a:spcBef>
              <a:spcAft>
                <a:spcPts val="0"/>
              </a:spcAft>
              <a:buNone/>
            </a:pPr>
            <a:r>
              <a:rPr lang="en" sz="1829">
                <a:latin typeface="Times New Roman"/>
                <a:ea typeface="Times New Roman"/>
                <a:cs typeface="Times New Roman"/>
                <a:sym typeface="Times New Roman"/>
              </a:rPr>
              <a:t>:- Forwards requests to AuthService</a:t>
            </a:r>
            <a:endParaRPr sz="1829">
              <a:latin typeface="Times New Roman"/>
              <a:ea typeface="Times New Roman"/>
              <a:cs typeface="Times New Roman"/>
              <a:sym typeface="Times New Roman"/>
            </a:endParaRPr>
          </a:p>
          <a:p>
            <a:pPr indent="-344805" lvl="0" marL="914400" rtl="0" algn="just">
              <a:lnSpc>
                <a:spcPct val="115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AuthService		:- Contains authentication business logic</a:t>
            </a:r>
            <a:endParaRPr sz="1829">
              <a:latin typeface="Times New Roman"/>
              <a:ea typeface="Times New Roman"/>
              <a:cs typeface="Times New Roman"/>
              <a:sym typeface="Times New Roman"/>
            </a:endParaRPr>
          </a:p>
          <a:p>
            <a:pPr indent="457200" lvl="0" marL="2286000" rtl="0" algn="just">
              <a:lnSpc>
                <a:spcPct val="115000"/>
              </a:lnSpc>
              <a:spcBef>
                <a:spcPts val="0"/>
              </a:spcBef>
              <a:spcAft>
                <a:spcPts val="0"/>
              </a:spcAft>
              <a:buNone/>
            </a:pPr>
            <a:r>
              <a:rPr lang="en" sz="1829">
                <a:latin typeface="Times New Roman"/>
                <a:ea typeface="Times New Roman"/>
                <a:cs typeface="Times New Roman"/>
                <a:sym typeface="Times New Roman"/>
              </a:rPr>
              <a:t>:- Handles signup, login, password reset</a:t>
            </a:r>
            <a:endParaRPr sz="1829">
              <a:latin typeface="Times New Roman"/>
              <a:ea typeface="Times New Roman"/>
              <a:cs typeface="Times New Roman"/>
              <a:sym typeface="Times New Roman"/>
            </a:endParaRPr>
          </a:p>
          <a:p>
            <a:pPr indent="-344805" lvl="0" marL="914400" rtl="0" algn="just">
              <a:lnSpc>
                <a:spcPct val="115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User       			:- Stores user credentials and roles</a:t>
            </a:r>
            <a:endParaRPr sz="1829">
              <a:latin typeface="Times New Roman"/>
              <a:ea typeface="Times New Roman"/>
              <a:cs typeface="Times New Roman"/>
              <a:sym typeface="Times New Roman"/>
            </a:endParaRPr>
          </a:p>
          <a:p>
            <a:pPr indent="-344805" lvl="0" marL="914400" rtl="0" algn="just">
              <a:lnSpc>
                <a:spcPct val="115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UserRepository	:- Interacts with database</a:t>
            </a:r>
            <a:endParaRPr sz="1829">
              <a:latin typeface="Times New Roman"/>
              <a:ea typeface="Times New Roman"/>
              <a:cs typeface="Times New Roman"/>
              <a:sym typeface="Times New Roman"/>
            </a:endParaRPr>
          </a:p>
          <a:p>
            <a:pPr indent="-344805" lvl="0" marL="914400" rtl="0" algn="just">
              <a:lnSpc>
                <a:spcPct val="115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JWTUtility 		:- Generates and validates tokens</a:t>
            </a:r>
            <a:endParaRPr sz="1829">
              <a:latin typeface="Times New Roman"/>
              <a:ea typeface="Times New Roman"/>
              <a:cs typeface="Times New Roman"/>
              <a:sym typeface="Times New Roman"/>
            </a:endParaRPr>
          </a:p>
          <a:p>
            <a:pPr indent="-344805" lvl="0" marL="914400" rtl="0" algn="just">
              <a:lnSpc>
                <a:spcPct val="115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EmailService		:- Sends password reset emails</a:t>
            </a:r>
            <a:endParaRPr sz="1829">
              <a:latin typeface="Times New Roman"/>
              <a:ea typeface="Times New Roman"/>
              <a:cs typeface="Times New Roman"/>
              <a:sym typeface="Times New Roman"/>
            </a:endParaRPr>
          </a:p>
          <a:p>
            <a:pPr indent="0" lvl="0" marL="1828800" rtl="0" algn="just">
              <a:lnSpc>
                <a:spcPct val="115000"/>
              </a:lnSpc>
              <a:spcBef>
                <a:spcPts val="0"/>
              </a:spcBef>
              <a:spcAft>
                <a:spcPts val="0"/>
              </a:spcAft>
              <a:buNone/>
            </a:pPr>
            <a:r>
              <a:t/>
            </a:r>
            <a:endParaRPr sz="1829">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ctrTitle"/>
          </p:nvPr>
        </p:nvSpPr>
        <p:spPr>
          <a:xfrm>
            <a:off x="1085275" y="111119"/>
            <a:ext cx="7301700" cy="6729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155">
                <a:latin typeface="Times New Roman"/>
                <a:ea typeface="Times New Roman"/>
                <a:cs typeface="Times New Roman"/>
                <a:sym typeface="Times New Roman"/>
              </a:rPr>
              <a:t>Module 1: Authentication Module</a:t>
            </a:r>
            <a:endParaRPr sz="3155">
              <a:latin typeface="Times New Roman"/>
              <a:ea typeface="Times New Roman"/>
              <a:cs typeface="Times New Roman"/>
              <a:sym typeface="Times New Roman"/>
            </a:endParaRPr>
          </a:p>
        </p:txBody>
      </p:sp>
      <p:sp>
        <p:nvSpPr>
          <p:cNvPr id="91" name="Google Shape;91;p19"/>
          <p:cNvSpPr txBox="1"/>
          <p:nvPr>
            <p:ph idx="1" type="subTitle"/>
          </p:nvPr>
        </p:nvSpPr>
        <p:spPr>
          <a:xfrm>
            <a:off x="153000" y="822775"/>
            <a:ext cx="8613300" cy="421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b="1" lang="en" sz="1829">
                <a:latin typeface="Times New Roman"/>
                <a:ea typeface="Times New Roman"/>
                <a:cs typeface="Times New Roman"/>
                <a:sym typeface="Times New Roman"/>
              </a:rPr>
              <a:t>Database Schema</a:t>
            </a:r>
            <a:r>
              <a:rPr b="1" lang="en" sz="1829">
                <a:latin typeface="Times New Roman"/>
                <a:ea typeface="Times New Roman"/>
                <a:cs typeface="Times New Roman"/>
                <a:sym typeface="Times New Roman"/>
              </a:rPr>
              <a:t>:</a:t>
            </a:r>
            <a:endParaRPr sz="1829">
              <a:latin typeface="Times New Roman"/>
              <a:ea typeface="Times New Roman"/>
              <a:cs typeface="Times New Roman"/>
              <a:sym typeface="Times New Roman"/>
            </a:endParaRPr>
          </a:p>
        </p:txBody>
      </p:sp>
      <p:graphicFrame>
        <p:nvGraphicFramePr>
          <p:cNvPr id="92" name="Google Shape;92;p19"/>
          <p:cNvGraphicFramePr/>
          <p:nvPr/>
        </p:nvGraphicFramePr>
        <p:xfrm>
          <a:off x="538550" y="1365250"/>
          <a:ext cx="3000000" cy="3000000"/>
        </p:xfrm>
        <a:graphic>
          <a:graphicData uri="http://schemas.openxmlformats.org/drawingml/2006/table">
            <a:tbl>
              <a:tblPr>
                <a:noFill/>
                <a:tableStyleId>{B5CE79E3-E71B-416C-A28F-E6886D8B84EE}</a:tableStyleId>
              </a:tblPr>
              <a:tblGrid>
                <a:gridCol w="2032000"/>
                <a:gridCol w="2143125"/>
                <a:gridCol w="3921125"/>
              </a:tblGrid>
              <a:tr h="381000">
                <a:tc>
                  <a:txBody>
                    <a:bodyPr/>
                    <a:lstStyle/>
                    <a:p>
                      <a:pPr indent="0" lvl="0" marL="0" rtl="0" algn="ctr">
                        <a:lnSpc>
                          <a:spcPct val="115000"/>
                        </a:lnSpc>
                        <a:spcBef>
                          <a:spcPts val="0"/>
                        </a:spcBef>
                        <a:spcAft>
                          <a:spcPts val="0"/>
                        </a:spcAft>
                        <a:buNone/>
                      </a:pPr>
                      <a:r>
                        <a:rPr b="1" lang="en" sz="2200">
                          <a:latin typeface="Times New Roman"/>
                          <a:ea typeface="Times New Roman"/>
                          <a:cs typeface="Times New Roman"/>
                          <a:sym typeface="Times New Roman"/>
                        </a:rPr>
                        <a:t>Field</a:t>
                      </a:r>
                      <a:endParaRPr b="1" sz="22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b="1" lang="en" sz="2200">
                          <a:latin typeface="Times New Roman"/>
                          <a:ea typeface="Times New Roman"/>
                          <a:cs typeface="Times New Roman"/>
                          <a:sym typeface="Times New Roman"/>
                        </a:rPr>
                        <a:t>Type</a:t>
                      </a:r>
                      <a:endParaRPr b="1" sz="22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b="1" lang="en" sz="2200">
                          <a:latin typeface="Times New Roman"/>
                          <a:ea typeface="Times New Roman"/>
                          <a:cs typeface="Times New Roman"/>
                          <a:sym typeface="Times New Roman"/>
                        </a:rPr>
                        <a:t>Description</a:t>
                      </a:r>
                      <a:endParaRPr b="1" sz="2200">
                        <a:latin typeface="Times New Roman"/>
                        <a:ea typeface="Times New Roman"/>
                        <a:cs typeface="Times New Roman"/>
                        <a:sym typeface="Times New Roman"/>
                      </a:endParaRPr>
                    </a:p>
                  </a:txBody>
                  <a:tcPr marT="91425" marB="91425" marR="91425" marL="91425"/>
                </a:tc>
              </a:tr>
              <a:tr h="381000">
                <a:tc>
                  <a:txBody>
                    <a:bodyPr/>
                    <a:lstStyle/>
                    <a:p>
                      <a:pPr indent="0" lvl="0" marL="0" rtl="0" algn="ctr">
                        <a:spcBef>
                          <a:spcPts val="0"/>
                        </a:spcBef>
                        <a:spcAft>
                          <a:spcPts val="0"/>
                        </a:spcAft>
                        <a:buNone/>
                      </a:pPr>
                      <a:r>
                        <a:rPr lang="en" sz="2000">
                          <a:latin typeface="Times New Roman"/>
                          <a:ea typeface="Times New Roman"/>
                          <a:cs typeface="Times New Roman"/>
                          <a:sym typeface="Times New Roman"/>
                        </a:rPr>
                        <a:t>userid</a:t>
                      </a:r>
                      <a:endParaRPr sz="20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2000">
                          <a:latin typeface="Times New Roman"/>
                          <a:ea typeface="Times New Roman"/>
                          <a:cs typeface="Times New Roman"/>
                          <a:sym typeface="Times New Roman"/>
                        </a:rPr>
                        <a:t>Primary Key</a:t>
                      </a:r>
                      <a:endParaRPr sz="20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2000">
                          <a:latin typeface="Times New Roman"/>
                          <a:ea typeface="Times New Roman"/>
                          <a:cs typeface="Times New Roman"/>
                          <a:sym typeface="Times New Roman"/>
                        </a:rPr>
                        <a:t>Unique user ID</a:t>
                      </a:r>
                      <a:endParaRPr sz="2000">
                        <a:latin typeface="Times New Roman"/>
                        <a:ea typeface="Times New Roman"/>
                        <a:cs typeface="Times New Roman"/>
                        <a:sym typeface="Times New Roman"/>
                      </a:endParaRPr>
                    </a:p>
                  </a:txBody>
                  <a:tcPr marT="91425" marB="91425" marR="91425" marL="91425"/>
                </a:tc>
              </a:tr>
              <a:tr h="381000">
                <a:tc>
                  <a:txBody>
                    <a:bodyPr/>
                    <a:lstStyle/>
                    <a:p>
                      <a:pPr indent="0" lvl="0" marL="0" rtl="0" algn="ctr">
                        <a:spcBef>
                          <a:spcPts val="0"/>
                        </a:spcBef>
                        <a:spcAft>
                          <a:spcPts val="0"/>
                        </a:spcAft>
                        <a:buNone/>
                      </a:pPr>
                      <a:r>
                        <a:rPr lang="en" sz="2000">
                          <a:latin typeface="Times New Roman"/>
                          <a:ea typeface="Times New Roman"/>
                          <a:cs typeface="Times New Roman"/>
                          <a:sym typeface="Times New Roman"/>
                        </a:rPr>
                        <a:t>username</a:t>
                      </a:r>
                      <a:endParaRPr sz="20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2000">
                          <a:latin typeface="Times New Roman"/>
                          <a:ea typeface="Times New Roman"/>
                          <a:cs typeface="Times New Roman"/>
                          <a:sym typeface="Times New Roman"/>
                        </a:rPr>
                        <a:t>Varchar</a:t>
                      </a:r>
                      <a:endParaRPr sz="20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2000">
                          <a:latin typeface="Times New Roman"/>
                          <a:ea typeface="Times New Roman"/>
                          <a:cs typeface="Times New Roman"/>
                          <a:sym typeface="Times New Roman"/>
                        </a:rPr>
                        <a:t>Unique user name</a:t>
                      </a:r>
                      <a:endParaRPr sz="2000">
                        <a:latin typeface="Times New Roman"/>
                        <a:ea typeface="Times New Roman"/>
                        <a:cs typeface="Times New Roman"/>
                        <a:sym typeface="Times New Roman"/>
                      </a:endParaRPr>
                    </a:p>
                  </a:txBody>
                  <a:tcPr marT="91425" marB="91425" marR="91425" marL="91425"/>
                </a:tc>
              </a:tr>
              <a:tr h="381000">
                <a:tc>
                  <a:txBody>
                    <a:bodyPr/>
                    <a:lstStyle/>
                    <a:p>
                      <a:pPr indent="0" lvl="0" marL="0" rtl="0" algn="ctr">
                        <a:spcBef>
                          <a:spcPts val="0"/>
                        </a:spcBef>
                        <a:spcAft>
                          <a:spcPts val="0"/>
                        </a:spcAft>
                        <a:buNone/>
                      </a:pPr>
                      <a:r>
                        <a:rPr lang="en" sz="2000">
                          <a:latin typeface="Times New Roman"/>
                          <a:ea typeface="Times New Roman"/>
                          <a:cs typeface="Times New Roman"/>
                          <a:sym typeface="Times New Roman"/>
                        </a:rPr>
                        <a:t>email</a:t>
                      </a:r>
                      <a:endParaRPr sz="20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en" sz="2000">
                          <a:solidFill>
                            <a:schemeClr val="dk1"/>
                          </a:solidFill>
                          <a:latin typeface="Times New Roman"/>
                          <a:ea typeface="Times New Roman"/>
                          <a:cs typeface="Times New Roman"/>
                          <a:sym typeface="Times New Roman"/>
                        </a:rPr>
                        <a:t>Varchar</a:t>
                      </a:r>
                      <a:endParaRPr sz="20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2000">
                          <a:latin typeface="Times New Roman"/>
                          <a:ea typeface="Times New Roman"/>
                          <a:cs typeface="Times New Roman"/>
                          <a:sym typeface="Times New Roman"/>
                        </a:rPr>
                        <a:t>Email address</a:t>
                      </a:r>
                      <a:endParaRPr sz="2000">
                        <a:latin typeface="Times New Roman"/>
                        <a:ea typeface="Times New Roman"/>
                        <a:cs typeface="Times New Roman"/>
                        <a:sym typeface="Times New Roman"/>
                      </a:endParaRPr>
                    </a:p>
                  </a:txBody>
                  <a:tcPr marT="91425" marB="91425" marR="91425" marL="91425"/>
                </a:tc>
              </a:tr>
              <a:tr h="381000">
                <a:tc>
                  <a:txBody>
                    <a:bodyPr/>
                    <a:lstStyle/>
                    <a:p>
                      <a:pPr indent="0" lvl="0" marL="0" rtl="0" algn="ctr">
                        <a:spcBef>
                          <a:spcPts val="0"/>
                        </a:spcBef>
                        <a:spcAft>
                          <a:spcPts val="0"/>
                        </a:spcAft>
                        <a:buNone/>
                      </a:pPr>
                      <a:r>
                        <a:rPr lang="en" sz="2000">
                          <a:latin typeface="Times New Roman"/>
                          <a:ea typeface="Times New Roman"/>
                          <a:cs typeface="Times New Roman"/>
                          <a:sym typeface="Times New Roman"/>
                        </a:rPr>
                        <a:t>password</a:t>
                      </a:r>
                      <a:endParaRPr sz="20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en" sz="2000">
                          <a:solidFill>
                            <a:schemeClr val="dk1"/>
                          </a:solidFill>
                          <a:latin typeface="Times New Roman"/>
                          <a:ea typeface="Times New Roman"/>
                          <a:cs typeface="Times New Roman"/>
                          <a:sym typeface="Times New Roman"/>
                        </a:rPr>
                        <a:t>Varchar</a:t>
                      </a:r>
                      <a:endParaRPr sz="20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2000">
                          <a:latin typeface="Times New Roman"/>
                          <a:ea typeface="Times New Roman"/>
                          <a:cs typeface="Times New Roman"/>
                          <a:sym typeface="Times New Roman"/>
                        </a:rPr>
                        <a:t>Encrypted password</a:t>
                      </a:r>
                      <a:endParaRPr sz="2000">
                        <a:latin typeface="Times New Roman"/>
                        <a:ea typeface="Times New Roman"/>
                        <a:cs typeface="Times New Roman"/>
                        <a:sym typeface="Times New Roman"/>
                      </a:endParaRPr>
                    </a:p>
                  </a:txBody>
                  <a:tcPr marT="91425" marB="91425" marR="91425" marL="91425"/>
                </a:tc>
              </a:tr>
              <a:tr h="381000">
                <a:tc>
                  <a:txBody>
                    <a:bodyPr/>
                    <a:lstStyle/>
                    <a:p>
                      <a:pPr indent="0" lvl="0" marL="0" rtl="0" algn="ctr">
                        <a:spcBef>
                          <a:spcPts val="0"/>
                        </a:spcBef>
                        <a:spcAft>
                          <a:spcPts val="0"/>
                        </a:spcAft>
                        <a:buNone/>
                      </a:pPr>
                      <a:r>
                        <a:rPr lang="en" sz="2000">
                          <a:latin typeface="Times New Roman"/>
                          <a:ea typeface="Times New Roman"/>
                          <a:cs typeface="Times New Roman"/>
                          <a:sym typeface="Times New Roman"/>
                        </a:rPr>
                        <a:t>role</a:t>
                      </a:r>
                      <a:endParaRPr sz="20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en" sz="2000">
                          <a:solidFill>
                            <a:schemeClr val="dk1"/>
                          </a:solidFill>
                          <a:latin typeface="Times New Roman"/>
                          <a:ea typeface="Times New Roman"/>
                          <a:cs typeface="Times New Roman"/>
                          <a:sym typeface="Times New Roman"/>
                        </a:rPr>
                        <a:t>Varchar</a:t>
                      </a:r>
                      <a:endParaRPr sz="20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2000">
                          <a:latin typeface="Times New Roman"/>
                          <a:ea typeface="Times New Roman"/>
                          <a:cs typeface="Times New Roman"/>
                          <a:sym typeface="Times New Roman"/>
                        </a:rPr>
                        <a:t>Admin / Manager / Staff</a:t>
                      </a:r>
                      <a:endParaRPr sz="2000">
                        <a:latin typeface="Times New Roman"/>
                        <a:ea typeface="Times New Roman"/>
                        <a:cs typeface="Times New Roman"/>
                        <a:sym typeface="Times New Roman"/>
                      </a:endParaRPr>
                    </a:p>
                  </a:txBody>
                  <a:tcPr marT="91425" marB="91425" marR="91425" marL="91425"/>
                </a:tc>
              </a:tr>
              <a:tr h="381000">
                <a:tc>
                  <a:txBody>
                    <a:bodyPr/>
                    <a:lstStyle/>
                    <a:p>
                      <a:pPr indent="0" lvl="0" marL="0" rtl="0" algn="ctr">
                        <a:spcBef>
                          <a:spcPts val="0"/>
                        </a:spcBef>
                        <a:spcAft>
                          <a:spcPts val="0"/>
                        </a:spcAft>
                        <a:buNone/>
                      </a:pPr>
                      <a:r>
                        <a:rPr lang="en" sz="2000">
                          <a:latin typeface="Times New Roman"/>
                          <a:ea typeface="Times New Roman"/>
                          <a:cs typeface="Times New Roman"/>
                          <a:sym typeface="Times New Roman"/>
                        </a:rPr>
                        <a:t>is_active</a:t>
                      </a:r>
                      <a:endParaRPr sz="20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2000">
                          <a:latin typeface="Times New Roman"/>
                          <a:ea typeface="Times New Roman"/>
                          <a:cs typeface="Times New Roman"/>
                          <a:sym typeface="Times New Roman"/>
                        </a:rPr>
                        <a:t>Boolean</a:t>
                      </a:r>
                      <a:endParaRPr sz="20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2000">
                          <a:latin typeface="Times New Roman"/>
                          <a:ea typeface="Times New Roman"/>
                          <a:cs typeface="Times New Roman"/>
                          <a:sym typeface="Times New Roman"/>
                        </a:rPr>
                        <a:t>Account status</a:t>
                      </a:r>
                      <a:endParaRPr sz="2000">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0"/>
          <p:cNvSpPr txBox="1"/>
          <p:nvPr>
            <p:ph type="ctrTitle"/>
          </p:nvPr>
        </p:nvSpPr>
        <p:spPr>
          <a:xfrm>
            <a:off x="1085275" y="-1018584"/>
            <a:ext cx="7301700" cy="166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155">
                <a:latin typeface="Times New Roman"/>
                <a:ea typeface="Times New Roman"/>
                <a:cs typeface="Times New Roman"/>
                <a:sym typeface="Times New Roman"/>
              </a:rPr>
              <a:t>Authentication Flow Diagram</a:t>
            </a:r>
            <a:endParaRPr sz="3155">
              <a:latin typeface="Times New Roman"/>
              <a:ea typeface="Times New Roman"/>
              <a:cs typeface="Times New Roman"/>
              <a:sym typeface="Times New Roman"/>
            </a:endParaRPr>
          </a:p>
        </p:txBody>
      </p:sp>
      <p:sp>
        <p:nvSpPr>
          <p:cNvPr id="98" name="Google Shape;98;p20"/>
          <p:cNvSpPr txBox="1"/>
          <p:nvPr>
            <p:ph idx="1" type="subTitle"/>
          </p:nvPr>
        </p:nvSpPr>
        <p:spPr>
          <a:xfrm>
            <a:off x="1838600" y="874134"/>
            <a:ext cx="8957400" cy="4689600"/>
          </a:xfrm>
          <a:prstGeom prst="rect">
            <a:avLst/>
          </a:prstGeom>
        </p:spPr>
        <p:txBody>
          <a:bodyPr anchorCtr="0" anchor="t" bIns="91425" lIns="91425" spcFirstLastPara="1" rIns="91425" wrap="square" tIns="91425">
            <a:noAutofit/>
          </a:bodyPr>
          <a:lstStyle/>
          <a:p>
            <a:pPr indent="457200" lvl="0" marL="1371600" rtl="0" algn="l">
              <a:lnSpc>
                <a:spcPct val="150000"/>
              </a:lnSpc>
              <a:spcBef>
                <a:spcPts val="0"/>
              </a:spcBef>
              <a:spcAft>
                <a:spcPts val="0"/>
              </a:spcAft>
              <a:buClr>
                <a:schemeClr val="dk1"/>
              </a:buClr>
              <a:buSzPts val="1100"/>
              <a:buFont typeface="Arial"/>
              <a:buNone/>
            </a:pPr>
            <a:r>
              <a:rPr b="1" lang="en" sz="1500">
                <a:solidFill>
                  <a:schemeClr val="dk1"/>
                </a:solidFill>
              </a:rPr>
              <a:t>User</a:t>
            </a:r>
            <a:endParaRPr b="1" sz="1500">
              <a:solidFill>
                <a:schemeClr val="dk1"/>
              </a:solidFill>
            </a:endParaRPr>
          </a:p>
          <a:p>
            <a:pPr indent="457200" lvl="0" marL="1371600" rtl="0" algn="l">
              <a:lnSpc>
                <a:spcPct val="150000"/>
              </a:lnSpc>
              <a:spcBef>
                <a:spcPts val="0"/>
              </a:spcBef>
              <a:spcAft>
                <a:spcPts val="0"/>
              </a:spcAft>
              <a:buClr>
                <a:schemeClr val="dk1"/>
              </a:buClr>
              <a:buSzPts val="1100"/>
              <a:buFont typeface="Arial"/>
              <a:buNone/>
            </a:pPr>
            <a:r>
              <a:rPr b="1" lang="en" sz="1500">
                <a:solidFill>
                  <a:schemeClr val="dk1"/>
                </a:solidFill>
              </a:rPr>
              <a:t>  ↓</a:t>
            </a:r>
            <a:endParaRPr b="1" sz="1500">
              <a:solidFill>
                <a:schemeClr val="dk1"/>
              </a:solidFill>
            </a:endParaRPr>
          </a:p>
          <a:p>
            <a:pPr indent="457200" lvl="0" marL="1371600" rtl="0" algn="l">
              <a:lnSpc>
                <a:spcPct val="150000"/>
              </a:lnSpc>
              <a:spcBef>
                <a:spcPts val="0"/>
              </a:spcBef>
              <a:spcAft>
                <a:spcPts val="0"/>
              </a:spcAft>
              <a:buClr>
                <a:schemeClr val="dk1"/>
              </a:buClr>
              <a:buSzPts val="1100"/>
              <a:buFont typeface="Arial"/>
              <a:buNone/>
            </a:pPr>
            <a:r>
              <a:rPr b="1" lang="en" sz="1500">
                <a:solidFill>
                  <a:schemeClr val="dk1"/>
                </a:solidFill>
              </a:rPr>
              <a:t>Login Credentials</a:t>
            </a:r>
            <a:endParaRPr b="1" sz="1500">
              <a:solidFill>
                <a:schemeClr val="dk1"/>
              </a:solidFill>
            </a:endParaRPr>
          </a:p>
          <a:p>
            <a:pPr indent="457200" lvl="0" marL="1371600" rtl="0" algn="l">
              <a:lnSpc>
                <a:spcPct val="150000"/>
              </a:lnSpc>
              <a:spcBef>
                <a:spcPts val="0"/>
              </a:spcBef>
              <a:spcAft>
                <a:spcPts val="0"/>
              </a:spcAft>
              <a:buClr>
                <a:schemeClr val="dk1"/>
              </a:buClr>
              <a:buSzPts val="1100"/>
              <a:buFont typeface="Arial"/>
              <a:buNone/>
            </a:pPr>
            <a:r>
              <a:rPr b="1" lang="en" sz="1500">
                <a:solidFill>
                  <a:schemeClr val="dk1"/>
                </a:solidFill>
              </a:rPr>
              <a:t>  ↓</a:t>
            </a:r>
            <a:endParaRPr b="1" sz="1500">
              <a:solidFill>
                <a:schemeClr val="dk1"/>
              </a:solidFill>
            </a:endParaRPr>
          </a:p>
          <a:p>
            <a:pPr indent="457200" lvl="0" marL="1371600" rtl="0" algn="l">
              <a:lnSpc>
                <a:spcPct val="150000"/>
              </a:lnSpc>
              <a:spcBef>
                <a:spcPts val="0"/>
              </a:spcBef>
              <a:spcAft>
                <a:spcPts val="0"/>
              </a:spcAft>
              <a:buClr>
                <a:schemeClr val="dk1"/>
              </a:buClr>
              <a:buSzPts val="1100"/>
              <a:buFont typeface="Arial"/>
              <a:buNone/>
            </a:pPr>
            <a:r>
              <a:rPr b="1" lang="en" sz="1500">
                <a:solidFill>
                  <a:schemeClr val="dk1"/>
                </a:solidFill>
              </a:rPr>
              <a:t>Authentication Module</a:t>
            </a:r>
            <a:endParaRPr b="1" sz="1500">
              <a:solidFill>
                <a:schemeClr val="dk1"/>
              </a:solidFill>
            </a:endParaRPr>
          </a:p>
          <a:p>
            <a:pPr indent="457200" lvl="0" marL="1371600" rtl="0" algn="l">
              <a:lnSpc>
                <a:spcPct val="150000"/>
              </a:lnSpc>
              <a:spcBef>
                <a:spcPts val="0"/>
              </a:spcBef>
              <a:spcAft>
                <a:spcPts val="0"/>
              </a:spcAft>
              <a:buClr>
                <a:schemeClr val="dk1"/>
              </a:buClr>
              <a:buSzPts val="1100"/>
              <a:buFont typeface="Arial"/>
              <a:buNone/>
            </a:pPr>
            <a:r>
              <a:rPr b="1" lang="en" sz="1500">
                <a:solidFill>
                  <a:schemeClr val="dk1"/>
                </a:solidFill>
              </a:rPr>
              <a:t>  ↓</a:t>
            </a:r>
            <a:endParaRPr b="1" sz="1500">
              <a:solidFill>
                <a:schemeClr val="dk1"/>
              </a:solidFill>
            </a:endParaRPr>
          </a:p>
          <a:p>
            <a:pPr indent="457200" lvl="0" marL="1371600" rtl="0" algn="l">
              <a:lnSpc>
                <a:spcPct val="150000"/>
              </a:lnSpc>
              <a:spcBef>
                <a:spcPts val="0"/>
              </a:spcBef>
              <a:spcAft>
                <a:spcPts val="0"/>
              </a:spcAft>
              <a:buClr>
                <a:schemeClr val="dk1"/>
              </a:buClr>
              <a:buSzPts val="1100"/>
              <a:buFont typeface="Arial"/>
              <a:buNone/>
            </a:pPr>
            <a:r>
              <a:rPr b="1" lang="en" sz="1500">
                <a:solidFill>
                  <a:schemeClr val="dk1"/>
                </a:solidFill>
              </a:rPr>
              <a:t>User Verification</a:t>
            </a:r>
            <a:endParaRPr b="1" sz="1500">
              <a:solidFill>
                <a:schemeClr val="dk1"/>
              </a:solidFill>
            </a:endParaRPr>
          </a:p>
          <a:p>
            <a:pPr indent="457200" lvl="0" marL="1371600" rtl="0" algn="l">
              <a:lnSpc>
                <a:spcPct val="150000"/>
              </a:lnSpc>
              <a:spcBef>
                <a:spcPts val="0"/>
              </a:spcBef>
              <a:spcAft>
                <a:spcPts val="0"/>
              </a:spcAft>
              <a:buClr>
                <a:schemeClr val="dk1"/>
              </a:buClr>
              <a:buSzPts val="1100"/>
              <a:buFont typeface="Arial"/>
              <a:buNone/>
            </a:pPr>
            <a:r>
              <a:rPr b="1" lang="en" sz="1500">
                <a:solidFill>
                  <a:schemeClr val="dk1"/>
                </a:solidFill>
              </a:rPr>
              <a:t>  ↓</a:t>
            </a:r>
            <a:endParaRPr b="1" sz="1500">
              <a:solidFill>
                <a:schemeClr val="dk1"/>
              </a:solidFill>
            </a:endParaRPr>
          </a:p>
          <a:p>
            <a:pPr indent="457200" lvl="0" marL="1371600" rtl="0" algn="l">
              <a:lnSpc>
                <a:spcPct val="150000"/>
              </a:lnSpc>
              <a:spcBef>
                <a:spcPts val="0"/>
              </a:spcBef>
              <a:spcAft>
                <a:spcPts val="0"/>
              </a:spcAft>
              <a:buClr>
                <a:schemeClr val="dk1"/>
              </a:buClr>
              <a:buSzPts val="1100"/>
              <a:buFont typeface="Arial"/>
              <a:buNone/>
            </a:pPr>
            <a:r>
              <a:rPr b="1" lang="en" sz="1500">
                <a:solidFill>
                  <a:schemeClr val="dk1"/>
                </a:solidFill>
              </a:rPr>
              <a:t>Token Generation</a:t>
            </a:r>
            <a:endParaRPr b="1" sz="1500">
              <a:solidFill>
                <a:schemeClr val="dk1"/>
              </a:solidFill>
            </a:endParaRPr>
          </a:p>
          <a:p>
            <a:pPr indent="457200" lvl="0" marL="1371600" rtl="0" algn="l">
              <a:lnSpc>
                <a:spcPct val="150000"/>
              </a:lnSpc>
              <a:spcBef>
                <a:spcPts val="0"/>
              </a:spcBef>
              <a:spcAft>
                <a:spcPts val="0"/>
              </a:spcAft>
              <a:buClr>
                <a:schemeClr val="dk1"/>
              </a:buClr>
              <a:buSzPts val="1100"/>
              <a:buFont typeface="Arial"/>
              <a:buNone/>
            </a:pPr>
            <a:r>
              <a:rPr b="1" lang="en" sz="1500">
                <a:solidFill>
                  <a:schemeClr val="dk1"/>
                </a:solidFill>
              </a:rPr>
              <a:t>  ↓</a:t>
            </a:r>
            <a:endParaRPr b="1" sz="1500">
              <a:solidFill>
                <a:schemeClr val="dk1"/>
              </a:solidFill>
            </a:endParaRPr>
          </a:p>
          <a:p>
            <a:pPr indent="457200" lvl="0" marL="1371600" rtl="0" algn="l">
              <a:lnSpc>
                <a:spcPct val="150000"/>
              </a:lnSpc>
              <a:spcBef>
                <a:spcPts val="0"/>
              </a:spcBef>
              <a:spcAft>
                <a:spcPts val="0"/>
              </a:spcAft>
              <a:buClr>
                <a:schemeClr val="dk1"/>
              </a:buClr>
              <a:buSzPts val="1100"/>
              <a:buFont typeface="Arial"/>
              <a:buNone/>
            </a:pPr>
            <a:r>
              <a:rPr b="1" lang="en" sz="1500">
                <a:solidFill>
                  <a:schemeClr val="dk1"/>
                </a:solidFill>
              </a:rPr>
              <a:t>Access Granted</a:t>
            </a:r>
            <a:endParaRPr b="1" sz="1500">
              <a:solidFill>
                <a:schemeClr val="dk1"/>
              </a:solidFill>
            </a:endParaRPr>
          </a:p>
          <a:p>
            <a:pPr indent="457200" lvl="0" marL="1371600" rtl="0" algn="l">
              <a:lnSpc>
                <a:spcPct val="150000"/>
              </a:lnSpc>
              <a:spcBef>
                <a:spcPts val="0"/>
              </a:spcBef>
              <a:spcAft>
                <a:spcPts val="0"/>
              </a:spcAft>
              <a:buClr>
                <a:schemeClr val="dk1"/>
              </a:buClr>
              <a:buSzPts val="1100"/>
              <a:buFont typeface="Arial"/>
              <a:buNone/>
            </a:pPr>
            <a:r>
              <a:t/>
            </a:r>
            <a:endParaRPr b="1" sz="1500">
              <a:solidFill>
                <a:schemeClr val="dk1"/>
              </a:solidFill>
            </a:endParaRPr>
          </a:p>
          <a:p>
            <a:pPr indent="457200" lvl="0" marL="1371600" rtl="0" algn="l">
              <a:lnSpc>
                <a:spcPct val="150000"/>
              </a:lnSpc>
              <a:spcBef>
                <a:spcPts val="0"/>
              </a:spcBef>
              <a:spcAft>
                <a:spcPts val="0"/>
              </a:spcAft>
              <a:buNone/>
            </a:pPr>
            <a:r>
              <a:t/>
            </a:r>
            <a:endParaRPr b="1" sz="15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1"/>
          <p:cNvSpPr txBox="1"/>
          <p:nvPr>
            <p:ph type="ctrTitle"/>
          </p:nvPr>
        </p:nvSpPr>
        <p:spPr>
          <a:xfrm>
            <a:off x="1085275" y="-1018584"/>
            <a:ext cx="7301700" cy="166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155">
                <a:latin typeface="Times New Roman"/>
                <a:ea typeface="Times New Roman"/>
                <a:cs typeface="Times New Roman"/>
                <a:sym typeface="Times New Roman"/>
              </a:rPr>
              <a:t>Pseudocode (Sign up)</a:t>
            </a:r>
            <a:endParaRPr sz="3155">
              <a:latin typeface="Times New Roman"/>
              <a:ea typeface="Times New Roman"/>
              <a:cs typeface="Times New Roman"/>
              <a:sym typeface="Times New Roman"/>
            </a:endParaRPr>
          </a:p>
        </p:txBody>
      </p:sp>
      <p:sp>
        <p:nvSpPr>
          <p:cNvPr id="104" name="Google Shape;104;p21"/>
          <p:cNvSpPr txBox="1"/>
          <p:nvPr>
            <p:ph idx="1" type="subTitle"/>
          </p:nvPr>
        </p:nvSpPr>
        <p:spPr>
          <a:xfrm>
            <a:off x="300625" y="439017"/>
            <a:ext cx="8957400" cy="46896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1500">
                <a:solidFill>
                  <a:schemeClr val="dk1"/>
                </a:solidFill>
              </a:rPr>
              <a:t>AuthController – Signup</a:t>
            </a:r>
            <a:endParaRPr b="1" sz="1500">
              <a:solidFill>
                <a:schemeClr val="dk1"/>
              </a:solidFill>
            </a:endParaRPr>
          </a:p>
          <a:p>
            <a:pPr indent="0" lvl="0" marL="1828800" rtl="0" algn="just">
              <a:lnSpc>
                <a:spcPct val="115000"/>
              </a:lnSpc>
              <a:spcBef>
                <a:spcPts val="400"/>
              </a:spcBef>
              <a:spcAft>
                <a:spcPts val="0"/>
              </a:spcAft>
              <a:buNone/>
            </a:pPr>
            <a:r>
              <a:rPr lang="en" sz="1100">
                <a:solidFill>
                  <a:srgbClr val="188038"/>
                </a:solidFill>
                <a:latin typeface="Roboto Mono"/>
                <a:ea typeface="Roboto Mono"/>
                <a:cs typeface="Roboto Mono"/>
                <a:sym typeface="Roboto Mono"/>
              </a:rPr>
              <a:t>FUNCTION signup(request)</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userDetails = request data</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result = AuthService.registerUser(userDetails)</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RETURN result</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END FUNCTION</a:t>
            </a:r>
            <a:endParaRPr sz="1100">
              <a:solidFill>
                <a:srgbClr val="188038"/>
              </a:solidFill>
              <a:latin typeface="Roboto Mono"/>
              <a:ea typeface="Roboto Mono"/>
              <a:cs typeface="Roboto Mono"/>
              <a:sym typeface="Roboto Mono"/>
            </a:endParaRPr>
          </a:p>
          <a:p>
            <a:pPr indent="0" lvl="0" marL="0" rtl="0" algn="just">
              <a:lnSpc>
                <a:spcPct val="115000"/>
              </a:lnSpc>
              <a:spcBef>
                <a:spcPts val="0"/>
              </a:spcBef>
              <a:spcAft>
                <a:spcPts val="0"/>
              </a:spcAft>
              <a:buNone/>
            </a:pPr>
            <a:r>
              <a:t/>
            </a:r>
            <a:endParaRPr sz="1100">
              <a:solidFill>
                <a:srgbClr val="188038"/>
              </a:solidFill>
              <a:latin typeface="Roboto Mono"/>
              <a:ea typeface="Roboto Mono"/>
              <a:cs typeface="Roboto Mono"/>
              <a:sym typeface="Roboto Mono"/>
            </a:endParaRPr>
          </a:p>
          <a:p>
            <a:pPr indent="0" lvl="0" marL="0" rtl="0" algn="just">
              <a:lnSpc>
                <a:spcPct val="200000"/>
              </a:lnSpc>
              <a:spcBef>
                <a:spcPts val="0"/>
              </a:spcBef>
              <a:spcAft>
                <a:spcPts val="0"/>
              </a:spcAft>
              <a:buNone/>
            </a:pPr>
            <a:r>
              <a:rPr b="1" lang="en" sz="1500">
                <a:solidFill>
                  <a:schemeClr val="dk1"/>
                </a:solidFill>
              </a:rPr>
              <a:t>AuthService – Signup</a:t>
            </a:r>
            <a:r>
              <a:rPr b="1" lang="en" sz="1300">
                <a:solidFill>
                  <a:schemeClr val="dk1"/>
                </a:solidFill>
              </a:rPr>
              <a:t> </a:t>
            </a:r>
            <a:endParaRPr b="1" sz="1300">
              <a:solidFill>
                <a:schemeClr val="dk1"/>
              </a:solidFill>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FUNCTION registerUser(userDetails)</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IF username exists THEN   RETURN "User already exists"</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END IF     encryptedPassword = encrypt(password)</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create new User</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save user in database</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RETURN "Signup successful"</a:t>
            </a:r>
            <a:endParaRPr sz="1100">
              <a:solidFill>
                <a:srgbClr val="188038"/>
              </a:solidFill>
              <a:latin typeface="Roboto Mono"/>
              <a:ea typeface="Roboto Mono"/>
              <a:cs typeface="Roboto Mono"/>
              <a:sym typeface="Roboto Mono"/>
            </a:endParaRPr>
          </a:p>
          <a:p>
            <a:pPr indent="0" lvl="0" marL="1828800" rtl="0" algn="l">
              <a:lnSpc>
                <a:spcPct val="115000"/>
              </a:lnSpc>
              <a:spcBef>
                <a:spcPts val="0"/>
              </a:spcBef>
              <a:spcAft>
                <a:spcPts val="0"/>
              </a:spcAft>
              <a:buClr>
                <a:schemeClr val="dk1"/>
              </a:buClr>
              <a:buSzPts val="1100"/>
              <a:buFont typeface="Arial"/>
              <a:buNone/>
            </a:pPr>
            <a:r>
              <a:rPr lang="en" sz="1100">
                <a:solidFill>
                  <a:srgbClr val="188038"/>
                </a:solidFill>
                <a:latin typeface="Roboto Mono"/>
                <a:ea typeface="Roboto Mono"/>
                <a:cs typeface="Roboto Mono"/>
                <a:sym typeface="Roboto Mono"/>
              </a:rPr>
              <a:t>END FUNCTION</a:t>
            </a:r>
            <a:endParaRPr sz="1100">
              <a:solidFill>
                <a:srgbClr val="188038"/>
              </a:solidFill>
              <a:latin typeface="Roboto Mono"/>
              <a:ea typeface="Roboto Mono"/>
              <a:cs typeface="Roboto Mono"/>
              <a:sym typeface="Roboto Mono"/>
            </a:endParaRPr>
          </a:p>
          <a:p>
            <a:pPr indent="0" lvl="0" marL="0" rtl="0" algn="just">
              <a:lnSpc>
                <a:spcPct val="200000"/>
              </a:lnSpc>
              <a:spcBef>
                <a:spcPts val="0"/>
              </a:spcBef>
              <a:spcAft>
                <a:spcPts val="0"/>
              </a:spcAft>
              <a:buNone/>
            </a:pPr>
            <a:r>
              <a:t/>
            </a:r>
            <a:endParaRPr sz="1829">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2"/>
          <p:cNvSpPr txBox="1"/>
          <p:nvPr>
            <p:ph type="ctrTitle"/>
          </p:nvPr>
        </p:nvSpPr>
        <p:spPr>
          <a:xfrm>
            <a:off x="1085275" y="-1018584"/>
            <a:ext cx="7301700" cy="166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155">
                <a:latin typeface="Times New Roman"/>
                <a:ea typeface="Times New Roman"/>
                <a:cs typeface="Times New Roman"/>
                <a:sym typeface="Times New Roman"/>
              </a:rPr>
              <a:t>Pseudocode (Login)</a:t>
            </a:r>
            <a:endParaRPr sz="3155">
              <a:latin typeface="Times New Roman"/>
              <a:ea typeface="Times New Roman"/>
              <a:cs typeface="Times New Roman"/>
              <a:sym typeface="Times New Roman"/>
            </a:endParaRPr>
          </a:p>
        </p:txBody>
      </p:sp>
      <p:sp>
        <p:nvSpPr>
          <p:cNvPr id="110" name="Google Shape;110;p22"/>
          <p:cNvSpPr txBox="1"/>
          <p:nvPr>
            <p:ph idx="1" type="subTitle"/>
          </p:nvPr>
        </p:nvSpPr>
        <p:spPr>
          <a:xfrm>
            <a:off x="300625" y="439017"/>
            <a:ext cx="8957400" cy="46896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1500">
                <a:solidFill>
                  <a:schemeClr val="dk1"/>
                </a:solidFill>
              </a:rPr>
              <a:t>AuthController – Login</a:t>
            </a:r>
            <a:endParaRPr b="1" sz="1500">
              <a:solidFill>
                <a:schemeClr val="dk1"/>
              </a:solidFill>
            </a:endParaRPr>
          </a:p>
          <a:p>
            <a:pPr indent="0" lvl="0" marL="1828800" rtl="0" algn="just">
              <a:lnSpc>
                <a:spcPct val="115000"/>
              </a:lnSpc>
              <a:spcBef>
                <a:spcPts val="400"/>
              </a:spcBef>
              <a:spcAft>
                <a:spcPts val="0"/>
              </a:spcAft>
              <a:buNone/>
            </a:pPr>
            <a:r>
              <a:rPr lang="en" sz="1100">
                <a:solidFill>
                  <a:srgbClr val="188038"/>
                </a:solidFill>
                <a:latin typeface="Roboto Mono"/>
                <a:ea typeface="Roboto Mono"/>
                <a:cs typeface="Roboto Mono"/>
                <a:sym typeface="Roboto Mono"/>
              </a:rPr>
              <a:t>FUNCTION signin(request)</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username = request.username</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password = request.password</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token = AuthService.authenticate(username, password)</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RETURN token</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END FUNCTION</a:t>
            </a:r>
            <a:endParaRPr sz="1100">
              <a:solidFill>
                <a:srgbClr val="188038"/>
              </a:solidFill>
              <a:latin typeface="Roboto Mono"/>
              <a:ea typeface="Roboto Mono"/>
              <a:cs typeface="Roboto Mono"/>
              <a:sym typeface="Roboto Mono"/>
            </a:endParaRPr>
          </a:p>
          <a:p>
            <a:pPr indent="0" lvl="0" marL="0" rtl="0" algn="just">
              <a:lnSpc>
                <a:spcPct val="115000"/>
              </a:lnSpc>
              <a:spcBef>
                <a:spcPts val="0"/>
              </a:spcBef>
              <a:spcAft>
                <a:spcPts val="0"/>
              </a:spcAft>
              <a:buNone/>
            </a:pPr>
            <a:r>
              <a:t/>
            </a:r>
            <a:endParaRPr sz="1100">
              <a:solidFill>
                <a:srgbClr val="188038"/>
              </a:solidFill>
              <a:latin typeface="Roboto Mono"/>
              <a:ea typeface="Roboto Mono"/>
              <a:cs typeface="Roboto Mono"/>
              <a:sym typeface="Roboto Mono"/>
            </a:endParaRPr>
          </a:p>
          <a:p>
            <a:pPr indent="0" lvl="0" marL="0" rtl="0" algn="just">
              <a:lnSpc>
                <a:spcPct val="200000"/>
              </a:lnSpc>
              <a:spcBef>
                <a:spcPts val="0"/>
              </a:spcBef>
              <a:spcAft>
                <a:spcPts val="0"/>
              </a:spcAft>
              <a:buNone/>
            </a:pPr>
            <a:r>
              <a:rPr b="1" lang="en" sz="1500">
                <a:solidFill>
                  <a:schemeClr val="dk1"/>
                </a:solidFill>
              </a:rPr>
              <a:t>AuthService – Login Logic</a:t>
            </a:r>
            <a:endParaRPr b="1" sz="1500">
              <a:solidFill>
                <a:schemeClr val="dk1"/>
              </a:solidFill>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FUNCTION authenticate(username, password)</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user = find user by username</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IF user not found THEN</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RETURN "Invalid username"</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END IF</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IF password matches THEN</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token = generate JWT token</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RETURN token</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ELSE</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RETURN "Invalid password"</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END IF</a:t>
            </a:r>
            <a:endParaRPr sz="1100">
              <a:solidFill>
                <a:srgbClr val="188038"/>
              </a:solidFill>
              <a:latin typeface="Roboto Mono"/>
              <a:ea typeface="Roboto Mono"/>
              <a:cs typeface="Roboto Mono"/>
              <a:sym typeface="Roboto Mono"/>
            </a:endParaRPr>
          </a:p>
          <a:p>
            <a:pPr indent="0" lvl="0" marL="1828800" rtl="0" algn="l">
              <a:lnSpc>
                <a:spcPct val="115000"/>
              </a:lnSpc>
              <a:spcBef>
                <a:spcPts val="0"/>
              </a:spcBef>
              <a:spcAft>
                <a:spcPts val="0"/>
              </a:spcAft>
              <a:buClr>
                <a:schemeClr val="dk1"/>
              </a:buClr>
              <a:buSzPts val="1100"/>
              <a:buFont typeface="Arial"/>
              <a:buNone/>
            </a:pPr>
            <a:r>
              <a:rPr lang="en" sz="1100">
                <a:solidFill>
                  <a:srgbClr val="188038"/>
                </a:solidFill>
                <a:latin typeface="Roboto Mono"/>
                <a:ea typeface="Roboto Mono"/>
                <a:cs typeface="Roboto Mono"/>
                <a:sym typeface="Roboto Mono"/>
              </a:rPr>
              <a:t>END FUNCTION</a:t>
            </a:r>
            <a:endParaRPr sz="1100">
              <a:solidFill>
                <a:srgbClr val="188038"/>
              </a:solidFill>
              <a:latin typeface="Roboto Mono"/>
              <a:ea typeface="Roboto Mono"/>
              <a:cs typeface="Roboto Mono"/>
              <a:sym typeface="Roboto Mono"/>
            </a:endParaRPr>
          </a:p>
          <a:p>
            <a:pPr indent="0" lvl="0" marL="0" rtl="0" algn="just">
              <a:lnSpc>
                <a:spcPct val="200000"/>
              </a:lnSpc>
              <a:spcBef>
                <a:spcPts val="0"/>
              </a:spcBef>
              <a:spcAft>
                <a:spcPts val="0"/>
              </a:spcAft>
              <a:buNone/>
            </a:pPr>
            <a:r>
              <a:t/>
            </a:r>
            <a:endParaRPr b="1" sz="13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3"/>
          <p:cNvSpPr txBox="1"/>
          <p:nvPr>
            <p:ph type="ctrTitle"/>
          </p:nvPr>
        </p:nvSpPr>
        <p:spPr>
          <a:xfrm>
            <a:off x="1085275" y="-1018584"/>
            <a:ext cx="7301700" cy="166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155">
                <a:latin typeface="Times New Roman"/>
                <a:ea typeface="Times New Roman"/>
                <a:cs typeface="Times New Roman"/>
                <a:sym typeface="Times New Roman"/>
              </a:rPr>
              <a:t>Pseudocode (Forget password)</a:t>
            </a:r>
            <a:endParaRPr sz="3155">
              <a:latin typeface="Times New Roman"/>
              <a:ea typeface="Times New Roman"/>
              <a:cs typeface="Times New Roman"/>
              <a:sym typeface="Times New Roman"/>
            </a:endParaRPr>
          </a:p>
        </p:txBody>
      </p:sp>
      <p:sp>
        <p:nvSpPr>
          <p:cNvPr id="116" name="Google Shape;116;p23"/>
          <p:cNvSpPr txBox="1"/>
          <p:nvPr>
            <p:ph idx="1" type="subTitle"/>
          </p:nvPr>
        </p:nvSpPr>
        <p:spPr>
          <a:xfrm>
            <a:off x="300625" y="904684"/>
            <a:ext cx="8957400" cy="4689600"/>
          </a:xfrm>
          <a:prstGeom prst="rect">
            <a:avLst/>
          </a:prstGeom>
        </p:spPr>
        <p:txBody>
          <a:bodyPr anchorCtr="0" anchor="t" bIns="91425" lIns="91425" spcFirstLastPara="1" rIns="91425" wrap="square" tIns="91425">
            <a:noAutofit/>
          </a:bodyPr>
          <a:lstStyle/>
          <a:p>
            <a:pPr indent="0" lvl="0" marL="0" rtl="0" algn="l">
              <a:lnSpc>
                <a:spcPct val="150000"/>
              </a:lnSpc>
              <a:spcBef>
                <a:spcPts val="1400"/>
              </a:spcBef>
              <a:spcAft>
                <a:spcPts val="0"/>
              </a:spcAft>
              <a:buClr>
                <a:schemeClr val="dk1"/>
              </a:buClr>
              <a:buSzPts val="1100"/>
              <a:buFont typeface="Arial"/>
              <a:buNone/>
            </a:pPr>
            <a:r>
              <a:rPr b="1" lang="en" sz="1500">
                <a:solidFill>
                  <a:schemeClr val="dk1"/>
                </a:solidFill>
              </a:rPr>
              <a:t>AuthService – Forgot Password</a:t>
            </a:r>
            <a:endParaRPr b="1" sz="1500">
              <a:solidFill>
                <a:schemeClr val="dk1"/>
              </a:solidFill>
            </a:endParaRPr>
          </a:p>
          <a:p>
            <a:pPr indent="0" lvl="0" marL="1828800" rtl="0" algn="just">
              <a:lnSpc>
                <a:spcPct val="150000"/>
              </a:lnSpc>
              <a:spcBef>
                <a:spcPts val="400"/>
              </a:spcBef>
              <a:spcAft>
                <a:spcPts val="0"/>
              </a:spcAft>
              <a:buNone/>
            </a:pPr>
            <a:r>
              <a:rPr lang="en" sz="1100">
                <a:solidFill>
                  <a:srgbClr val="188038"/>
                </a:solidFill>
                <a:latin typeface="Roboto Mono"/>
                <a:ea typeface="Roboto Mono"/>
                <a:cs typeface="Roboto Mono"/>
                <a:sym typeface="Roboto Mono"/>
              </a:rPr>
              <a:t>FUNCTION processForgotPassword(email)</a:t>
            </a:r>
            <a:endParaRPr sz="1100">
              <a:solidFill>
                <a:srgbClr val="188038"/>
              </a:solidFill>
              <a:latin typeface="Roboto Mono"/>
              <a:ea typeface="Roboto Mono"/>
              <a:cs typeface="Roboto Mono"/>
              <a:sym typeface="Roboto Mono"/>
            </a:endParaRPr>
          </a:p>
          <a:p>
            <a:pPr indent="0" lvl="0" marL="1828800" rtl="0" algn="just">
              <a:lnSpc>
                <a:spcPct val="150000"/>
              </a:lnSpc>
              <a:spcBef>
                <a:spcPts val="0"/>
              </a:spcBef>
              <a:spcAft>
                <a:spcPts val="0"/>
              </a:spcAft>
              <a:buNone/>
            </a:pPr>
            <a:r>
              <a:rPr lang="en" sz="1100">
                <a:solidFill>
                  <a:srgbClr val="188038"/>
                </a:solidFill>
                <a:latin typeface="Roboto Mono"/>
                <a:ea typeface="Roboto Mono"/>
                <a:cs typeface="Roboto Mono"/>
                <a:sym typeface="Roboto Mono"/>
              </a:rPr>
              <a:t>    user = find user by email</a:t>
            </a:r>
            <a:endParaRPr sz="1100">
              <a:solidFill>
                <a:srgbClr val="188038"/>
              </a:solidFill>
              <a:latin typeface="Roboto Mono"/>
              <a:ea typeface="Roboto Mono"/>
              <a:cs typeface="Roboto Mono"/>
              <a:sym typeface="Roboto Mono"/>
            </a:endParaRPr>
          </a:p>
          <a:p>
            <a:pPr indent="0" lvl="0" marL="1828800" rtl="0" algn="just">
              <a:lnSpc>
                <a:spcPct val="150000"/>
              </a:lnSpc>
              <a:spcBef>
                <a:spcPts val="0"/>
              </a:spcBef>
              <a:spcAft>
                <a:spcPts val="0"/>
              </a:spcAft>
              <a:buNone/>
            </a:pPr>
            <a:r>
              <a:rPr lang="en" sz="1100">
                <a:solidFill>
                  <a:srgbClr val="188038"/>
                </a:solidFill>
                <a:latin typeface="Roboto Mono"/>
                <a:ea typeface="Roboto Mono"/>
                <a:cs typeface="Roboto Mono"/>
                <a:sym typeface="Roboto Mono"/>
              </a:rPr>
              <a:t>    IF user not found THEN</a:t>
            </a:r>
            <a:endParaRPr sz="1100">
              <a:solidFill>
                <a:srgbClr val="188038"/>
              </a:solidFill>
              <a:latin typeface="Roboto Mono"/>
              <a:ea typeface="Roboto Mono"/>
              <a:cs typeface="Roboto Mono"/>
              <a:sym typeface="Roboto Mono"/>
            </a:endParaRPr>
          </a:p>
          <a:p>
            <a:pPr indent="0" lvl="0" marL="1828800" rtl="0" algn="just">
              <a:lnSpc>
                <a:spcPct val="150000"/>
              </a:lnSpc>
              <a:spcBef>
                <a:spcPts val="0"/>
              </a:spcBef>
              <a:spcAft>
                <a:spcPts val="0"/>
              </a:spcAft>
              <a:buNone/>
            </a:pPr>
            <a:r>
              <a:rPr lang="en" sz="1100">
                <a:solidFill>
                  <a:srgbClr val="188038"/>
                </a:solidFill>
                <a:latin typeface="Roboto Mono"/>
                <a:ea typeface="Roboto Mono"/>
                <a:cs typeface="Roboto Mono"/>
                <a:sym typeface="Roboto Mono"/>
              </a:rPr>
              <a:t>        RETURN "Email not registered"</a:t>
            </a:r>
            <a:endParaRPr sz="1100">
              <a:solidFill>
                <a:srgbClr val="188038"/>
              </a:solidFill>
              <a:latin typeface="Roboto Mono"/>
              <a:ea typeface="Roboto Mono"/>
              <a:cs typeface="Roboto Mono"/>
              <a:sym typeface="Roboto Mono"/>
            </a:endParaRPr>
          </a:p>
          <a:p>
            <a:pPr indent="0" lvl="0" marL="1828800" rtl="0" algn="just">
              <a:lnSpc>
                <a:spcPct val="150000"/>
              </a:lnSpc>
              <a:spcBef>
                <a:spcPts val="0"/>
              </a:spcBef>
              <a:spcAft>
                <a:spcPts val="0"/>
              </a:spcAft>
              <a:buNone/>
            </a:pPr>
            <a:r>
              <a:rPr lang="en" sz="1100">
                <a:solidFill>
                  <a:srgbClr val="188038"/>
                </a:solidFill>
                <a:latin typeface="Roboto Mono"/>
                <a:ea typeface="Roboto Mono"/>
                <a:cs typeface="Roboto Mono"/>
                <a:sym typeface="Roboto Mono"/>
              </a:rPr>
              <a:t>    END IF</a:t>
            </a:r>
            <a:endParaRPr sz="1100">
              <a:solidFill>
                <a:srgbClr val="188038"/>
              </a:solidFill>
              <a:latin typeface="Roboto Mono"/>
              <a:ea typeface="Roboto Mono"/>
              <a:cs typeface="Roboto Mono"/>
              <a:sym typeface="Roboto Mono"/>
            </a:endParaRPr>
          </a:p>
          <a:p>
            <a:pPr indent="0" lvl="0" marL="1828800" rtl="0" algn="just">
              <a:lnSpc>
                <a:spcPct val="150000"/>
              </a:lnSpc>
              <a:spcBef>
                <a:spcPts val="0"/>
              </a:spcBef>
              <a:spcAft>
                <a:spcPts val="0"/>
              </a:spcAft>
              <a:buNone/>
            </a:pPr>
            <a:r>
              <a:t/>
            </a:r>
            <a:endParaRPr sz="1100">
              <a:solidFill>
                <a:srgbClr val="188038"/>
              </a:solidFill>
              <a:latin typeface="Roboto Mono"/>
              <a:ea typeface="Roboto Mono"/>
              <a:cs typeface="Roboto Mono"/>
              <a:sym typeface="Roboto Mono"/>
            </a:endParaRPr>
          </a:p>
          <a:p>
            <a:pPr indent="0" lvl="0" marL="1828800" rtl="0" algn="just">
              <a:lnSpc>
                <a:spcPct val="150000"/>
              </a:lnSpc>
              <a:spcBef>
                <a:spcPts val="0"/>
              </a:spcBef>
              <a:spcAft>
                <a:spcPts val="0"/>
              </a:spcAft>
              <a:buNone/>
            </a:pPr>
            <a:r>
              <a:rPr lang="en" sz="1100">
                <a:solidFill>
                  <a:srgbClr val="188038"/>
                </a:solidFill>
                <a:latin typeface="Roboto Mono"/>
                <a:ea typeface="Roboto Mono"/>
                <a:cs typeface="Roboto Mono"/>
                <a:sym typeface="Roboto Mono"/>
              </a:rPr>
              <a:t>    resetToken = generate token</a:t>
            </a:r>
            <a:endParaRPr sz="1100">
              <a:solidFill>
                <a:srgbClr val="188038"/>
              </a:solidFill>
              <a:latin typeface="Roboto Mono"/>
              <a:ea typeface="Roboto Mono"/>
              <a:cs typeface="Roboto Mono"/>
              <a:sym typeface="Roboto Mono"/>
            </a:endParaRPr>
          </a:p>
          <a:p>
            <a:pPr indent="0" lvl="0" marL="1828800" rtl="0" algn="just">
              <a:lnSpc>
                <a:spcPct val="150000"/>
              </a:lnSpc>
              <a:spcBef>
                <a:spcPts val="0"/>
              </a:spcBef>
              <a:spcAft>
                <a:spcPts val="0"/>
              </a:spcAft>
              <a:buNone/>
            </a:pPr>
            <a:r>
              <a:rPr lang="en" sz="1100">
                <a:solidFill>
                  <a:srgbClr val="188038"/>
                </a:solidFill>
                <a:latin typeface="Roboto Mono"/>
                <a:ea typeface="Roboto Mono"/>
                <a:cs typeface="Roboto Mono"/>
                <a:sym typeface="Roboto Mono"/>
              </a:rPr>
              <a:t>    send reset link via EmailService</a:t>
            </a:r>
            <a:endParaRPr sz="1100">
              <a:solidFill>
                <a:srgbClr val="188038"/>
              </a:solidFill>
              <a:latin typeface="Roboto Mono"/>
              <a:ea typeface="Roboto Mono"/>
              <a:cs typeface="Roboto Mono"/>
              <a:sym typeface="Roboto Mono"/>
            </a:endParaRPr>
          </a:p>
          <a:p>
            <a:pPr indent="0" lvl="0" marL="1828800" rtl="0" algn="just">
              <a:lnSpc>
                <a:spcPct val="150000"/>
              </a:lnSpc>
              <a:spcBef>
                <a:spcPts val="0"/>
              </a:spcBef>
              <a:spcAft>
                <a:spcPts val="0"/>
              </a:spcAft>
              <a:buNone/>
            </a:pPr>
            <a:r>
              <a:rPr lang="en" sz="1100">
                <a:solidFill>
                  <a:srgbClr val="188038"/>
                </a:solidFill>
                <a:latin typeface="Roboto Mono"/>
                <a:ea typeface="Roboto Mono"/>
                <a:cs typeface="Roboto Mono"/>
                <a:sym typeface="Roboto Mono"/>
              </a:rPr>
              <a:t>    RETURN "Reset link sent"</a:t>
            </a:r>
            <a:endParaRPr sz="1100">
              <a:solidFill>
                <a:srgbClr val="188038"/>
              </a:solidFill>
              <a:latin typeface="Roboto Mono"/>
              <a:ea typeface="Roboto Mono"/>
              <a:cs typeface="Roboto Mono"/>
              <a:sym typeface="Roboto Mono"/>
            </a:endParaRPr>
          </a:p>
          <a:p>
            <a:pPr indent="457200" lvl="0" marL="1371600" rtl="0" algn="l">
              <a:lnSpc>
                <a:spcPct val="150000"/>
              </a:lnSpc>
              <a:spcBef>
                <a:spcPts val="0"/>
              </a:spcBef>
              <a:spcAft>
                <a:spcPts val="0"/>
              </a:spcAft>
              <a:buNone/>
            </a:pPr>
            <a:r>
              <a:rPr lang="en" sz="1100">
                <a:solidFill>
                  <a:srgbClr val="188038"/>
                </a:solidFill>
                <a:latin typeface="Roboto Mono"/>
                <a:ea typeface="Roboto Mono"/>
                <a:cs typeface="Roboto Mono"/>
                <a:sym typeface="Roboto Mono"/>
              </a:rPr>
              <a:t>END FUNCTION</a:t>
            </a:r>
            <a:endParaRPr b="1" sz="13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4"/>
          <p:cNvSpPr txBox="1"/>
          <p:nvPr>
            <p:ph type="ctrTitle"/>
          </p:nvPr>
        </p:nvSpPr>
        <p:spPr>
          <a:xfrm>
            <a:off x="922725" y="-944159"/>
            <a:ext cx="7464300" cy="166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155">
                <a:latin typeface="Times New Roman"/>
                <a:ea typeface="Times New Roman"/>
                <a:cs typeface="Times New Roman"/>
                <a:sym typeface="Times New Roman"/>
              </a:rPr>
              <a:t>Module 2 : Product / Inventory Management</a:t>
            </a:r>
            <a:endParaRPr sz="3155">
              <a:latin typeface="Times New Roman"/>
              <a:ea typeface="Times New Roman"/>
              <a:cs typeface="Times New Roman"/>
              <a:sym typeface="Times New Roman"/>
            </a:endParaRPr>
          </a:p>
        </p:txBody>
      </p:sp>
      <p:sp>
        <p:nvSpPr>
          <p:cNvPr id="122" name="Google Shape;122;p24"/>
          <p:cNvSpPr txBox="1"/>
          <p:nvPr>
            <p:ph idx="1" type="subTitle"/>
          </p:nvPr>
        </p:nvSpPr>
        <p:spPr>
          <a:xfrm>
            <a:off x="248250" y="597551"/>
            <a:ext cx="8613300" cy="45459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b="1" lang="en" sz="1829">
                <a:latin typeface="Times New Roman"/>
                <a:ea typeface="Times New Roman"/>
                <a:cs typeface="Times New Roman"/>
                <a:sym typeface="Times New Roman"/>
              </a:rPr>
              <a:t>Purpose:</a:t>
            </a:r>
            <a:endParaRPr b="1" sz="1829">
              <a:latin typeface="Times New Roman"/>
              <a:ea typeface="Times New Roman"/>
              <a:cs typeface="Times New Roman"/>
              <a:sym typeface="Times New Roman"/>
            </a:endParaRPr>
          </a:p>
          <a:p>
            <a:pPr indent="-344805" lvl="0" marL="914400" rtl="0" algn="just">
              <a:lnSpc>
                <a:spcPct val="115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Manage products</a:t>
            </a:r>
            <a:endParaRPr sz="1829">
              <a:latin typeface="Times New Roman"/>
              <a:ea typeface="Times New Roman"/>
              <a:cs typeface="Times New Roman"/>
              <a:sym typeface="Times New Roman"/>
            </a:endParaRPr>
          </a:p>
          <a:p>
            <a:pPr indent="-344805" lvl="0" marL="914400" rtl="0" algn="just">
              <a:lnSpc>
                <a:spcPct val="115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Track stock levels</a:t>
            </a:r>
            <a:endParaRPr sz="1829">
              <a:latin typeface="Times New Roman"/>
              <a:ea typeface="Times New Roman"/>
              <a:cs typeface="Times New Roman"/>
              <a:sym typeface="Times New Roman"/>
            </a:endParaRPr>
          </a:p>
          <a:p>
            <a:pPr indent="-344805" lvl="0" marL="914400" rtl="0" algn="just">
              <a:lnSpc>
                <a:spcPct val="115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Prevent duplicate products</a:t>
            </a:r>
            <a:endParaRPr sz="1829">
              <a:latin typeface="Times New Roman"/>
              <a:ea typeface="Times New Roman"/>
              <a:cs typeface="Times New Roman"/>
              <a:sym typeface="Times New Roman"/>
            </a:endParaRPr>
          </a:p>
          <a:p>
            <a:pPr indent="-344805" lvl="0" marL="914400" rtl="0" algn="just">
              <a:lnSpc>
                <a:spcPct val="115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Handle stock-in and stock-out operations</a:t>
            </a:r>
            <a:endParaRPr sz="1829">
              <a:latin typeface="Times New Roman"/>
              <a:ea typeface="Times New Roman"/>
              <a:cs typeface="Times New Roman"/>
              <a:sym typeface="Times New Roman"/>
            </a:endParaRPr>
          </a:p>
          <a:p>
            <a:pPr indent="0" lvl="0" marL="0" rtl="0" algn="just">
              <a:lnSpc>
                <a:spcPct val="150000"/>
              </a:lnSpc>
              <a:spcBef>
                <a:spcPts val="0"/>
              </a:spcBef>
              <a:spcAft>
                <a:spcPts val="0"/>
              </a:spcAft>
              <a:buNone/>
            </a:pPr>
            <a:r>
              <a:rPr b="1" lang="en" sz="1829">
                <a:latin typeface="Times New Roman"/>
                <a:ea typeface="Times New Roman"/>
                <a:cs typeface="Times New Roman"/>
                <a:sym typeface="Times New Roman"/>
              </a:rPr>
              <a:t>Classes:</a:t>
            </a:r>
            <a:endParaRPr b="1" sz="1829">
              <a:latin typeface="Times New Roman"/>
              <a:ea typeface="Times New Roman"/>
              <a:cs typeface="Times New Roman"/>
              <a:sym typeface="Times New Roman"/>
            </a:endParaRPr>
          </a:p>
          <a:p>
            <a:pPr indent="-344805" lvl="0" marL="914400" rtl="0" algn="just">
              <a:lnSpc>
                <a:spcPct val="115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Product</a:t>
            </a:r>
            <a:endParaRPr sz="1829">
              <a:latin typeface="Times New Roman"/>
              <a:ea typeface="Times New Roman"/>
              <a:cs typeface="Times New Roman"/>
              <a:sym typeface="Times New Roman"/>
            </a:endParaRPr>
          </a:p>
          <a:p>
            <a:pPr indent="-344805" lvl="0" marL="914400" rtl="0" algn="just">
              <a:lnSpc>
                <a:spcPct val="115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ProductController</a:t>
            </a:r>
            <a:endParaRPr sz="1829">
              <a:latin typeface="Times New Roman"/>
              <a:ea typeface="Times New Roman"/>
              <a:cs typeface="Times New Roman"/>
              <a:sym typeface="Times New Roman"/>
            </a:endParaRPr>
          </a:p>
          <a:p>
            <a:pPr indent="-344805" lvl="0" marL="914400" rtl="0" algn="just">
              <a:lnSpc>
                <a:spcPct val="115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ProductService</a:t>
            </a:r>
            <a:endParaRPr sz="1829">
              <a:latin typeface="Times New Roman"/>
              <a:ea typeface="Times New Roman"/>
              <a:cs typeface="Times New Roman"/>
              <a:sym typeface="Times New Roman"/>
            </a:endParaRPr>
          </a:p>
          <a:p>
            <a:pPr indent="-344805" lvl="0" marL="914400" rtl="0" algn="just">
              <a:lnSpc>
                <a:spcPct val="115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ProductRepository</a:t>
            </a:r>
            <a:endParaRPr sz="1829">
              <a:latin typeface="Times New Roman"/>
              <a:ea typeface="Times New Roman"/>
              <a:cs typeface="Times New Roman"/>
              <a:sym typeface="Times New Roman"/>
            </a:endParaRPr>
          </a:p>
          <a:p>
            <a:pPr indent="-344805" lvl="0" marL="914400" rtl="0" algn="just">
              <a:lnSpc>
                <a:spcPct val="115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TransactionService</a:t>
            </a:r>
            <a:endParaRPr sz="1829">
              <a:latin typeface="Times New Roman"/>
              <a:ea typeface="Times New Roman"/>
              <a:cs typeface="Times New Roman"/>
              <a:sym typeface="Times New Roman"/>
            </a:endParaRPr>
          </a:p>
          <a:p>
            <a:pPr indent="-344805" lvl="0" marL="914400" rtl="0" algn="just">
              <a:lnSpc>
                <a:spcPct val="115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AlertService</a:t>
            </a:r>
            <a:endParaRPr sz="1829">
              <a:latin typeface="Times New Roman"/>
              <a:ea typeface="Times New Roman"/>
              <a:cs typeface="Times New Roman"/>
              <a:sym typeface="Times New Roman"/>
            </a:endParaRPr>
          </a:p>
          <a:p>
            <a:pPr indent="0" lvl="0" marL="1828800" rtl="0" algn="just">
              <a:lnSpc>
                <a:spcPct val="115000"/>
              </a:lnSpc>
              <a:spcBef>
                <a:spcPts val="0"/>
              </a:spcBef>
              <a:spcAft>
                <a:spcPts val="0"/>
              </a:spcAft>
              <a:buNone/>
            </a:pPr>
            <a:r>
              <a:t/>
            </a:r>
            <a:endParaRPr sz="1829">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5"/>
          <p:cNvSpPr txBox="1"/>
          <p:nvPr>
            <p:ph type="ctrTitle"/>
          </p:nvPr>
        </p:nvSpPr>
        <p:spPr>
          <a:xfrm>
            <a:off x="895950" y="-97642"/>
            <a:ext cx="7491000" cy="6729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155">
                <a:latin typeface="Times New Roman"/>
                <a:ea typeface="Times New Roman"/>
                <a:cs typeface="Times New Roman"/>
                <a:sym typeface="Times New Roman"/>
              </a:rPr>
              <a:t>Module 2: </a:t>
            </a:r>
            <a:r>
              <a:rPr lang="en" sz="3155">
                <a:latin typeface="Times New Roman"/>
                <a:ea typeface="Times New Roman"/>
                <a:cs typeface="Times New Roman"/>
                <a:sym typeface="Times New Roman"/>
              </a:rPr>
              <a:t>Product / Inventory Management</a:t>
            </a:r>
            <a:endParaRPr sz="3155">
              <a:latin typeface="Times New Roman"/>
              <a:ea typeface="Times New Roman"/>
              <a:cs typeface="Times New Roman"/>
              <a:sym typeface="Times New Roman"/>
            </a:endParaRPr>
          </a:p>
        </p:txBody>
      </p:sp>
      <p:sp>
        <p:nvSpPr>
          <p:cNvPr id="128" name="Google Shape;128;p25"/>
          <p:cNvSpPr txBox="1"/>
          <p:nvPr>
            <p:ph idx="1" type="subTitle"/>
          </p:nvPr>
        </p:nvSpPr>
        <p:spPr>
          <a:xfrm>
            <a:off x="153000" y="418289"/>
            <a:ext cx="8613300" cy="421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b="1" lang="en" sz="1829">
                <a:latin typeface="Times New Roman"/>
                <a:ea typeface="Times New Roman"/>
                <a:cs typeface="Times New Roman"/>
                <a:sym typeface="Times New Roman"/>
              </a:rPr>
              <a:t>Database Schema:</a:t>
            </a:r>
            <a:endParaRPr sz="1829">
              <a:latin typeface="Times New Roman"/>
              <a:ea typeface="Times New Roman"/>
              <a:cs typeface="Times New Roman"/>
              <a:sym typeface="Times New Roman"/>
            </a:endParaRPr>
          </a:p>
        </p:txBody>
      </p:sp>
      <p:graphicFrame>
        <p:nvGraphicFramePr>
          <p:cNvPr id="129" name="Google Shape;129;p25"/>
          <p:cNvGraphicFramePr/>
          <p:nvPr/>
        </p:nvGraphicFramePr>
        <p:xfrm>
          <a:off x="538550" y="843332"/>
          <a:ext cx="3000000" cy="3000000"/>
        </p:xfrm>
        <a:graphic>
          <a:graphicData uri="http://schemas.openxmlformats.org/drawingml/2006/table">
            <a:tbl>
              <a:tblPr>
                <a:noFill/>
                <a:tableStyleId>{B5CE79E3-E71B-416C-A28F-E6886D8B84EE}</a:tableStyleId>
              </a:tblPr>
              <a:tblGrid>
                <a:gridCol w="2015625"/>
                <a:gridCol w="2657350"/>
                <a:gridCol w="3358050"/>
              </a:tblGrid>
              <a:tr h="340800">
                <a:tc>
                  <a:txBody>
                    <a:bodyPr/>
                    <a:lstStyle/>
                    <a:p>
                      <a:pPr indent="0" lvl="0" marL="0" rtl="0" algn="ctr">
                        <a:lnSpc>
                          <a:spcPct val="115000"/>
                        </a:lnSpc>
                        <a:spcBef>
                          <a:spcPts val="0"/>
                        </a:spcBef>
                        <a:spcAft>
                          <a:spcPts val="0"/>
                        </a:spcAft>
                        <a:buNone/>
                      </a:pPr>
                      <a:r>
                        <a:rPr b="1" lang="en" sz="1700">
                          <a:latin typeface="Times New Roman"/>
                          <a:ea typeface="Times New Roman"/>
                          <a:cs typeface="Times New Roman"/>
                          <a:sym typeface="Times New Roman"/>
                        </a:rPr>
                        <a:t>Field</a:t>
                      </a:r>
                      <a:endParaRPr b="1" sz="17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b="1" lang="en" sz="1700">
                          <a:latin typeface="Times New Roman"/>
                          <a:ea typeface="Times New Roman"/>
                          <a:cs typeface="Times New Roman"/>
                          <a:sym typeface="Times New Roman"/>
                        </a:rPr>
                        <a:t>Type</a:t>
                      </a:r>
                      <a:endParaRPr b="1" sz="17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b="1" lang="en" sz="1700">
                          <a:latin typeface="Times New Roman"/>
                          <a:ea typeface="Times New Roman"/>
                          <a:cs typeface="Times New Roman"/>
                          <a:sym typeface="Times New Roman"/>
                        </a:rPr>
                        <a:t>Description</a:t>
                      </a:r>
                      <a:endParaRPr b="1" sz="1700">
                        <a:latin typeface="Times New Roman"/>
                        <a:ea typeface="Times New Roman"/>
                        <a:cs typeface="Times New Roman"/>
                        <a:sym typeface="Times New Roman"/>
                      </a:endParaRPr>
                    </a:p>
                  </a:txBody>
                  <a:tcPr marT="91425" marB="91425" marR="91425" marL="91425"/>
                </a:tc>
              </a:tr>
              <a:tr h="318825">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product_id</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Primary Key(BIGINT)</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Unique product id</a:t>
                      </a:r>
                      <a:endParaRPr sz="1500">
                        <a:latin typeface="Times New Roman"/>
                        <a:ea typeface="Times New Roman"/>
                        <a:cs typeface="Times New Roman"/>
                        <a:sym typeface="Times New Roman"/>
                      </a:endParaRPr>
                    </a:p>
                  </a:txBody>
                  <a:tcPr marT="91425" marB="91425" marR="91425" marL="91425"/>
                </a:tc>
              </a:tr>
              <a:tr h="318825">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sku</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VARCHAR</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Stock keeping unit</a:t>
                      </a:r>
                      <a:endParaRPr sz="1500">
                        <a:latin typeface="Times New Roman"/>
                        <a:ea typeface="Times New Roman"/>
                        <a:cs typeface="Times New Roman"/>
                        <a:sym typeface="Times New Roman"/>
                      </a:endParaRPr>
                    </a:p>
                  </a:txBody>
                  <a:tcPr marT="91425" marB="91425" marR="91425" marL="91425"/>
                </a:tc>
              </a:tr>
              <a:tr h="318825">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product_name</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en" sz="1500">
                          <a:solidFill>
                            <a:schemeClr val="dk1"/>
                          </a:solidFill>
                          <a:latin typeface="Times New Roman"/>
                          <a:ea typeface="Times New Roman"/>
                          <a:cs typeface="Times New Roman"/>
                          <a:sym typeface="Times New Roman"/>
                        </a:rPr>
                        <a:t>VARCHAR</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Product name</a:t>
                      </a:r>
                      <a:endParaRPr sz="1500">
                        <a:latin typeface="Times New Roman"/>
                        <a:ea typeface="Times New Roman"/>
                        <a:cs typeface="Times New Roman"/>
                        <a:sym typeface="Times New Roman"/>
                      </a:endParaRPr>
                    </a:p>
                  </a:txBody>
                  <a:tcPr marT="91425" marB="91425" marR="91425" marL="91425"/>
                </a:tc>
              </a:tr>
              <a:tr h="318825">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category</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en" sz="1500">
                          <a:solidFill>
                            <a:schemeClr val="dk1"/>
                          </a:solidFill>
                          <a:latin typeface="Times New Roman"/>
                          <a:ea typeface="Times New Roman"/>
                          <a:cs typeface="Times New Roman"/>
                          <a:sym typeface="Times New Roman"/>
                        </a:rPr>
                        <a:t>VARCHAR</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Type of Product</a:t>
                      </a:r>
                      <a:endParaRPr sz="1500">
                        <a:latin typeface="Times New Roman"/>
                        <a:ea typeface="Times New Roman"/>
                        <a:cs typeface="Times New Roman"/>
                        <a:sym typeface="Times New Roman"/>
                      </a:endParaRPr>
                    </a:p>
                  </a:txBody>
                  <a:tcPr marT="91425" marB="91425" marR="91425" marL="91425"/>
                </a:tc>
              </a:tr>
              <a:tr h="318825">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supplier</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en" sz="1500">
                          <a:solidFill>
                            <a:schemeClr val="dk1"/>
                          </a:solidFill>
                          <a:latin typeface="Times New Roman"/>
                          <a:ea typeface="Times New Roman"/>
                          <a:cs typeface="Times New Roman"/>
                          <a:sym typeface="Times New Roman"/>
                        </a:rPr>
                        <a:t>VARCHAR</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Supplier Detail</a:t>
                      </a:r>
                      <a:endParaRPr sz="1500">
                        <a:latin typeface="Times New Roman"/>
                        <a:ea typeface="Times New Roman"/>
                        <a:cs typeface="Times New Roman"/>
                        <a:sym typeface="Times New Roman"/>
                      </a:endParaRPr>
                    </a:p>
                  </a:txBody>
                  <a:tcPr marT="91425" marB="91425" marR="91425" marL="91425"/>
                </a:tc>
              </a:tr>
              <a:tr h="318825">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u</a:t>
                      </a:r>
                      <a:r>
                        <a:rPr lang="en" sz="1500">
                          <a:latin typeface="Times New Roman"/>
                          <a:ea typeface="Times New Roman"/>
                          <a:cs typeface="Times New Roman"/>
                          <a:sym typeface="Times New Roman"/>
                        </a:rPr>
                        <a:t>nit_price</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DECIMAL</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Price of Product</a:t>
                      </a:r>
                      <a:endParaRPr sz="1500">
                        <a:latin typeface="Times New Roman"/>
                        <a:ea typeface="Times New Roman"/>
                        <a:cs typeface="Times New Roman"/>
                        <a:sym typeface="Times New Roman"/>
                      </a:endParaRPr>
                    </a:p>
                  </a:txBody>
                  <a:tcPr marT="91425" marB="91425" marR="91425" marL="91425"/>
                </a:tc>
              </a:tr>
              <a:tr h="318825">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stock_quantity</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INT</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Current / Real time quantity of product</a:t>
                      </a:r>
                      <a:endParaRPr sz="1500">
                        <a:latin typeface="Times New Roman"/>
                        <a:ea typeface="Times New Roman"/>
                        <a:cs typeface="Times New Roman"/>
                        <a:sym typeface="Times New Roman"/>
                      </a:endParaRPr>
                    </a:p>
                  </a:txBody>
                  <a:tcPr marT="91425" marB="91425" marR="91425" marL="91425"/>
                </a:tc>
              </a:tr>
              <a:tr h="318825">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created_at</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TIMESTAMP</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Timestamp of product creation</a:t>
                      </a:r>
                      <a:endParaRPr sz="1500">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6"/>
          <p:cNvSpPr txBox="1"/>
          <p:nvPr>
            <p:ph type="ctrTitle"/>
          </p:nvPr>
        </p:nvSpPr>
        <p:spPr>
          <a:xfrm>
            <a:off x="1085275" y="-1018584"/>
            <a:ext cx="7301700" cy="166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155">
                <a:latin typeface="Times New Roman"/>
                <a:ea typeface="Times New Roman"/>
                <a:cs typeface="Times New Roman"/>
                <a:sym typeface="Times New Roman"/>
              </a:rPr>
              <a:t>Inventory</a:t>
            </a:r>
            <a:r>
              <a:rPr lang="en" sz="3155">
                <a:latin typeface="Times New Roman"/>
                <a:ea typeface="Times New Roman"/>
                <a:cs typeface="Times New Roman"/>
                <a:sym typeface="Times New Roman"/>
              </a:rPr>
              <a:t> Flow Diagram</a:t>
            </a:r>
            <a:endParaRPr sz="3155">
              <a:latin typeface="Times New Roman"/>
              <a:ea typeface="Times New Roman"/>
              <a:cs typeface="Times New Roman"/>
              <a:sym typeface="Times New Roman"/>
            </a:endParaRPr>
          </a:p>
        </p:txBody>
      </p:sp>
      <p:sp>
        <p:nvSpPr>
          <p:cNvPr id="135" name="Google Shape;135;p26"/>
          <p:cNvSpPr txBox="1"/>
          <p:nvPr>
            <p:ph idx="1" type="subTitle"/>
          </p:nvPr>
        </p:nvSpPr>
        <p:spPr>
          <a:xfrm>
            <a:off x="1838600" y="792653"/>
            <a:ext cx="8957400" cy="4689600"/>
          </a:xfrm>
          <a:prstGeom prst="rect">
            <a:avLst/>
          </a:prstGeom>
        </p:spPr>
        <p:txBody>
          <a:bodyPr anchorCtr="0" anchor="t" bIns="91425" lIns="91425" spcFirstLastPara="1" rIns="91425" wrap="square" tIns="91425">
            <a:noAutofit/>
          </a:bodyPr>
          <a:lstStyle/>
          <a:p>
            <a:pPr indent="457200" lvl="0" marL="1371600" rtl="0" algn="l">
              <a:lnSpc>
                <a:spcPct val="150000"/>
              </a:lnSpc>
              <a:spcBef>
                <a:spcPts val="0"/>
              </a:spcBef>
              <a:spcAft>
                <a:spcPts val="0"/>
              </a:spcAft>
              <a:buClr>
                <a:schemeClr val="dk1"/>
              </a:buClr>
              <a:buSzPts val="1100"/>
              <a:buFont typeface="Arial"/>
              <a:buNone/>
            </a:pPr>
            <a:r>
              <a:rPr b="1" lang="en" sz="1500">
                <a:solidFill>
                  <a:schemeClr val="dk1"/>
                </a:solidFill>
              </a:rPr>
              <a:t>User</a:t>
            </a:r>
            <a:endParaRPr b="1" sz="1500">
              <a:solidFill>
                <a:schemeClr val="dk1"/>
              </a:solidFill>
            </a:endParaRPr>
          </a:p>
          <a:p>
            <a:pPr indent="457200" lvl="0" marL="1371600" rtl="0" algn="l">
              <a:lnSpc>
                <a:spcPct val="150000"/>
              </a:lnSpc>
              <a:spcBef>
                <a:spcPts val="0"/>
              </a:spcBef>
              <a:spcAft>
                <a:spcPts val="0"/>
              </a:spcAft>
              <a:buClr>
                <a:schemeClr val="dk1"/>
              </a:buClr>
              <a:buSzPts val="1100"/>
              <a:buFont typeface="Arial"/>
              <a:buNone/>
            </a:pPr>
            <a:r>
              <a:rPr b="1" lang="en" sz="1500">
                <a:solidFill>
                  <a:schemeClr val="dk1"/>
                </a:solidFill>
              </a:rPr>
              <a:t>  ↓</a:t>
            </a:r>
            <a:endParaRPr b="1" sz="1500">
              <a:solidFill>
                <a:schemeClr val="dk1"/>
              </a:solidFill>
            </a:endParaRPr>
          </a:p>
          <a:p>
            <a:pPr indent="457200" lvl="0" marL="1371600" rtl="0" algn="l">
              <a:lnSpc>
                <a:spcPct val="150000"/>
              </a:lnSpc>
              <a:spcBef>
                <a:spcPts val="0"/>
              </a:spcBef>
              <a:spcAft>
                <a:spcPts val="0"/>
              </a:spcAft>
              <a:buClr>
                <a:schemeClr val="dk1"/>
              </a:buClr>
              <a:buSzPts val="1100"/>
              <a:buFont typeface="Arial"/>
              <a:buNone/>
            </a:pPr>
            <a:r>
              <a:rPr b="1" lang="en" sz="1500">
                <a:solidFill>
                  <a:schemeClr val="dk1"/>
                </a:solidFill>
              </a:rPr>
              <a:t>Inventory Request (Add / Update / Remove Stock)</a:t>
            </a:r>
            <a:endParaRPr b="1" sz="1500">
              <a:solidFill>
                <a:schemeClr val="dk1"/>
              </a:solidFill>
            </a:endParaRPr>
          </a:p>
          <a:p>
            <a:pPr indent="457200" lvl="0" marL="1371600" rtl="0" algn="l">
              <a:lnSpc>
                <a:spcPct val="150000"/>
              </a:lnSpc>
              <a:spcBef>
                <a:spcPts val="0"/>
              </a:spcBef>
              <a:spcAft>
                <a:spcPts val="0"/>
              </a:spcAft>
              <a:buClr>
                <a:schemeClr val="dk1"/>
              </a:buClr>
              <a:buSzPts val="1100"/>
              <a:buFont typeface="Arial"/>
              <a:buNone/>
            </a:pPr>
            <a:r>
              <a:rPr b="1" lang="en" sz="1500">
                <a:solidFill>
                  <a:schemeClr val="dk1"/>
                </a:solidFill>
              </a:rPr>
              <a:t>  ↓</a:t>
            </a:r>
            <a:endParaRPr b="1" sz="1500">
              <a:solidFill>
                <a:schemeClr val="dk1"/>
              </a:solidFill>
            </a:endParaRPr>
          </a:p>
          <a:p>
            <a:pPr indent="457200" lvl="0" marL="1371600" rtl="0" algn="l">
              <a:lnSpc>
                <a:spcPct val="150000"/>
              </a:lnSpc>
              <a:spcBef>
                <a:spcPts val="0"/>
              </a:spcBef>
              <a:spcAft>
                <a:spcPts val="0"/>
              </a:spcAft>
              <a:buClr>
                <a:schemeClr val="dk1"/>
              </a:buClr>
              <a:buSzPts val="1100"/>
              <a:buFont typeface="Arial"/>
              <a:buNone/>
            </a:pPr>
            <a:r>
              <a:rPr b="1" lang="en" sz="1500">
                <a:solidFill>
                  <a:schemeClr val="dk1"/>
                </a:solidFill>
              </a:rPr>
              <a:t>Inventory Module</a:t>
            </a:r>
            <a:endParaRPr b="1" sz="1500">
              <a:solidFill>
                <a:schemeClr val="dk1"/>
              </a:solidFill>
            </a:endParaRPr>
          </a:p>
          <a:p>
            <a:pPr indent="457200" lvl="0" marL="1371600" rtl="0" algn="l">
              <a:lnSpc>
                <a:spcPct val="150000"/>
              </a:lnSpc>
              <a:spcBef>
                <a:spcPts val="0"/>
              </a:spcBef>
              <a:spcAft>
                <a:spcPts val="0"/>
              </a:spcAft>
              <a:buClr>
                <a:schemeClr val="dk1"/>
              </a:buClr>
              <a:buSzPts val="1100"/>
              <a:buFont typeface="Arial"/>
              <a:buNone/>
            </a:pPr>
            <a:r>
              <a:rPr b="1" lang="en" sz="1500">
                <a:solidFill>
                  <a:schemeClr val="dk1"/>
                </a:solidFill>
              </a:rPr>
              <a:t>  ↓</a:t>
            </a:r>
            <a:endParaRPr b="1" sz="1500">
              <a:solidFill>
                <a:schemeClr val="dk1"/>
              </a:solidFill>
            </a:endParaRPr>
          </a:p>
          <a:p>
            <a:pPr indent="457200" lvl="0" marL="1371600" rtl="0" algn="l">
              <a:lnSpc>
                <a:spcPct val="150000"/>
              </a:lnSpc>
              <a:spcBef>
                <a:spcPts val="0"/>
              </a:spcBef>
              <a:spcAft>
                <a:spcPts val="0"/>
              </a:spcAft>
              <a:buClr>
                <a:schemeClr val="dk1"/>
              </a:buClr>
              <a:buSzPts val="1100"/>
              <a:buFont typeface="Arial"/>
              <a:buNone/>
            </a:pPr>
            <a:r>
              <a:rPr b="1" lang="en" sz="1500">
                <a:solidFill>
                  <a:schemeClr val="dk1"/>
                </a:solidFill>
              </a:rPr>
              <a:t>Stock Validation</a:t>
            </a:r>
            <a:endParaRPr b="1" sz="1500">
              <a:solidFill>
                <a:schemeClr val="dk1"/>
              </a:solidFill>
            </a:endParaRPr>
          </a:p>
          <a:p>
            <a:pPr indent="457200" lvl="0" marL="1371600" rtl="0" algn="l">
              <a:lnSpc>
                <a:spcPct val="150000"/>
              </a:lnSpc>
              <a:spcBef>
                <a:spcPts val="0"/>
              </a:spcBef>
              <a:spcAft>
                <a:spcPts val="0"/>
              </a:spcAft>
              <a:buClr>
                <a:schemeClr val="dk1"/>
              </a:buClr>
              <a:buSzPts val="1100"/>
              <a:buFont typeface="Arial"/>
              <a:buNone/>
            </a:pPr>
            <a:r>
              <a:rPr b="1" lang="en" sz="1500">
                <a:solidFill>
                  <a:schemeClr val="dk1"/>
                </a:solidFill>
              </a:rPr>
              <a:t>  ↓</a:t>
            </a:r>
            <a:endParaRPr b="1" sz="1500">
              <a:solidFill>
                <a:schemeClr val="dk1"/>
              </a:solidFill>
            </a:endParaRPr>
          </a:p>
          <a:p>
            <a:pPr indent="457200" lvl="0" marL="1371600" rtl="0" algn="l">
              <a:lnSpc>
                <a:spcPct val="150000"/>
              </a:lnSpc>
              <a:spcBef>
                <a:spcPts val="0"/>
              </a:spcBef>
              <a:spcAft>
                <a:spcPts val="0"/>
              </a:spcAft>
              <a:buClr>
                <a:schemeClr val="dk1"/>
              </a:buClr>
              <a:buSzPts val="1100"/>
              <a:buFont typeface="Arial"/>
              <a:buNone/>
            </a:pPr>
            <a:r>
              <a:rPr b="1" lang="en" sz="1500">
                <a:solidFill>
                  <a:schemeClr val="dk1"/>
                </a:solidFill>
              </a:rPr>
              <a:t>Database Update</a:t>
            </a:r>
            <a:endParaRPr b="1" sz="1500">
              <a:solidFill>
                <a:schemeClr val="dk1"/>
              </a:solidFill>
            </a:endParaRPr>
          </a:p>
          <a:p>
            <a:pPr indent="457200" lvl="0" marL="1371600" rtl="0" algn="l">
              <a:lnSpc>
                <a:spcPct val="150000"/>
              </a:lnSpc>
              <a:spcBef>
                <a:spcPts val="0"/>
              </a:spcBef>
              <a:spcAft>
                <a:spcPts val="0"/>
              </a:spcAft>
              <a:buClr>
                <a:schemeClr val="dk1"/>
              </a:buClr>
              <a:buSzPts val="1100"/>
              <a:buFont typeface="Arial"/>
              <a:buNone/>
            </a:pPr>
            <a:r>
              <a:rPr b="1" lang="en" sz="1500">
                <a:solidFill>
                  <a:schemeClr val="dk1"/>
                </a:solidFill>
              </a:rPr>
              <a:t>  ↓</a:t>
            </a:r>
            <a:endParaRPr b="1" sz="1500">
              <a:solidFill>
                <a:schemeClr val="dk1"/>
              </a:solidFill>
            </a:endParaRPr>
          </a:p>
          <a:p>
            <a:pPr indent="457200" lvl="0" marL="1371600" rtl="0" algn="l">
              <a:lnSpc>
                <a:spcPct val="150000"/>
              </a:lnSpc>
              <a:spcBef>
                <a:spcPts val="0"/>
              </a:spcBef>
              <a:spcAft>
                <a:spcPts val="0"/>
              </a:spcAft>
              <a:buClr>
                <a:schemeClr val="dk1"/>
              </a:buClr>
              <a:buSzPts val="1100"/>
              <a:buFont typeface="Arial"/>
              <a:buNone/>
            </a:pPr>
            <a:r>
              <a:rPr b="1" lang="en" sz="1500">
                <a:solidFill>
                  <a:schemeClr val="dk1"/>
                </a:solidFill>
              </a:rPr>
              <a:t>Transaction Recorded</a:t>
            </a:r>
            <a:endParaRPr b="1" sz="1500">
              <a:solidFill>
                <a:schemeClr val="dk1"/>
              </a:solidFill>
            </a:endParaRPr>
          </a:p>
          <a:p>
            <a:pPr indent="457200" lvl="0" marL="1371600" rtl="0" algn="l">
              <a:lnSpc>
                <a:spcPct val="150000"/>
              </a:lnSpc>
              <a:spcBef>
                <a:spcPts val="0"/>
              </a:spcBef>
              <a:spcAft>
                <a:spcPts val="0"/>
              </a:spcAft>
              <a:buClr>
                <a:schemeClr val="dk1"/>
              </a:buClr>
              <a:buSzPts val="1100"/>
              <a:buFont typeface="Arial"/>
              <a:buNone/>
            </a:pPr>
            <a:r>
              <a:t/>
            </a:r>
            <a:endParaRPr b="1" sz="1500">
              <a:solidFill>
                <a:schemeClr val="dk1"/>
              </a:solidFill>
            </a:endParaRPr>
          </a:p>
          <a:p>
            <a:pPr indent="457200" lvl="0" marL="1371600" rtl="0" algn="l">
              <a:lnSpc>
                <a:spcPct val="150000"/>
              </a:lnSpc>
              <a:spcBef>
                <a:spcPts val="0"/>
              </a:spcBef>
              <a:spcAft>
                <a:spcPts val="0"/>
              </a:spcAft>
              <a:buNone/>
            </a:pPr>
            <a:r>
              <a:t/>
            </a:r>
            <a:endParaRPr b="1" sz="15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7"/>
          <p:cNvSpPr txBox="1"/>
          <p:nvPr>
            <p:ph type="ctrTitle"/>
          </p:nvPr>
        </p:nvSpPr>
        <p:spPr>
          <a:xfrm>
            <a:off x="1085275" y="-1018584"/>
            <a:ext cx="7301700" cy="166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155">
                <a:latin typeface="Times New Roman"/>
                <a:ea typeface="Times New Roman"/>
                <a:cs typeface="Times New Roman"/>
                <a:sym typeface="Times New Roman"/>
              </a:rPr>
              <a:t>Pseudocode (</a:t>
            </a:r>
            <a:r>
              <a:rPr lang="en" sz="3155">
                <a:latin typeface="Times New Roman"/>
                <a:ea typeface="Times New Roman"/>
                <a:cs typeface="Times New Roman"/>
                <a:sym typeface="Times New Roman"/>
              </a:rPr>
              <a:t>ProductController</a:t>
            </a:r>
            <a:r>
              <a:rPr lang="en" sz="3155">
                <a:latin typeface="Times New Roman"/>
                <a:ea typeface="Times New Roman"/>
                <a:cs typeface="Times New Roman"/>
                <a:sym typeface="Times New Roman"/>
              </a:rPr>
              <a:t>)</a:t>
            </a:r>
            <a:endParaRPr sz="3155">
              <a:latin typeface="Times New Roman"/>
              <a:ea typeface="Times New Roman"/>
              <a:cs typeface="Times New Roman"/>
              <a:sym typeface="Times New Roman"/>
            </a:endParaRPr>
          </a:p>
        </p:txBody>
      </p:sp>
      <p:sp>
        <p:nvSpPr>
          <p:cNvPr id="141" name="Google Shape;141;p27"/>
          <p:cNvSpPr txBox="1"/>
          <p:nvPr>
            <p:ph idx="1" type="subTitle"/>
          </p:nvPr>
        </p:nvSpPr>
        <p:spPr>
          <a:xfrm>
            <a:off x="300625" y="927904"/>
            <a:ext cx="8957400" cy="46896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 sz="1500">
                <a:solidFill>
                  <a:schemeClr val="dk1"/>
                </a:solidFill>
              </a:rPr>
              <a:t>ProductController</a:t>
            </a:r>
            <a:endParaRPr b="1" sz="1500">
              <a:solidFill>
                <a:schemeClr val="dk1"/>
              </a:solidFill>
            </a:endParaRPr>
          </a:p>
          <a:p>
            <a:pPr indent="0" lvl="0" marL="1828800" rtl="0" algn="just">
              <a:lnSpc>
                <a:spcPct val="150000"/>
              </a:lnSpc>
              <a:spcBef>
                <a:spcPts val="400"/>
              </a:spcBef>
              <a:spcAft>
                <a:spcPts val="0"/>
              </a:spcAft>
              <a:buNone/>
            </a:pPr>
            <a:r>
              <a:rPr lang="en" sz="1100">
                <a:solidFill>
                  <a:srgbClr val="188038"/>
                </a:solidFill>
                <a:latin typeface="Roboto Mono"/>
                <a:ea typeface="Roboto Mono"/>
                <a:cs typeface="Roboto Mono"/>
                <a:sym typeface="Roboto Mono"/>
              </a:rPr>
              <a:t>FUNCTION addProduct(productData)</a:t>
            </a:r>
            <a:endParaRPr sz="1100">
              <a:solidFill>
                <a:srgbClr val="188038"/>
              </a:solidFill>
              <a:latin typeface="Roboto Mono"/>
              <a:ea typeface="Roboto Mono"/>
              <a:cs typeface="Roboto Mono"/>
              <a:sym typeface="Roboto Mono"/>
            </a:endParaRPr>
          </a:p>
          <a:p>
            <a:pPr indent="0" lvl="0" marL="1828800" rtl="0" algn="just">
              <a:lnSpc>
                <a:spcPct val="150000"/>
              </a:lnSpc>
              <a:spcBef>
                <a:spcPts val="0"/>
              </a:spcBef>
              <a:spcAft>
                <a:spcPts val="0"/>
              </a:spcAft>
              <a:buNone/>
            </a:pPr>
            <a:r>
              <a:rPr lang="en" sz="1100">
                <a:solidFill>
                  <a:srgbClr val="188038"/>
                </a:solidFill>
                <a:latin typeface="Roboto Mono"/>
                <a:ea typeface="Roboto Mono"/>
                <a:cs typeface="Roboto Mono"/>
                <a:sym typeface="Roboto Mono"/>
              </a:rPr>
              <a:t>    ProductService.addProduct(productData)</a:t>
            </a:r>
            <a:endParaRPr sz="1100">
              <a:solidFill>
                <a:srgbClr val="188038"/>
              </a:solidFill>
              <a:latin typeface="Roboto Mono"/>
              <a:ea typeface="Roboto Mono"/>
              <a:cs typeface="Roboto Mono"/>
              <a:sym typeface="Roboto Mono"/>
            </a:endParaRPr>
          </a:p>
          <a:p>
            <a:pPr indent="0" lvl="0" marL="1828800" rtl="0" algn="just">
              <a:lnSpc>
                <a:spcPct val="150000"/>
              </a:lnSpc>
              <a:spcBef>
                <a:spcPts val="0"/>
              </a:spcBef>
              <a:spcAft>
                <a:spcPts val="0"/>
              </a:spcAft>
              <a:buNone/>
            </a:pPr>
            <a:r>
              <a:rPr lang="en" sz="1100">
                <a:solidFill>
                  <a:srgbClr val="188038"/>
                </a:solidFill>
                <a:latin typeface="Roboto Mono"/>
                <a:ea typeface="Roboto Mono"/>
                <a:cs typeface="Roboto Mono"/>
                <a:sym typeface="Roboto Mono"/>
              </a:rPr>
              <a:t>END FUNCTION</a:t>
            </a:r>
            <a:endParaRPr sz="1100">
              <a:solidFill>
                <a:srgbClr val="188038"/>
              </a:solidFill>
              <a:latin typeface="Roboto Mono"/>
              <a:ea typeface="Roboto Mono"/>
              <a:cs typeface="Roboto Mono"/>
              <a:sym typeface="Roboto Mono"/>
            </a:endParaRPr>
          </a:p>
          <a:p>
            <a:pPr indent="0" lvl="0" marL="1828800" rtl="0" algn="just">
              <a:lnSpc>
                <a:spcPct val="150000"/>
              </a:lnSpc>
              <a:spcBef>
                <a:spcPts val="0"/>
              </a:spcBef>
              <a:spcAft>
                <a:spcPts val="0"/>
              </a:spcAft>
              <a:buNone/>
            </a:pPr>
            <a:r>
              <a:t/>
            </a:r>
            <a:endParaRPr sz="1100">
              <a:solidFill>
                <a:srgbClr val="188038"/>
              </a:solidFill>
              <a:latin typeface="Roboto Mono"/>
              <a:ea typeface="Roboto Mono"/>
              <a:cs typeface="Roboto Mono"/>
              <a:sym typeface="Roboto Mono"/>
            </a:endParaRPr>
          </a:p>
          <a:p>
            <a:pPr indent="0" lvl="0" marL="1828800" rtl="0" algn="just">
              <a:lnSpc>
                <a:spcPct val="150000"/>
              </a:lnSpc>
              <a:spcBef>
                <a:spcPts val="0"/>
              </a:spcBef>
              <a:spcAft>
                <a:spcPts val="0"/>
              </a:spcAft>
              <a:buNone/>
            </a:pPr>
            <a:r>
              <a:rPr lang="en" sz="1100">
                <a:solidFill>
                  <a:srgbClr val="188038"/>
                </a:solidFill>
                <a:latin typeface="Roboto Mono"/>
                <a:ea typeface="Roboto Mono"/>
                <a:cs typeface="Roboto Mono"/>
                <a:sym typeface="Roboto Mono"/>
              </a:rPr>
              <a:t>FUNCTION stockIn(productId, quantity)</a:t>
            </a:r>
            <a:endParaRPr sz="1100">
              <a:solidFill>
                <a:srgbClr val="188038"/>
              </a:solidFill>
              <a:latin typeface="Roboto Mono"/>
              <a:ea typeface="Roboto Mono"/>
              <a:cs typeface="Roboto Mono"/>
              <a:sym typeface="Roboto Mono"/>
            </a:endParaRPr>
          </a:p>
          <a:p>
            <a:pPr indent="0" lvl="0" marL="1828800" rtl="0" algn="just">
              <a:lnSpc>
                <a:spcPct val="150000"/>
              </a:lnSpc>
              <a:spcBef>
                <a:spcPts val="0"/>
              </a:spcBef>
              <a:spcAft>
                <a:spcPts val="0"/>
              </a:spcAft>
              <a:buNone/>
            </a:pPr>
            <a:r>
              <a:rPr lang="en" sz="1100">
                <a:solidFill>
                  <a:srgbClr val="188038"/>
                </a:solidFill>
                <a:latin typeface="Roboto Mono"/>
                <a:ea typeface="Roboto Mono"/>
                <a:cs typeface="Roboto Mono"/>
                <a:sym typeface="Roboto Mono"/>
              </a:rPr>
              <a:t>    ProductService.increaseStock(productId, quantity)</a:t>
            </a:r>
            <a:endParaRPr sz="1100">
              <a:solidFill>
                <a:srgbClr val="188038"/>
              </a:solidFill>
              <a:latin typeface="Roboto Mono"/>
              <a:ea typeface="Roboto Mono"/>
              <a:cs typeface="Roboto Mono"/>
              <a:sym typeface="Roboto Mono"/>
            </a:endParaRPr>
          </a:p>
          <a:p>
            <a:pPr indent="0" lvl="0" marL="1828800" rtl="0" algn="just">
              <a:lnSpc>
                <a:spcPct val="150000"/>
              </a:lnSpc>
              <a:spcBef>
                <a:spcPts val="0"/>
              </a:spcBef>
              <a:spcAft>
                <a:spcPts val="0"/>
              </a:spcAft>
              <a:buNone/>
            </a:pPr>
            <a:r>
              <a:rPr lang="en" sz="1100">
                <a:solidFill>
                  <a:srgbClr val="188038"/>
                </a:solidFill>
                <a:latin typeface="Roboto Mono"/>
                <a:ea typeface="Roboto Mono"/>
                <a:cs typeface="Roboto Mono"/>
                <a:sym typeface="Roboto Mono"/>
              </a:rPr>
              <a:t>END FUNCTION</a:t>
            </a:r>
            <a:endParaRPr sz="1100">
              <a:solidFill>
                <a:srgbClr val="188038"/>
              </a:solidFill>
              <a:latin typeface="Roboto Mono"/>
              <a:ea typeface="Roboto Mono"/>
              <a:cs typeface="Roboto Mono"/>
              <a:sym typeface="Roboto Mono"/>
            </a:endParaRPr>
          </a:p>
          <a:p>
            <a:pPr indent="0" lvl="0" marL="1828800" rtl="0" algn="just">
              <a:lnSpc>
                <a:spcPct val="150000"/>
              </a:lnSpc>
              <a:spcBef>
                <a:spcPts val="0"/>
              </a:spcBef>
              <a:spcAft>
                <a:spcPts val="0"/>
              </a:spcAft>
              <a:buNone/>
            </a:pPr>
            <a:r>
              <a:t/>
            </a:r>
            <a:endParaRPr sz="1100">
              <a:solidFill>
                <a:srgbClr val="188038"/>
              </a:solidFill>
              <a:latin typeface="Roboto Mono"/>
              <a:ea typeface="Roboto Mono"/>
              <a:cs typeface="Roboto Mono"/>
              <a:sym typeface="Roboto Mono"/>
            </a:endParaRPr>
          </a:p>
          <a:p>
            <a:pPr indent="0" lvl="0" marL="1828800" rtl="0" algn="just">
              <a:lnSpc>
                <a:spcPct val="150000"/>
              </a:lnSpc>
              <a:spcBef>
                <a:spcPts val="0"/>
              </a:spcBef>
              <a:spcAft>
                <a:spcPts val="0"/>
              </a:spcAft>
              <a:buNone/>
            </a:pPr>
            <a:r>
              <a:rPr lang="en" sz="1100">
                <a:solidFill>
                  <a:srgbClr val="188038"/>
                </a:solidFill>
                <a:latin typeface="Roboto Mono"/>
                <a:ea typeface="Roboto Mono"/>
                <a:cs typeface="Roboto Mono"/>
                <a:sym typeface="Roboto Mono"/>
              </a:rPr>
              <a:t>FUNCTION stockOut(productId, quantity)</a:t>
            </a:r>
            <a:endParaRPr sz="1100">
              <a:solidFill>
                <a:srgbClr val="188038"/>
              </a:solidFill>
              <a:latin typeface="Roboto Mono"/>
              <a:ea typeface="Roboto Mono"/>
              <a:cs typeface="Roboto Mono"/>
              <a:sym typeface="Roboto Mono"/>
            </a:endParaRPr>
          </a:p>
          <a:p>
            <a:pPr indent="0" lvl="0" marL="1828800" rtl="0" algn="just">
              <a:lnSpc>
                <a:spcPct val="150000"/>
              </a:lnSpc>
              <a:spcBef>
                <a:spcPts val="0"/>
              </a:spcBef>
              <a:spcAft>
                <a:spcPts val="0"/>
              </a:spcAft>
              <a:buNone/>
            </a:pPr>
            <a:r>
              <a:rPr lang="en" sz="1100">
                <a:solidFill>
                  <a:srgbClr val="188038"/>
                </a:solidFill>
                <a:latin typeface="Roboto Mono"/>
                <a:ea typeface="Roboto Mono"/>
                <a:cs typeface="Roboto Mono"/>
                <a:sym typeface="Roboto Mono"/>
              </a:rPr>
              <a:t>    ProductService.decreaseStock(productId, quantity)</a:t>
            </a:r>
            <a:endParaRPr sz="1100">
              <a:solidFill>
                <a:srgbClr val="188038"/>
              </a:solidFill>
              <a:latin typeface="Roboto Mono"/>
              <a:ea typeface="Roboto Mono"/>
              <a:cs typeface="Roboto Mono"/>
              <a:sym typeface="Roboto Mono"/>
            </a:endParaRPr>
          </a:p>
          <a:p>
            <a:pPr indent="0" lvl="0" marL="1828800" rtl="0" algn="just">
              <a:lnSpc>
                <a:spcPct val="150000"/>
              </a:lnSpc>
              <a:spcBef>
                <a:spcPts val="0"/>
              </a:spcBef>
              <a:spcAft>
                <a:spcPts val="0"/>
              </a:spcAft>
              <a:buNone/>
            </a:pPr>
            <a:r>
              <a:rPr lang="en" sz="1100">
                <a:solidFill>
                  <a:srgbClr val="188038"/>
                </a:solidFill>
                <a:latin typeface="Roboto Mono"/>
                <a:ea typeface="Roboto Mono"/>
                <a:cs typeface="Roboto Mono"/>
                <a:sym typeface="Roboto Mono"/>
              </a:rPr>
              <a:t>END FUNCTION</a:t>
            </a:r>
            <a:endParaRPr sz="1829">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8"/>
          <p:cNvSpPr txBox="1"/>
          <p:nvPr>
            <p:ph idx="1" type="subTitle"/>
          </p:nvPr>
        </p:nvSpPr>
        <p:spPr>
          <a:xfrm>
            <a:off x="300625" y="1108744"/>
            <a:ext cx="8957400" cy="46896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rgbClr val="000000"/>
              </a:buClr>
              <a:buSzPts val="1100"/>
              <a:buFont typeface="Arial"/>
              <a:buNone/>
            </a:pPr>
            <a:r>
              <a:rPr b="1" lang="en" sz="1500">
                <a:solidFill>
                  <a:schemeClr val="dk1"/>
                </a:solidFill>
              </a:rPr>
              <a:t>addProduct</a:t>
            </a:r>
            <a:endParaRPr b="1" sz="1500">
              <a:solidFill>
                <a:schemeClr val="dk1"/>
              </a:solidFill>
            </a:endParaRPr>
          </a:p>
          <a:p>
            <a:pPr indent="0" lvl="0" marL="1828800" rtl="0" algn="just">
              <a:lnSpc>
                <a:spcPct val="115000"/>
              </a:lnSpc>
              <a:spcBef>
                <a:spcPts val="400"/>
              </a:spcBef>
              <a:spcAft>
                <a:spcPts val="0"/>
              </a:spcAft>
              <a:buNone/>
            </a:pPr>
            <a:r>
              <a:rPr lang="en" sz="1100">
                <a:solidFill>
                  <a:srgbClr val="188038"/>
                </a:solidFill>
                <a:latin typeface="Roboto Mono"/>
                <a:ea typeface="Roboto Mono"/>
                <a:cs typeface="Roboto Mono"/>
                <a:sym typeface="Roboto Mono"/>
              </a:rPr>
              <a:t>FUNCTION addProduct(productData)</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IF SKU does not exist THEN</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save product</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ELSE</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RETURN "Duplicate Product"</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END IF</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END FUNCTION</a:t>
            </a:r>
            <a:endParaRPr sz="1100">
              <a:solidFill>
                <a:srgbClr val="188038"/>
              </a:solidFill>
              <a:latin typeface="Roboto Mono"/>
              <a:ea typeface="Roboto Mono"/>
              <a:cs typeface="Roboto Mono"/>
              <a:sym typeface="Roboto Mono"/>
            </a:endParaRPr>
          </a:p>
          <a:p>
            <a:pPr indent="0" lvl="0" marL="0" rtl="0" algn="l">
              <a:lnSpc>
                <a:spcPct val="115000"/>
              </a:lnSpc>
              <a:spcBef>
                <a:spcPts val="1400"/>
              </a:spcBef>
              <a:spcAft>
                <a:spcPts val="0"/>
              </a:spcAft>
              <a:buClr>
                <a:schemeClr val="dk1"/>
              </a:buClr>
              <a:buSzPts val="1100"/>
              <a:buFont typeface="Arial"/>
              <a:buNone/>
            </a:pPr>
            <a:r>
              <a:rPr b="1" lang="en" sz="1500">
                <a:solidFill>
                  <a:schemeClr val="dk1"/>
                </a:solidFill>
              </a:rPr>
              <a:t>increaseStock</a:t>
            </a:r>
            <a:endParaRPr sz="1100">
              <a:solidFill>
                <a:srgbClr val="188038"/>
              </a:solidFill>
              <a:latin typeface="Roboto Mono"/>
              <a:ea typeface="Roboto Mono"/>
              <a:cs typeface="Roboto Mono"/>
              <a:sym typeface="Roboto Mono"/>
            </a:endParaRPr>
          </a:p>
          <a:p>
            <a:pPr indent="0" lvl="0" marL="1828800" rtl="0" algn="just">
              <a:lnSpc>
                <a:spcPct val="115000"/>
              </a:lnSpc>
              <a:spcBef>
                <a:spcPts val="400"/>
              </a:spcBef>
              <a:spcAft>
                <a:spcPts val="0"/>
              </a:spcAft>
              <a:buClr>
                <a:schemeClr val="dk1"/>
              </a:buClr>
              <a:buSzPts val="1100"/>
              <a:buFont typeface="Arial"/>
              <a:buNone/>
            </a:pPr>
            <a:r>
              <a:rPr lang="en" sz="1100">
                <a:solidFill>
                  <a:srgbClr val="188038"/>
                </a:solidFill>
                <a:latin typeface="Roboto Mono"/>
                <a:ea typeface="Roboto Mono"/>
                <a:cs typeface="Roboto Mono"/>
                <a:sym typeface="Roboto Mono"/>
              </a:rPr>
              <a:t>FUNCTION increaseStock(productId, quantity)</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Clr>
                <a:schemeClr val="dk1"/>
              </a:buClr>
              <a:buSzPts val="1100"/>
              <a:buFont typeface="Arial"/>
              <a:buNone/>
            </a:pPr>
            <a:r>
              <a:rPr lang="en" sz="1100">
                <a:solidFill>
                  <a:srgbClr val="188038"/>
                </a:solidFill>
                <a:latin typeface="Roboto Mono"/>
                <a:ea typeface="Roboto Mono"/>
                <a:cs typeface="Roboto Mono"/>
                <a:sym typeface="Roboto Mono"/>
              </a:rPr>
              <a:t>    product.stock += quantity</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Clr>
                <a:schemeClr val="dk1"/>
              </a:buClr>
              <a:buSzPts val="1100"/>
              <a:buFont typeface="Arial"/>
              <a:buNone/>
            </a:pPr>
            <a:r>
              <a:rPr lang="en" sz="1100">
                <a:solidFill>
                  <a:srgbClr val="188038"/>
                </a:solidFill>
                <a:latin typeface="Roboto Mono"/>
                <a:ea typeface="Roboto Mono"/>
                <a:cs typeface="Roboto Mono"/>
                <a:sym typeface="Roboto Mono"/>
              </a:rPr>
              <a:t>    save product</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Clr>
                <a:schemeClr val="dk1"/>
              </a:buClr>
              <a:buSzPts val="1100"/>
              <a:buFont typeface="Arial"/>
              <a:buNone/>
            </a:pPr>
            <a:r>
              <a:rPr lang="en" sz="1100">
                <a:solidFill>
                  <a:srgbClr val="188038"/>
                </a:solidFill>
                <a:latin typeface="Roboto Mono"/>
                <a:ea typeface="Roboto Mono"/>
                <a:cs typeface="Roboto Mono"/>
                <a:sym typeface="Roboto Mono"/>
              </a:rPr>
              <a:t>    log transaction</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Clr>
                <a:schemeClr val="dk1"/>
              </a:buClr>
              <a:buSzPts val="1100"/>
              <a:buFont typeface="Arial"/>
              <a:buNone/>
            </a:pPr>
            <a:r>
              <a:rPr lang="en" sz="1100">
                <a:solidFill>
                  <a:srgbClr val="188038"/>
                </a:solidFill>
                <a:latin typeface="Roboto Mono"/>
                <a:ea typeface="Roboto Mono"/>
                <a:cs typeface="Roboto Mono"/>
                <a:sym typeface="Roboto Mono"/>
              </a:rPr>
              <a:t>    check low stock</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Clr>
                <a:schemeClr val="dk1"/>
              </a:buClr>
              <a:buSzPts val="1100"/>
              <a:buFont typeface="Arial"/>
              <a:buNone/>
            </a:pPr>
            <a:r>
              <a:rPr lang="en" sz="1100">
                <a:solidFill>
                  <a:srgbClr val="188038"/>
                </a:solidFill>
                <a:latin typeface="Roboto Mono"/>
                <a:ea typeface="Roboto Mono"/>
                <a:cs typeface="Roboto Mono"/>
                <a:sym typeface="Roboto Mono"/>
              </a:rPr>
              <a:t>END FUNCTION</a:t>
            </a:r>
            <a:endParaRPr sz="1100">
              <a:solidFill>
                <a:srgbClr val="188038"/>
              </a:solidFill>
              <a:latin typeface="Roboto Mono"/>
              <a:ea typeface="Roboto Mono"/>
              <a:cs typeface="Roboto Mono"/>
              <a:sym typeface="Roboto Mono"/>
            </a:endParaRPr>
          </a:p>
        </p:txBody>
      </p:sp>
      <p:sp>
        <p:nvSpPr>
          <p:cNvPr id="147" name="Google Shape;147;p28"/>
          <p:cNvSpPr txBox="1"/>
          <p:nvPr>
            <p:ph type="ctrTitle"/>
          </p:nvPr>
        </p:nvSpPr>
        <p:spPr>
          <a:xfrm>
            <a:off x="446475" y="-899512"/>
            <a:ext cx="7940700" cy="166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155">
                <a:latin typeface="Times New Roman"/>
                <a:ea typeface="Times New Roman"/>
                <a:cs typeface="Times New Roman"/>
                <a:sym typeface="Times New Roman"/>
              </a:rPr>
              <a:t>Pseudocode (</a:t>
            </a:r>
            <a:r>
              <a:rPr lang="en" sz="3155">
                <a:latin typeface="Times New Roman"/>
                <a:ea typeface="Times New Roman"/>
                <a:cs typeface="Times New Roman"/>
                <a:sym typeface="Times New Roman"/>
              </a:rPr>
              <a:t>ProductService)</a:t>
            </a:r>
            <a:endParaRPr sz="3155">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9"/>
          <p:cNvSpPr txBox="1"/>
          <p:nvPr>
            <p:ph idx="1" type="subTitle"/>
          </p:nvPr>
        </p:nvSpPr>
        <p:spPr>
          <a:xfrm>
            <a:off x="300625" y="623847"/>
            <a:ext cx="8957400" cy="46896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 sz="1500">
                <a:solidFill>
                  <a:schemeClr val="dk1"/>
                </a:solidFill>
              </a:rPr>
              <a:t>decreaseStock</a:t>
            </a:r>
            <a:endParaRPr b="1" sz="1500">
              <a:solidFill>
                <a:schemeClr val="dk1"/>
              </a:solidFill>
            </a:endParaRPr>
          </a:p>
          <a:p>
            <a:pPr indent="0" lvl="0" marL="1828800" rtl="0" algn="just">
              <a:lnSpc>
                <a:spcPct val="115000"/>
              </a:lnSpc>
              <a:spcBef>
                <a:spcPts val="400"/>
              </a:spcBef>
              <a:spcAft>
                <a:spcPts val="0"/>
              </a:spcAft>
              <a:buNone/>
            </a:pPr>
            <a:r>
              <a:rPr lang="en" sz="1100">
                <a:solidFill>
                  <a:srgbClr val="188038"/>
                </a:solidFill>
                <a:latin typeface="Roboto Mono"/>
                <a:ea typeface="Roboto Mono"/>
                <a:cs typeface="Roboto Mono"/>
                <a:sym typeface="Roboto Mono"/>
              </a:rPr>
              <a:t>FUNCTION decreaseStock(productId, quantity)</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IF stock sufficient THEN</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product.stock -= quantity</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save product</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log transaction</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check low stock</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ELSE</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RETURN "Insufficient Stock"</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END IF</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END FUNCTION</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t/>
            </a:r>
            <a:endParaRPr sz="1100">
              <a:solidFill>
                <a:srgbClr val="188038"/>
              </a:solidFill>
              <a:latin typeface="Roboto Mono"/>
              <a:ea typeface="Roboto Mono"/>
              <a:cs typeface="Roboto Mono"/>
              <a:sym typeface="Roboto Mono"/>
            </a:endParaRPr>
          </a:p>
          <a:p>
            <a:pPr indent="0" lvl="0" marL="0" rtl="0" algn="just">
              <a:lnSpc>
                <a:spcPct val="115000"/>
              </a:lnSpc>
              <a:spcBef>
                <a:spcPts val="0"/>
              </a:spcBef>
              <a:spcAft>
                <a:spcPts val="0"/>
              </a:spcAft>
              <a:buNone/>
            </a:pPr>
            <a:r>
              <a:rPr b="1" lang="en" sz="1500">
                <a:solidFill>
                  <a:schemeClr val="dk1"/>
                </a:solidFill>
              </a:rPr>
              <a:t>ProductRepository</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CLASS ProductRepository</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FUNCTION findById(productId)</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RETURN product</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END FUNCTION</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FUNCTION save(product)</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store product in database</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END FUNCTION</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END CLASS</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t/>
            </a:r>
            <a:endParaRPr sz="1100">
              <a:solidFill>
                <a:srgbClr val="188038"/>
              </a:solidFill>
              <a:latin typeface="Roboto Mono"/>
              <a:ea typeface="Roboto Mono"/>
              <a:cs typeface="Roboto Mono"/>
              <a:sym typeface="Roboto Mono"/>
            </a:endParaRPr>
          </a:p>
        </p:txBody>
      </p:sp>
      <p:sp>
        <p:nvSpPr>
          <p:cNvPr id="153" name="Google Shape;153;p29"/>
          <p:cNvSpPr txBox="1"/>
          <p:nvPr>
            <p:ph type="ctrTitle"/>
          </p:nvPr>
        </p:nvSpPr>
        <p:spPr>
          <a:xfrm>
            <a:off x="446475" y="-1018575"/>
            <a:ext cx="7940700" cy="166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155">
                <a:latin typeface="Times New Roman"/>
                <a:ea typeface="Times New Roman"/>
                <a:cs typeface="Times New Roman"/>
                <a:sym typeface="Times New Roman"/>
              </a:rPr>
              <a:t>Pseudocode (ProductService)</a:t>
            </a:r>
            <a:endParaRPr sz="3155">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30"/>
          <p:cNvSpPr txBox="1"/>
          <p:nvPr>
            <p:ph type="ctrTitle"/>
          </p:nvPr>
        </p:nvSpPr>
        <p:spPr>
          <a:xfrm>
            <a:off x="985500" y="-900651"/>
            <a:ext cx="7173000" cy="14982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155">
                <a:latin typeface="Times New Roman"/>
                <a:ea typeface="Times New Roman"/>
                <a:cs typeface="Times New Roman"/>
                <a:sym typeface="Times New Roman"/>
              </a:rPr>
              <a:t>Module 3 : Inventory Alerts</a:t>
            </a:r>
            <a:endParaRPr sz="3155">
              <a:latin typeface="Times New Roman"/>
              <a:ea typeface="Times New Roman"/>
              <a:cs typeface="Times New Roman"/>
              <a:sym typeface="Times New Roman"/>
            </a:endParaRPr>
          </a:p>
        </p:txBody>
      </p:sp>
      <p:sp>
        <p:nvSpPr>
          <p:cNvPr id="159" name="Google Shape;159;p30"/>
          <p:cNvSpPr txBox="1"/>
          <p:nvPr>
            <p:ph idx="1" type="subTitle"/>
          </p:nvPr>
        </p:nvSpPr>
        <p:spPr>
          <a:xfrm>
            <a:off x="248250" y="597551"/>
            <a:ext cx="8613300" cy="45459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b="1" lang="en" sz="1629">
                <a:latin typeface="Times New Roman"/>
                <a:ea typeface="Times New Roman"/>
                <a:cs typeface="Times New Roman"/>
                <a:sym typeface="Times New Roman"/>
              </a:rPr>
              <a:t>Purpose:</a:t>
            </a:r>
            <a:endParaRPr b="1" sz="1629">
              <a:latin typeface="Times New Roman"/>
              <a:ea typeface="Times New Roman"/>
              <a:cs typeface="Times New Roman"/>
              <a:sym typeface="Times New Roman"/>
            </a:endParaRPr>
          </a:p>
          <a:p>
            <a:pPr indent="-332105" lvl="0" marL="914400" rtl="0" algn="just">
              <a:lnSpc>
                <a:spcPct val="115000"/>
              </a:lnSpc>
              <a:spcBef>
                <a:spcPts val="0"/>
              </a:spcBef>
              <a:spcAft>
                <a:spcPts val="0"/>
              </a:spcAft>
              <a:buSzPts val="1630"/>
              <a:buFont typeface="Times New Roman"/>
              <a:buChar char="●"/>
            </a:pPr>
            <a:r>
              <a:rPr lang="en" sz="1629">
                <a:latin typeface="Times New Roman"/>
                <a:ea typeface="Times New Roman"/>
                <a:cs typeface="Times New Roman"/>
                <a:sym typeface="Times New Roman"/>
              </a:rPr>
              <a:t>Ensure uninterrupted operations</a:t>
            </a:r>
            <a:endParaRPr sz="1629">
              <a:latin typeface="Times New Roman"/>
              <a:ea typeface="Times New Roman"/>
              <a:cs typeface="Times New Roman"/>
              <a:sym typeface="Times New Roman"/>
            </a:endParaRPr>
          </a:p>
          <a:p>
            <a:pPr indent="-332105" lvl="0" marL="914400" rtl="0" algn="just">
              <a:lnSpc>
                <a:spcPct val="115000"/>
              </a:lnSpc>
              <a:spcBef>
                <a:spcPts val="0"/>
              </a:spcBef>
              <a:spcAft>
                <a:spcPts val="0"/>
              </a:spcAft>
              <a:buSzPts val="1630"/>
              <a:buFont typeface="Times New Roman"/>
              <a:buChar char="●"/>
            </a:pPr>
            <a:r>
              <a:rPr lang="en" sz="1629">
                <a:latin typeface="Times New Roman"/>
                <a:ea typeface="Times New Roman"/>
                <a:cs typeface="Times New Roman"/>
                <a:sym typeface="Times New Roman"/>
              </a:rPr>
              <a:t>Avoid stock-out situations</a:t>
            </a:r>
            <a:endParaRPr sz="1629">
              <a:latin typeface="Times New Roman"/>
              <a:ea typeface="Times New Roman"/>
              <a:cs typeface="Times New Roman"/>
              <a:sym typeface="Times New Roman"/>
            </a:endParaRPr>
          </a:p>
          <a:p>
            <a:pPr indent="-332105" lvl="0" marL="914400" rtl="0" algn="just">
              <a:lnSpc>
                <a:spcPct val="115000"/>
              </a:lnSpc>
              <a:spcBef>
                <a:spcPts val="0"/>
              </a:spcBef>
              <a:spcAft>
                <a:spcPts val="0"/>
              </a:spcAft>
              <a:buSzPts val="1630"/>
              <a:buFont typeface="Times New Roman"/>
              <a:buChar char="●"/>
            </a:pPr>
            <a:r>
              <a:rPr lang="en" sz="1629">
                <a:latin typeface="Times New Roman"/>
                <a:ea typeface="Times New Roman"/>
                <a:cs typeface="Times New Roman"/>
                <a:sym typeface="Times New Roman"/>
              </a:rPr>
              <a:t>Prevent overflow or safety hazards</a:t>
            </a:r>
            <a:endParaRPr sz="1629">
              <a:latin typeface="Times New Roman"/>
              <a:ea typeface="Times New Roman"/>
              <a:cs typeface="Times New Roman"/>
              <a:sym typeface="Times New Roman"/>
            </a:endParaRPr>
          </a:p>
          <a:p>
            <a:pPr indent="-332105" lvl="0" marL="914400" rtl="0" algn="just">
              <a:lnSpc>
                <a:spcPct val="115000"/>
              </a:lnSpc>
              <a:spcBef>
                <a:spcPts val="0"/>
              </a:spcBef>
              <a:spcAft>
                <a:spcPts val="0"/>
              </a:spcAft>
              <a:buSzPts val="1630"/>
              <a:buFont typeface="Times New Roman"/>
              <a:buChar char="●"/>
            </a:pPr>
            <a:r>
              <a:rPr lang="en" sz="1629">
                <a:latin typeface="Times New Roman"/>
                <a:ea typeface="Times New Roman"/>
                <a:cs typeface="Times New Roman"/>
                <a:sym typeface="Times New Roman"/>
              </a:rPr>
              <a:t>Support proactive decision-making</a:t>
            </a:r>
            <a:endParaRPr sz="1629">
              <a:latin typeface="Times New Roman"/>
              <a:ea typeface="Times New Roman"/>
              <a:cs typeface="Times New Roman"/>
              <a:sym typeface="Times New Roman"/>
            </a:endParaRPr>
          </a:p>
          <a:p>
            <a:pPr indent="-332105" lvl="0" marL="914400" rtl="0" algn="just">
              <a:lnSpc>
                <a:spcPct val="115000"/>
              </a:lnSpc>
              <a:spcBef>
                <a:spcPts val="0"/>
              </a:spcBef>
              <a:spcAft>
                <a:spcPts val="0"/>
              </a:spcAft>
              <a:buSzPts val="1630"/>
              <a:buFont typeface="Times New Roman"/>
              <a:buChar char="●"/>
            </a:pPr>
            <a:r>
              <a:rPr lang="en" sz="1629">
                <a:latin typeface="Times New Roman"/>
                <a:ea typeface="Times New Roman"/>
                <a:cs typeface="Times New Roman"/>
                <a:sym typeface="Times New Roman"/>
              </a:rPr>
              <a:t>Reduce manual monitoring effort</a:t>
            </a:r>
            <a:endParaRPr sz="1629">
              <a:latin typeface="Times New Roman"/>
              <a:ea typeface="Times New Roman"/>
              <a:cs typeface="Times New Roman"/>
              <a:sym typeface="Times New Roman"/>
            </a:endParaRPr>
          </a:p>
          <a:p>
            <a:pPr indent="0" lvl="0" marL="0" rtl="0" algn="just">
              <a:lnSpc>
                <a:spcPct val="150000"/>
              </a:lnSpc>
              <a:spcBef>
                <a:spcPts val="0"/>
              </a:spcBef>
              <a:spcAft>
                <a:spcPts val="0"/>
              </a:spcAft>
              <a:buNone/>
            </a:pPr>
            <a:r>
              <a:rPr b="1" lang="en" sz="1629">
                <a:latin typeface="Times New Roman"/>
                <a:ea typeface="Times New Roman"/>
                <a:cs typeface="Times New Roman"/>
                <a:sym typeface="Times New Roman"/>
              </a:rPr>
              <a:t>Classes:</a:t>
            </a:r>
            <a:endParaRPr b="1" sz="1629">
              <a:latin typeface="Times New Roman"/>
              <a:ea typeface="Times New Roman"/>
              <a:cs typeface="Times New Roman"/>
              <a:sym typeface="Times New Roman"/>
            </a:endParaRPr>
          </a:p>
          <a:p>
            <a:pPr indent="-332105" lvl="0" marL="914400" rtl="0" algn="just">
              <a:lnSpc>
                <a:spcPct val="115000"/>
              </a:lnSpc>
              <a:spcBef>
                <a:spcPts val="0"/>
              </a:spcBef>
              <a:spcAft>
                <a:spcPts val="0"/>
              </a:spcAft>
              <a:buSzPts val="1630"/>
              <a:buFont typeface="Times New Roman"/>
              <a:buChar char="●"/>
            </a:pPr>
            <a:r>
              <a:rPr lang="en" sz="1629">
                <a:latin typeface="Times New Roman"/>
                <a:ea typeface="Times New Roman"/>
                <a:cs typeface="Times New Roman"/>
                <a:sym typeface="Times New Roman"/>
              </a:rPr>
              <a:t>alert_id: Unique identifier for each alert</a:t>
            </a:r>
            <a:endParaRPr sz="1629">
              <a:latin typeface="Times New Roman"/>
              <a:ea typeface="Times New Roman"/>
              <a:cs typeface="Times New Roman"/>
              <a:sym typeface="Times New Roman"/>
            </a:endParaRPr>
          </a:p>
          <a:p>
            <a:pPr indent="-332105" lvl="0" marL="914400" rtl="0" algn="just">
              <a:lnSpc>
                <a:spcPct val="115000"/>
              </a:lnSpc>
              <a:spcBef>
                <a:spcPts val="0"/>
              </a:spcBef>
              <a:spcAft>
                <a:spcPts val="0"/>
              </a:spcAft>
              <a:buSzPts val="1630"/>
              <a:buFont typeface="Times New Roman"/>
              <a:buChar char="●"/>
            </a:pPr>
            <a:r>
              <a:rPr lang="en" sz="1629">
                <a:latin typeface="Times New Roman"/>
                <a:ea typeface="Times New Roman"/>
                <a:cs typeface="Times New Roman"/>
                <a:sym typeface="Times New Roman"/>
              </a:rPr>
              <a:t>product_id: References the product associated with the alert</a:t>
            </a:r>
            <a:endParaRPr sz="1629">
              <a:latin typeface="Times New Roman"/>
              <a:ea typeface="Times New Roman"/>
              <a:cs typeface="Times New Roman"/>
              <a:sym typeface="Times New Roman"/>
            </a:endParaRPr>
          </a:p>
          <a:p>
            <a:pPr indent="-332105" lvl="0" marL="914400" rtl="0" algn="just">
              <a:lnSpc>
                <a:spcPct val="115000"/>
              </a:lnSpc>
              <a:spcBef>
                <a:spcPts val="0"/>
              </a:spcBef>
              <a:spcAft>
                <a:spcPts val="0"/>
              </a:spcAft>
              <a:buSzPts val="1630"/>
              <a:buFont typeface="Times New Roman"/>
              <a:buChar char="●"/>
            </a:pPr>
            <a:r>
              <a:rPr lang="en" sz="1629">
                <a:latin typeface="Times New Roman"/>
                <a:ea typeface="Times New Roman"/>
                <a:cs typeface="Times New Roman"/>
                <a:sym typeface="Times New Roman"/>
              </a:rPr>
              <a:t>current_quantity: Stock level at the time of alert</a:t>
            </a:r>
            <a:endParaRPr sz="1629">
              <a:latin typeface="Times New Roman"/>
              <a:ea typeface="Times New Roman"/>
              <a:cs typeface="Times New Roman"/>
              <a:sym typeface="Times New Roman"/>
            </a:endParaRPr>
          </a:p>
          <a:p>
            <a:pPr indent="-332105" lvl="0" marL="914400" rtl="0" algn="just">
              <a:lnSpc>
                <a:spcPct val="115000"/>
              </a:lnSpc>
              <a:spcBef>
                <a:spcPts val="0"/>
              </a:spcBef>
              <a:spcAft>
                <a:spcPts val="0"/>
              </a:spcAft>
              <a:buSzPts val="1630"/>
              <a:buFont typeface="Times New Roman"/>
              <a:buChar char="●"/>
            </a:pPr>
            <a:r>
              <a:rPr lang="en" sz="1629">
                <a:latin typeface="Times New Roman"/>
                <a:ea typeface="Times New Roman"/>
                <a:cs typeface="Times New Roman"/>
                <a:sym typeface="Times New Roman"/>
              </a:rPr>
              <a:t>reorder_level: Threshold that triggered the alert</a:t>
            </a:r>
            <a:endParaRPr sz="1629">
              <a:latin typeface="Times New Roman"/>
              <a:ea typeface="Times New Roman"/>
              <a:cs typeface="Times New Roman"/>
              <a:sym typeface="Times New Roman"/>
            </a:endParaRPr>
          </a:p>
          <a:p>
            <a:pPr indent="-332105" lvl="0" marL="914400" rtl="0" algn="just">
              <a:lnSpc>
                <a:spcPct val="115000"/>
              </a:lnSpc>
              <a:spcBef>
                <a:spcPts val="0"/>
              </a:spcBef>
              <a:spcAft>
                <a:spcPts val="0"/>
              </a:spcAft>
              <a:buSzPts val="1630"/>
              <a:buFont typeface="Times New Roman"/>
              <a:buChar char="●"/>
            </a:pPr>
            <a:r>
              <a:rPr lang="en" sz="1629">
                <a:latin typeface="Times New Roman"/>
                <a:ea typeface="Times New Roman"/>
                <a:cs typeface="Times New Roman"/>
                <a:sym typeface="Times New Roman"/>
              </a:rPr>
              <a:t>alert_message: Description of the alert</a:t>
            </a:r>
            <a:endParaRPr sz="1629">
              <a:latin typeface="Times New Roman"/>
              <a:ea typeface="Times New Roman"/>
              <a:cs typeface="Times New Roman"/>
              <a:sym typeface="Times New Roman"/>
            </a:endParaRPr>
          </a:p>
          <a:p>
            <a:pPr indent="-332105" lvl="0" marL="914400" rtl="0" algn="just">
              <a:lnSpc>
                <a:spcPct val="115000"/>
              </a:lnSpc>
              <a:spcBef>
                <a:spcPts val="0"/>
              </a:spcBef>
              <a:spcAft>
                <a:spcPts val="0"/>
              </a:spcAft>
              <a:buSzPts val="1630"/>
              <a:buFont typeface="Times New Roman"/>
              <a:buChar char="●"/>
            </a:pPr>
            <a:r>
              <a:rPr lang="en" sz="1629">
                <a:latin typeface="Times New Roman"/>
                <a:ea typeface="Times New Roman"/>
                <a:cs typeface="Times New Roman"/>
                <a:sym typeface="Times New Roman"/>
              </a:rPr>
              <a:t>alert_status: OPEN, ACKNOWLEDGED, or CLOSED</a:t>
            </a:r>
            <a:endParaRPr sz="1629">
              <a:latin typeface="Times New Roman"/>
              <a:ea typeface="Times New Roman"/>
              <a:cs typeface="Times New Roman"/>
              <a:sym typeface="Times New Roman"/>
            </a:endParaRPr>
          </a:p>
          <a:p>
            <a:pPr indent="-332105" lvl="0" marL="914400" rtl="0" algn="just">
              <a:lnSpc>
                <a:spcPct val="115000"/>
              </a:lnSpc>
              <a:spcBef>
                <a:spcPts val="0"/>
              </a:spcBef>
              <a:spcAft>
                <a:spcPts val="0"/>
              </a:spcAft>
              <a:buSzPts val="1630"/>
              <a:buFont typeface="Times New Roman"/>
              <a:buChar char="●"/>
            </a:pPr>
            <a:r>
              <a:rPr lang="en" sz="1629">
                <a:latin typeface="Times New Roman"/>
                <a:ea typeface="Times New Roman"/>
                <a:cs typeface="Times New Roman"/>
                <a:sym typeface="Times New Roman"/>
              </a:rPr>
              <a:t>created_at: Timestamp of alert creation</a:t>
            </a:r>
            <a:endParaRPr sz="1629">
              <a:latin typeface="Times New Roman"/>
              <a:ea typeface="Times New Roman"/>
              <a:cs typeface="Times New Roman"/>
              <a:sym typeface="Times New Roman"/>
            </a:endParaRPr>
          </a:p>
          <a:p>
            <a:pPr indent="0" lvl="0" marL="1828800" rtl="0" algn="just">
              <a:lnSpc>
                <a:spcPct val="115000"/>
              </a:lnSpc>
              <a:spcBef>
                <a:spcPts val="0"/>
              </a:spcBef>
              <a:spcAft>
                <a:spcPts val="0"/>
              </a:spcAft>
              <a:buNone/>
            </a:pPr>
            <a:r>
              <a:t/>
            </a:r>
            <a:endParaRPr sz="1629">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1"/>
          <p:cNvSpPr txBox="1"/>
          <p:nvPr>
            <p:ph type="ctrTitle"/>
          </p:nvPr>
        </p:nvSpPr>
        <p:spPr>
          <a:xfrm>
            <a:off x="985500" y="1"/>
            <a:ext cx="7173000" cy="5751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sz="3155">
                <a:latin typeface="Times New Roman"/>
                <a:ea typeface="Times New Roman"/>
                <a:cs typeface="Times New Roman"/>
                <a:sym typeface="Times New Roman"/>
              </a:rPr>
              <a:t>Module 3: Inventory Alerts</a:t>
            </a:r>
            <a:endParaRPr sz="3155">
              <a:latin typeface="Times New Roman"/>
              <a:ea typeface="Times New Roman"/>
              <a:cs typeface="Times New Roman"/>
              <a:sym typeface="Times New Roman"/>
            </a:endParaRPr>
          </a:p>
        </p:txBody>
      </p:sp>
      <p:sp>
        <p:nvSpPr>
          <p:cNvPr id="165" name="Google Shape;165;p31"/>
          <p:cNvSpPr txBox="1"/>
          <p:nvPr>
            <p:ph idx="1" type="subTitle"/>
          </p:nvPr>
        </p:nvSpPr>
        <p:spPr>
          <a:xfrm>
            <a:off x="153000" y="418289"/>
            <a:ext cx="8613300" cy="421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b="1" lang="en" sz="1829">
                <a:latin typeface="Times New Roman"/>
                <a:ea typeface="Times New Roman"/>
                <a:cs typeface="Times New Roman"/>
                <a:sym typeface="Times New Roman"/>
              </a:rPr>
              <a:t>Database Schema:</a:t>
            </a:r>
            <a:endParaRPr sz="1829">
              <a:latin typeface="Times New Roman"/>
              <a:ea typeface="Times New Roman"/>
              <a:cs typeface="Times New Roman"/>
              <a:sym typeface="Times New Roman"/>
            </a:endParaRPr>
          </a:p>
        </p:txBody>
      </p:sp>
      <p:graphicFrame>
        <p:nvGraphicFramePr>
          <p:cNvPr id="166" name="Google Shape;166;p31"/>
          <p:cNvGraphicFramePr/>
          <p:nvPr/>
        </p:nvGraphicFramePr>
        <p:xfrm>
          <a:off x="538550" y="843332"/>
          <a:ext cx="3000000" cy="3000000"/>
        </p:xfrm>
        <a:graphic>
          <a:graphicData uri="http://schemas.openxmlformats.org/drawingml/2006/table">
            <a:tbl>
              <a:tblPr>
                <a:noFill/>
                <a:tableStyleId>{B5CE79E3-E71B-416C-A28F-E6886D8B84EE}</a:tableStyleId>
              </a:tblPr>
              <a:tblGrid>
                <a:gridCol w="2015625"/>
                <a:gridCol w="2657350"/>
                <a:gridCol w="3358050"/>
              </a:tblGrid>
              <a:tr h="340800">
                <a:tc>
                  <a:txBody>
                    <a:bodyPr/>
                    <a:lstStyle/>
                    <a:p>
                      <a:pPr indent="0" lvl="0" marL="0" rtl="0" algn="ctr">
                        <a:lnSpc>
                          <a:spcPct val="115000"/>
                        </a:lnSpc>
                        <a:spcBef>
                          <a:spcPts val="0"/>
                        </a:spcBef>
                        <a:spcAft>
                          <a:spcPts val="0"/>
                        </a:spcAft>
                        <a:buNone/>
                      </a:pPr>
                      <a:r>
                        <a:rPr b="1" lang="en" sz="1700">
                          <a:latin typeface="Times New Roman"/>
                          <a:ea typeface="Times New Roman"/>
                          <a:cs typeface="Times New Roman"/>
                          <a:sym typeface="Times New Roman"/>
                        </a:rPr>
                        <a:t>Field</a:t>
                      </a:r>
                      <a:endParaRPr b="1" sz="17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b="1" lang="en" sz="1700">
                          <a:latin typeface="Times New Roman"/>
                          <a:ea typeface="Times New Roman"/>
                          <a:cs typeface="Times New Roman"/>
                          <a:sym typeface="Times New Roman"/>
                        </a:rPr>
                        <a:t>Type</a:t>
                      </a:r>
                      <a:endParaRPr b="1" sz="17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b="1" lang="en" sz="1700">
                          <a:latin typeface="Times New Roman"/>
                          <a:ea typeface="Times New Roman"/>
                          <a:cs typeface="Times New Roman"/>
                          <a:sym typeface="Times New Roman"/>
                        </a:rPr>
                        <a:t>Description</a:t>
                      </a:r>
                      <a:endParaRPr b="1" sz="1700">
                        <a:latin typeface="Times New Roman"/>
                        <a:ea typeface="Times New Roman"/>
                        <a:cs typeface="Times New Roman"/>
                        <a:sym typeface="Times New Roman"/>
                      </a:endParaRPr>
                    </a:p>
                  </a:txBody>
                  <a:tcPr marT="91425" marB="91425" marR="91425" marL="91425"/>
                </a:tc>
              </a:tr>
              <a:tr h="318825">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alert</a:t>
                      </a:r>
                      <a:r>
                        <a:rPr lang="en" sz="1500">
                          <a:latin typeface="Times New Roman"/>
                          <a:ea typeface="Times New Roman"/>
                          <a:cs typeface="Times New Roman"/>
                          <a:sym typeface="Times New Roman"/>
                        </a:rPr>
                        <a:t>_id</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Primary Key(BIGINT)</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Unique identifier for each alert</a:t>
                      </a:r>
                      <a:endParaRPr sz="1500">
                        <a:latin typeface="Times New Roman"/>
                        <a:ea typeface="Times New Roman"/>
                        <a:cs typeface="Times New Roman"/>
                        <a:sym typeface="Times New Roman"/>
                      </a:endParaRPr>
                    </a:p>
                  </a:txBody>
                  <a:tcPr marT="91425" marB="91425" marR="91425" marL="91425"/>
                </a:tc>
              </a:tr>
              <a:tr h="318825">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product_id</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Foreign Key(BIGINT)</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References product generating the alert</a:t>
                      </a:r>
                      <a:endParaRPr sz="1500">
                        <a:latin typeface="Times New Roman"/>
                        <a:ea typeface="Times New Roman"/>
                        <a:cs typeface="Times New Roman"/>
                        <a:sym typeface="Times New Roman"/>
                      </a:endParaRPr>
                    </a:p>
                  </a:txBody>
                  <a:tcPr marT="91425" marB="91425" marR="91425" marL="91425"/>
                </a:tc>
              </a:tr>
              <a:tr h="318825">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current_quantity</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en" sz="1500">
                          <a:latin typeface="Times New Roman"/>
                          <a:ea typeface="Times New Roman"/>
                          <a:cs typeface="Times New Roman"/>
                          <a:sym typeface="Times New Roman"/>
                        </a:rPr>
                        <a:t>INT</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Stock quantity at the time of alert</a:t>
                      </a:r>
                      <a:endParaRPr sz="1500">
                        <a:latin typeface="Times New Roman"/>
                        <a:ea typeface="Times New Roman"/>
                        <a:cs typeface="Times New Roman"/>
                        <a:sym typeface="Times New Roman"/>
                      </a:endParaRPr>
                    </a:p>
                  </a:txBody>
                  <a:tcPr marT="91425" marB="91425" marR="91425" marL="91425"/>
                </a:tc>
              </a:tr>
              <a:tr h="318825">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reorder_level</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en" sz="1500">
                          <a:solidFill>
                            <a:schemeClr val="dk1"/>
                          </a:solidFill>
                          <a:latin typeface="Times New Roman"/>
                          <a:ea typeface="Times New Roman"/>
                          <a:cs typeface="Times New Roman"/>
                          <a:sym typeface="Times New Roman"/>
                        </a:rPr>
                        <a:t>INT</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Minimum stock threshold</a:t>
                      </a:r>
                      <a:endParaRPr sz="1500">
                        <a:latin typeface="Times New Roman"/>
                        <a:ea typeface="Times New Roman"/>
                        <a:cs typeface="Times New Roman"/>
                        <a:sym typeface="Times New Roman"/>
                      </a:endParaRPr>
                    </a:p>
                  </a:txBody>
                  <a:tcPr marT="91425" marB="91425" marR="91425" marL="91425"/>
                </a:tc>
              </a:tr>
              <a:tr h="318825">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alert_message</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VARCHAR</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Description of the alert</a:t>
                      </a:r>
                      <a:endParaRPr sz="1500">
                        <a:latin typeface="Times New Roman"/>
                        <a:ea typeface="Times New Roman"/>
                        <a:cs typeface="Times New Roman"/>
                        <a:sym typeface="Times New Roman"/>
                      </a:endParaRPr>
                    </a:p>
                  </a:txBody>
                  <a:tcPr marT="91425" marB="91425" marR="91425" marL="91425"/>
                </a:tc>
              </a:tr>
              <a:tr h="318825">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alert_status</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VARCHAR</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OPEN / ACKNOWLEDGED / CLOSED</a:t>
                      </a:r>
                      <a:endParaRPr sz="1500">
                        <a:latin typeface="Times New Roman"/>
                        <a:ea typeface="Times New Roman"/>
                        <a:cs typeface="Times New Roman"/>
                        <a:sym typeface="Times New Roman"/>
                      </a:endParaRPr>
                    </a:p>
                  </a:txBody>
                  <a:tcPr marT="91425" marB="91425" marR="91425" marL="91425"/>
                </a:tc>
              </a:tr>
              <a:tr h="318825">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created_at</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TIMESTAMP</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Alert creation time</a:t>
                      </a:r>
                      <a:endParaRPr sz="1500">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2"/>
          <p:cNvSpPr txBox="1"/>
          <p:nvPr>
            <p:ph type="ctrTitle"/>
          </p:nvPr>
        </p:nvSpPr>
        <p:spPr>
          <a:xfrm>
            <a:off x="985500" y="1"/>
            <a:ext cx="7173000" cy="5751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sz="3155">
                <a:latin typeface="Times New Roman"/>
                <a:ea typeface="Times New Roman"/>
                <a:cs typeface="Times New Roman"/>
                <a:sym typeface="Times New Roman"/>
              </a:rPr>
              <a:t>Module 3: Inventory Alerts</a:t>
            </a:r>
            <a:endParaRPr sz="3155">
              <a:latin typeface="Times New Roman"/>
              <a:ea typeface="Times New Roman"/>
              <a:cs typeface="Times New Roman"/>
              <a:sym typeface="Times New Roman"/>
            </a:endParaRPr>
          </a:p>
        </p:txBody>
      </p:sp>
      <p:sp>
        <p:nvSpPr>
          <p:cNvPr id="172" name="Google Shape;172;p32"/>
          <p:cNvSpPr txBox="1"/>
          <p:nvPr>
            <p:ph idx="1" type="subTitle"/>
          </p:nvPr>
        </p:nvSpPr>
        <p:spPr>
          <a:xfrm>
            <a:off x="153000" y="916614"/>
            <a:ext cx="8613300" cy="35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b="1" lang="en" sz="1829">
                <a:latin typeface="Times New Roman"/>
                <a:ea typeface="Times New Roman"/>
                <a:cs typeface="Times New Roman"/>
                <a:sym typeface="Times New Roman"/>
              </a:rPr>
              <a:t>Scenario Example with code and output</a:t>
            </a:r>
            <a:r>
              <a:rPr b="1" lang="en" sz="1829">
                <a:latin typeface="Times New Roman"/>
                <a:ea typeface="Times New Roman"/>
                <a:cs typeface="Times New Roman"/>
                <a:sym typeface="Times New Roman"/>
              </a:rPr>
              <a:t>:</a:t>
            </a:r>
            <a:endParaRPr b="1" sz="1829">
              <a:latin typeface="Times New Roman"/>
              <a:ea typeface="Times New Roman"/>
              <a:cs typeface="Times New Roman"/>
              <a:sym typeface="Times New Roman"/>
            </a:endParaRPr>
          </a:p>
          <a:p>
            <a:pPr indent="0" lvl="0" marL="0" rtl="0" algn="just">
              <a:lnSpc>
                <a:spcPct val="150000"/>
              </a:lnSpc>
              <a:spcBef>
                <a:spcPts val="0"/>
              </a:spcBef>
              <a:spcAft>
                <a:spcPts val="0"/>
              </a:spcAft>
              <a:buNone/>
            </a:pPr>
            <a:r>
              <a:t/>
            </a:r>
            <a:endParaRPr b="1" sz="1829">
              <a:latin typeface="Times New Roman"/>
              <a:ea typeface="Times New Roman"/>
              <a:cs typeface="Times New Roman"/>
              <a:sym typeface="Times New Roman"/>
            </a:endParaRPr>
          </a:p>
          <a:p>
            <a:pPr indent="0" lvl="0" marL="0" rtl="0" algn="just">
              <a:lnSpc>
                <a:spcPct val="150000"/>
              </a:lnSpc>
              <a:spcBef>
                <a:spcPts val="0"/>
              </a:spcBef>
              <a:spcAft>
                <a:spcPts val="0"/>
              </a:spcAft>
              <a:buNone/>
            </a:pPr>
            <a:r>
              <a:rPr lang="en" sz="1729">
                <a:solidFill>
                  <a:schemeClr val="dk1"/>
                </a:solidFill>
                <a:latin typeface="Times New Roman"/>
                <a:ea typeface="Times New Roman"/>
                <a:cs typeface="Times New Roman"/>
                <a:sym typeface="Times New Roman"/>
              </a:rPr>
              <a:t>A government transport depot maintains fuel tanks used for operating buses. Since uninterrupted fuel availability is critical for daily transport services, fuel levels must be monitored continuously. Any abnormal fuel condition can lead to service disruption or safety risks.</a:t>
            </a:r>
            <a:endParaRPr sz="1729">
              <a:solidFill>
                <a:schemeClr val="dk1"/>
              </a:solidFill>
              <a:latin typeface="Times New Roman"/>
              <a:ea typeface="Times New Roman"/>
              <a:cs typeface="Times New Roman"/>
              <a:sym typeface="Times New Roman"/>
            </a:endParaRPr>
          </a:p>
          <a:p>
            <a:pPr indent="0" lvl="0" marL="0" rtl="0" algn="just">
              <a:lnSpc>
                <a:spcPct val="150000"/>
              </a:lnSpc>
              <a:spcBef>
                <a:spcPts val="0"/>
              </a:spcBef>
              <a:spcAft>
                <a:spcPts val="0"/>
              </a:spcAft>
              <a:buNone/>
            </a:pPr>
            <a:r>
              <a:rPr lang="en" sz="1729">
                <a:solidFill>
                  <a:schemeClr val="dk1"/>
                </a:solidFill>
                <a:latin typeface="Times New Roman"/>
                <a:ea typeface="Times New Roman"/>
                <a:cs typeface="Times New Roman"/>
                <a:sym typeface="Times New Roman"/>
              </a:rPr>
              <a:t>The system must generate alerts based on predefined fuel level thresholds so that depot managers and staff can take timely and appropriate action.</a:t>
            </a:r>
            <a:endParaRPr sz="1729">
              <a:solidFill>
                <a:schemeClr val="dk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3"/>
          <p:cNvSpPr txBox="1"/>
          <p:nvPr>
            <p:ph type="ctrTitle"/>
          </p:nvPr>
        </p:nvSpPr>
        <p:spPr>
          <a:xfrm>
            <a:off x="985500" y="1"/>
            <a:ext cx="7173000" cy="5751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sz="3155">
                <a:latin typeface="Times New Roman"/>
                <a:ea typeface="Times New Roman"/>
                <a:cs typeface="Times New Roman"/>
                <a:sym typeface="Times New Roman"/>
              </a:rPr>
              <a:t>Module 3: Inventory Alerts</a:t>
            </a:r>
            <a:endParaRPr sz="3155">
              <a:latin typeface="Times New Roman"/>
              <a:ea typeface="Times New Roman"/>
              <a:cs typeface="Times New Roman"/>
              <a:sym typeface="Times New Roman"/>
            </a:endParaRPr>
          </a:p>
        </p:txBody>
      </p:sp>
      <p:sp>
        <p:nvSpPr>
          <p:cNvPr id="178" name="Google Shape;178;p33"/>
          <p:cNvSpPr txBox="1"/>
          <p:nvPr>
            <p:ph idx="1" type="subTitle"/>
          </p:nvPr>
        </p:nvSpPr>
        <p:spPr>
          <a:xfrm>
            <a:off x="153000" y="418289"/>
            <a:ext cx="8613300" cy="421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b="1" lang="en" sz="1829">
                <a:latin typeface="Times New Roman"/>
                <a:ea typeface="Times New Roman"/>
                <a:cs typeface="Times New Roman"/>
                <a:sym typeface="Times New Roman"/>
              </a:rPr>
              <a:t>Scenario Example with code and output:</a:t>
            </a:r>
            <a:endParaRPr b="1" sz="1829">
              <a:latin typeface="Times New Roman"/>
              <a:ea typeface="Times New Roman"/>
              <a:cs typeface="Times New Roman"/>
              <a:sym typeface="Times New Roman"/>
            </a:endParaRPr>
          </a:p>
        </p:txBody>
      </p:sp>
      <p:pic>
        <p:nvPicPr>
          <p:cNvPr id="179" name="Google Shape;179;p33"/>
          <p:cNvPicPr preferRelativeResize="0"/>
          <p:nvPr/>
        </p:nvPicPr>
        <p:blipFill rotWithShape="1">
          <a:blip r:embed="rId3">
            <a:alphaModFix/>
          </a:blip>
          <a:srcRect b="5882" l="0" r="0" t="0"/>
          <a:stretch/>
        </p:blipFill>
        <p:spPr>
          <a:xfrm>
            <a:off x="321775" y="1280727"/>
            <a:ext cx="8500450" cy="30480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4"/>
          <p:cNvSpPr txBox="1"/>
          <p:nvPr>
            <p:ph type="ctrTitle"/>
          </p:nvPr>
        </p:nvSpPr>
        <p:spPr>
          <a:xfrm>
            <a:off x="601650" y="1876350"/>
            <a:ext cx="7940700" cy="1390800"/>
          </a:xfrm>
          <a:prstGeom prst="rect">
            <a:avLst/>
          </a:prstGeom>
        </p:spPr>
        <p:txBody>
          <a:bodyPr anchorCtr="0" anchor="b" bIns="91425" lIns="91425" spcFirstLastPara="1" rIns="91425" wrap="square" tIns="91425">
            <a:noAutofit/>
          </a:bodyPr>
          <a:lstStyle/>
          <a:p>
            <a:pPr indent="0" lvl="0" marL="0" rtl="0" algn="ctr">
              <a:lnSpc>
                <a:spcPct val="150000"/>
              </a:lnSpc>
              <a:spcBef>
                <a:spcPts val="0"/>
              </a:spcBef>
              <a:spcAft>
                <a:spcPts val="0"/>
              </a:spcAft>
              <a:buSzPts val="990"/>
              <a:buNone/>
            </a:pPr>
            <a:r>
              <a:rPr lang="en" sz="4540">
                <a:latin typeface="Times New Roman"/>
                <a:ea typeface="Times New Roman"/>
                <a:cs typeface="Times New Roman"/>
                <a:sym typeface="Times New Roman"/>
              </a:rPr>
              <a:t>Thank You</a:t>
            </a:r>
            <a:endParaRPr sz="4540">
              <a:latin typeface="Times New Roman"/>
              <a:ea typeface="Times New Roman"/>
              <a:cs typeface="Times New Roman"/>
              <a:sym typeface="Times New Roman"/>
            </a:endParaRPr>
          </a:p>
          <a:p>
            <a:pPr indent="0" lvl="0" marL="0" rtl="0" algn="ctr">
              <a:lnSpc>
                <a:spcPct val="150000"/>
              </a:lnSpc>
              <a:spcBef>
                <a:spcPts val="0"/>
              </a:spcBef>
              <a:spcAft>
                <a:spcPts val="0"/>
              </a:spcAft>
              <a:buSzPts val="990"/>
              <a:buNone/>
            </a:pPr>
            <a:r>
              <a:rPr lang="en" sz="2140">
                <a:latin typeface="Times New Roman"/>
                <a:ea typeface="Times New Roman"/>
                <a:cs typeface="Times New Roman"/>
                <a:sym typeface="Times New Roman"/>
              </a:rPr>
              <a:t>Any Question or Feedback for me?</a:t>
            </a:r>
            <a:endParaRPr sz="2140">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